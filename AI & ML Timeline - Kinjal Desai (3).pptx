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Lst>
  <p:sldSz cy="6858000" cx="12192000"/>
  <p:notesSz cx="6858000" cy="12192000"/>
  <p:embeddedFontLst>
    <p:embeddedFont>
      <p:font typeface="Play"/>
      <p:regular r:id="rId17"/>
      <p:bold r:id="rId1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9" roundtripDataSignature="AMtx7mirv2r2AF0kF38Yqsf1lSX6NbhRo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font" Target="fonts/Play-regular.fntdata"/><Relationship Id="rId16" Type="http://schemas.openxmlformats.org/officeDocument/2006/relationships/slide" Target="slides/slide12.xml"/><Relationship Id="rId5" Type="http://schemas.openxmlformats.org/officeDocument/2006/relationships/slide" Target="slides/slide1.xml"/><Relationship Id="rId19" Type="http://customschemas.google.com/relationships/presentationmetadata" Target="metadata"/><Relationship Id="rId6" Type="http://schemas.openxmlformats.org/officeDocument/2006/relationships/slide" Target="slides/slide2.xml"/><Relationship Id="rId18" Type="http://schemas.openxmlformats.org/officeDocument/2006/relationships/font" Target="fonts/Play-bold.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 name="Shape 14"/>
        <p:cNvGrpSpPr/>
        <p:nvPr/>
      </p:nvGrpSpPr>
      <p:grpSpPr>
        <a:xfrm>
          <a:off x="0" y="0"/>
          <a:ext cx="0" cy="0"/>
          <a:chOff x="0" y="0"/>
          <a:chExt cx="0" cy="0"/>
        </a:xfrm>
      </p:grpSpPr>
      <p:sp>
        <p:nvSpPr>
          <p:cNvPr id="15" name="Google Shape;1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 name="Google Shape;16;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 name="Google Shape;17;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 name="Shape 27"/>
        <p:cNvGrpSpPr/>
        <p:nvPr/>
      </p:nvGrpSpPr>
      <p:grpSpPr>
        <a:xfrm>
          <a:off x="0" y="0"/>
          <a:ext cx="0" cy="0"/>
          <a:chOff x="0" y="0"/>
          <a:chExt cx="0" cy="0"/>
        </a:xfrm>
      </p:grpSpPr>
      <p:sp>
        <p:nvSpPr>
          <p:cNvPr id="28" name="Google Shape;28;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 name="Google Shape;29;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 name="Google Shape;30;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 name="Google Shape;60;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 name="Google Shape;61;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 name="Google Shape;87;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4" name="Google Shape;124;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5" name="Google Shape;125;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2" name="Google Shape;162;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3" name="Google Shape;163;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0" name="Google Shape;200;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1" name="Google Shape;201;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8" name="Google Shape;238;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9" name="Google Shape;239;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6" name="Google Shape;276;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7" name="Google Shape;277;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6" name="Google Shape;296;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7" name="Google Shape;297;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2" name="Google Shape;312;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3" name="Google Shape;313;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2" name="Google Shape;352;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3" name="Google Shape;353;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SE">
  <p:cSld name="BASE">
    <p:bg>
      <p:bgPr>
        <a:solidFill>
          <a:srgbClr val="FFF8EA"/>
        </a:solidFill>
      </p:bgPr>
    </p:bg>
    <p:spTree>
      <p:nvGrpSpPr>
        <p:cNvPr id="11" name="Shape 11"/>
        <p:cNvGrpSpPr/>
        <p:nvPr/>
      </p:nvGrpSpPr>
      <p:grpSpPr>
        <a:xfrm>
          <a:off x="0" y="0"/>
          <a:ext cx="0" cy="0"/>
          <a:chOff x="0" y="0"/>
          <a:chExt cx="0" cy="0"/>
        </a:xfrm>
      </p:grpSpPr>
      <p:sp>
        <p:nvSpPr>
          <p:cNvPr id="12" name="Google Shape;12;p15"/>
          <p:cNvSpPr/>
          <p:nvPr/>
        </p:nvSpPr>
        <p:spPr>
          <a:xfrm>
            <a:off x="0" y="0"/>
            <a:ext cx="12191695" cy="6858000"/>
          </a:xfrm>
          <a:prstGeom prst="rect">
            <a:avLst/>
          </a:prstGeom>
          <a:solidFill>
            <a:srgbClr val="FFF8EA"/>
          </a:solidFill>
          <a:ln cap="flat" cmpd="sng" w="12700">
            <a:solidFill>
              <a:srgbClr val="FFF8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15"/>
          <p:cNvSpPr/>
          <p:nvPr/>
        </p:nvSpPr>
        <p:spPr>
          <a:xfrm>
            <a:off x="0" y="6638544"/>
            <a:ext cx="12191695" cy="219456"/>
          </a:xfrm>
          <a:prstGeom prst="rect">
            <a:avLst/>
          </a:prstGeom>
          <a:solidFill>
            <a:srgbClr val="F3E8D4"/>
          </a:solidFill>
          <a:ln cap="flat" cmpd="sng" w="12700">
            <a:solidFill>
              <a:srgbClr val="F3E8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5171A"/>
        </a:solidFill>
      </p:bgPr>
    </p:bg>
    <p:spTree>
      <p:nvGrpSpPr>
        <p:cNvPr id="18" name="Shape 18"/>
        <p:cNvGrpSpPr/>
        <p:nvPr/>
      </p:nvGrpSpPr>
      <p:grpSpPr>
        <a:xfrm>
          <a:off x="0" y="0"/>
          <a:ext cx="0" cy="0"/>
          <a:chOff x="0" y="0"/>
          <a:chExt cx="0" cy="0"/>
        </a:xfrm>
      </p:grpSpPr>
      <p:sp>
        <p:nvSpPr>
          <p:cNvPr id="19" name="Google Shape;19;p1"/>
          <p:cNvSpPr/>
          <p:nvPr/>
        </p:nvSpPr>
        <p:spPr>
          <a:xfrm>
            <a:off x="0" y="0"/>
            <a:ext cx="12191695" cy="6858000"/>
          </a:xfrm>
          <a:prstGeom prst="rect">
            <a:avLst/>
          </a:prstGeom>
          <a:solidFill>
            <a:srgbClr val="15171A"/>
          </a:solidFill>
          <a:ln cap="flat" cmpd="sng" w="12700">
            <a:solidFill>
              <a:srgbClr val="1517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1"/>
          <p:cNvSpPr/>
          <p:nvPr/>
        </p:nvSpPr>
        <p:spPr>
          <a:xfrm>
            <a:off x="8138160" y="731520"/>
            <a:ext cx="2103120" cy="2103120"/>
          </a:xfrm>
          <a:prstGeom prst="ellipse">
            <a:avLst/>
          </a:prstGeom>
          <a:solidFill>
            <a:srgbClr val="2A9D8F">
              <a:alpha val="81960"/>
            </a:srgbClr>
          </a:solidFill>
          <a:ln cap="flat" cmpd="sng" w="12700">
            <a:solidFill>
              <a:srgbClr val="2A9D8F">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1"/>
          <p:cNvSpPr/>
          <p:nvPr/>
        </p:nvSpPr>
        <p:spPr>
          <a:xfrm>
            <a:off x="9601200" y="4023360"/>
            <a:ext cx="1371600" cy="1371600"/>
          </a:xfrm>
          <a:prstGeom prst="ellipse">
            <a:avLst/>
          </a:prstGeom>
          <a:solidFill>
            <a:srgbClr val="C45A3A">
              <a:alpha val="90196"/>
            </a:srgbClr>
          </a:solidFill>
          <a:ln cap="flat" cmpd="sng" w="12700">
            <a:solidFill>
              <a:srgbClr val="C45A3A">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1"/>
          <p:cNvSpPr/>
          <p:nvPr/>
        </p:nvSpPr>
        <p:spPr>
          <a:xfrm>
            <a:off x="7543800" y="-457200"/>
            <a:ext cx="3840480" cy="3840480"/>
          </a:xfrm>
          <a:prstGeom prst="arc">
            <a:avLst>
              <a:gd fmla="val 16200000" name="adj1"/>
              <a:gd fmla="val 0" name="adj2"/>
            </a:avLst>
          </a:prstGeom>
          <a:noFill/>
          <a:ln cap="flat" cmpd="sng" w="25400">
            <a:solidFill>
              <a:srgbClr val="E6A23C">
                <a:alpha val="8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1"/>
          <p:cNvSpPr/>
          <p:nvPr/>
        </p:nvSpPr>
        <p:spPr>
          <a:xfrm>
            <a:off x="685800" y="1600200"/>
            <a:ext cx="667512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300"/>
              <a:buFont typeface="Play"/>
              <a:buNone/>
            </a:pPr>
            <a:r>
              <a:rPr b="1" i="0" lang="en-US" sz="4300" u="none" cap="none" strike="noStrike">
                <a:solidFill>
                  <a:srgbClr val="FFFFFF"/>
                </a:solidFill>
                <a:latin typeface="Play"/>
                <a:ea typeface="Play"/>
                <a:cs typeface="Play"/>
                <a:sym typeface="Play"/>
              </a:rPr>
              <a:t>AI &amp; ML Timeline</a:t>
            </a:r>
            <a:endParaRPr b="0" i="0" sz="4300" u="none" cap="none" strike="noStrike">
              <a:solidFill>
                <a:schemeClr val="dk1"/>
              </a:solidFill>
              <a:latin typeface="Calibri"/>
              <a:ea typeface="Calibri"/>
              <a:cs typeface="Calibri"/>
              <a:sym typeface="Calibri"/>
            </a:endParaRPr>
          </a:p>
        </p:txBody>
      </p:sp>
      <p:sp>
        <p:nvSpPr>
          <p:cNvPr id="24" name="Google Shape;24;p1"/>
          <p:cNvSpPr/>
          <p:nvPr/>
        </p:nvSpPr>
        <p:spPr>
          <a:xfrm>
            <a:off x="713232" y="2487168"/>
            <a:ext cx="667512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7DCE2"/>
              </a:buClr>
              <a:buSzPts val="1700"/>
              <a:buFont typeface="Arial"/>
              <a:buNone/>
            </a:pPr>
            <a:r>
              <a:rPr b="0" i="0" lang="en-US" sz="1700" u="none" cap="none" strike="noStrike">
                <a:solidFill>
                  <a:srgbClr val="D7DCE2"/>
                </a:solidFill>
                <a:latin typeface="Arial"/>
                <a:ea typeface="Arial"/>
                <a:cs typeface="Arial"/>
                <a:sym typeface="Arial"/>
              </a:rPr>
              <a:t>The journey from early artificial neurons to modern generative AI</a:t>
            </a:r>
            <a:endParaRPr b="0" i="0" sz="1700" u="none" cap="none" strike="noStrike">
              <a:solidFill>
                <a:schemeClr val="dk1"/>
              </a:solidFill>
              <a:latin typeface="Calibri"/>
              <a:ea typeface="Calibri"/>
              <a:cs typeface="Calibri"/>
              <a:sym typeface="Calibri"/>
            </a:endParaRPr>
          </a:p>
        </p:txBody>
      </p:sp>
      <p:sp>
        <p:nvSpPr>
          <p:cNvPr id="25" name="Google Shape;25;p1"/>
          <p:cNvSpPr/>
          <p:nvPr/>
        </p:nvSpPr>
        <p:spPr>
          <a:xfrm>
            <a:off x="713232" y="3063240"/>
            <a:ext cx="29260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A23C"/>
              </a:buClr>
              <a:buSzPts val="1550"/>
              <a:buFont typeface="Arial"/>
              <a:buNone/>
            </a:pPr>
            <a:r>
              <a:rPr b="1" i="0" lang="en-US" sz="1550" u="none" cap="none" strike="noStrike">
                <a:solidFill>
                  <a:srgbClr val="E6A23C"/>
                </a:solidFill>
                <a:latin typeface="Arial"/>
                <a:ea typeface="Arial"/>
                <a:cs typeface="Arial"/>
                <a:sym typeface="Arial"/>
              </a:rPr>
              <a:t>Created by Kinjal Desai</a:t>
            </a:r>
            <a:endParaRPr b="0" i="0" sz="1550" u="none" cap="none" strike="noStrike">
              <a:solidFill>
                <a:schemeClr val="dk1"/>
              </a:solidFill>
              <a:latin typeface="Calibri"/>
              <a:ea typeface="Calibri"/>
              <a:cs typeface="Calibri"/>
              <a:sym typeface="Calibri"/>
            </a:endParaRPr>
          </a:p>
        </p:txBody>
      </p:sp>
      <p:sp>
        <p:nvSpPr>
          <p:cNvPr id="26" name="Google Shape;26;p1"/>
          <p:cNvSpPr/>
          <p:nvPr/>
        </p:nvSpPr>
        <p:spPr>
          <a:xfrm>
            <a:off x="713232" y="3456432"/>
            <a:ext cx="201168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A23C"/>
              </a:buClr>
              <a:buSzPts val="1600"/>
              <a:buFont typeface="Arial"/>
              <a:buNone/>
            </a:pPr>
            <a:r>
              <a:rPr b="1" i="0" lang="en-US" sz="1600" u="none" cap="none" strike="noStrike">
                <a:solidFill>
                  <a:srgbClr val="E6A23C"/>
                </a:solidFill>
                <a:latin typeface="Arial"/>
                <a:ea typeface="Arial"/>
                <a:cs typeface="Arial"/>
                <a:sym typeface="Arial"/>
              </a:rPr>
              <a:t>1943-2026</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 name="Shape 31"/>
        <p:cNvGrpSpPr/>
        <p:nvPr/>
      </p:nvGrpSpPr>
      <p:grpSpPr>
        <a:xfrm>
          <a:off x="0" y="0"/>
          <a:ext cx="0" cy="0"/>
          <a:chOff x="0" y="0"/>
          <a:chExt cx="0" cy="0"/>
        </a:xfrm>
      </p:grpSpPr>
      <p:sp>
        <p:nvSpPr>
          <p:cNvPr id="32" name="Google Shape;32;p2"/>
          <p:cNvSpPr/>
          <p:nvPr/>
        </p:nvSpPr>
        <p:spPr>
          <a:xfrm>
            <a:off x="502920" y="6473952"/>
            <a:ext cx="4754880" cy="1463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875"/>
              </a:buClr>
              <a:buSzPts val="850"/>
              <a:buFont typeface="Arial"/>
              <a:buNone/>
            </a:pPr>
            <a:r>
              <a:rPr b="0" i="0" lang="en-US" sz="850" u="none" cap="none" strike="noStrike">
                <a:solidFill>
                  <a:srgbClr val="5F6875"/>
                </a:solidFill>
                <a:latin typeface="Arial"/>
                <a:ea typeface="Arial"/>
                <a:cs typeface="Arial"/>
                <a:sym typeface="Arial"/>
              </a:rPr>
              <a:t>Kinjal Desai | AI &amp; ML Timeline | 1</a:t>
            </a:r>
            <a:endParaRPr b="0" i="0" sz="850" u="none" cap="none" strike="noStrike">
              <a:solidFill>
                <a:schemeClr val="dk1"/>
              </a:solidFill>
              <a:latin typeface="Calibri"/>
              <a:ea typeface="Calibri"/>
              <a:cs typeface="Calibri"/>
              <a:sym typeface="Calibri"/>
            </a:endParaRPr>
          </a:p>
        </p:txBody>
      </p:sp>
      <p:sp>
        <p:nvSpPr>
          <p:cNvPr id="33" name="Google Shape;33;p2"/>
          <p:cNvSpPr/>
          <p:nvPr/>
        </p:nvSpPr>
        <p:spPr>
          <a:xfrm>
            <a:off x="548640" y="347472"/>
            <a:ext cx="8686800" cy="4389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4262B"/>
              </a:buClr>
              <a:buSzPts val="2700"/>
              <a:buFont typeface="Play"/>
              <a:buNone/>
            </a:pPr>
            <a:r>
              <a:rPr b="1" i="0" lang="en-US" sz="2700" u="none" cap="none" strike="noStrike">
                <a:solidFill>
                  <a:srgbClr val="24262B"/>
                </a:solidFill>
                <a:latin typeface="Play"/>
                <a:ea typeface="Play"/>
                <a:cs typeface="Play"/>
                <a:sym typeface="Play"/>
              </a:rPr>
              <a:t>Big picture overview</a:t>
            </a:r>
            <a:endParaRPr b="0" i="0" sz="2700" u="none" cap="none" strike="noStrike">
              <a:solidFill>
                <a:schemeClr val="dk1"/>
              </a:solidFill>
              <a:latin typeface="Calibri"/>
              <a:ea typeface="Calibri"/>
              <a:cs typeface="Calibri"/>
              <a:sym typeface="Calibri"/>
            </a:endParaRPr>
          </a:p>
        </p:txBody>
      </p:sp>
      <p:sp>
        <p:nvSpPr>
          <p:cNvPr id="34" name="Google Shape;34;p2"/>
          <p:cNvSpPr/>
          <p:nvPr/>
        </p:nvSpPr>
        <p:spPr>
          <a:xfrm>
            <a:off x="548640" y="896112"/>
            <a:ext cx="9875520" cy="34747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5F6875"/>
              </a:buClr>
              <a:buSzPts val="1250"/>
              <a:buFont typeface="Arial"/>
              <a:buNone/>
            </a:pPr>
            <a:r>
              <a:rPr b="0" i="0" lang="en-US" sz="1250" u="none" cap="none" strike="noStrike">
                <a:solidFill>
                  <a:srgbClr val="5F6875"/>
                </a:solidFill>
                <a:latin typeface="Arial"/>
                <a:ea typeface="Arial"/>
                <a:cs typeface="Arial"/>
                <a:sym typeface="Arial"/>
              </a:rPr>
              <a:t>AI has not grown in one straight line. It has moved forward through bursts of excitement, setbacks, and major breakthroughs.</a:t>
            </a:r>
            <a:endParaRPr b="0" i="0" sz="1250" u="none" cap="none" strike="noStrike">
              <a:solidFill>
                <a:schemeClr val="dk1"/>
              </a:solidFill>
              <a:latin typeface="Calibri"/>
              <a:ea typeface="Calibri"/>
              <a:cs typeface="Calibri"/>
              <a:sym typeface="Calibri"/>
            </a:endParaRPr>
          </a:p>
        </p:txBody>
      </p:sp>
      <p:cxnSp>
        <p:nvCxnSpPr>
          <p:cNvPr id="35" name="Google Shape;35;p2"/>
          <p:cNvCxnSpPr/>
          <p:nvPr/>
        </p:nvCxnSpPr>
        <p:spPr>
          <a:xfrm>
            <a:off x="868680" y="2971800"/>
            <a:ext cx="10378440" cy="0"/>
          </a:xfrm>
          <a:prstGeom prst="straightConnector1">
            <a:avLst/>
          </a:prstGeom>
          <a:noFill/>
          <a:ln cap="flat" cmpd="sng" w="25400">
            <a:solidFill>
              <a:srgbClr val="5F6875"/>
            </a:solidFill>
            <a:prstDash val="solid"/>
            <a:round/>
            <a:headEnd len="sm" w="sm" type="none"/>
            <a:tailEnd len="sm" w="sm" type="none"/>
          </a:ln>
        </p:spPr>
      </p:cxnSp>
      <p:sp>
        <p:nvSpPr>
          <p:cNvPr id="36" name="Google Shape;36;p2"/>
          <p:cNvSpPr/>
          <p:nvPr/>
        </p:nvSpPr>
        <p:spPr>
          <a:xfrm>
            <a:off x="713232" y="2761488"/>
            <a:ext cx="438912" cy="438912"/>
          </a:xfrm>
          <a:prstGeom prst="ellipse">
            <a:avLst/>
          </a:prstGeom>
          <a:solidFill>
            <a:srgbClr val="C45A3A"/>
          </a:solidFill>
          <a:ln cap="flat" cmpd="sng" w="12700">
            <a:solidFill>
              <a:srgbClr val="C45A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2"/>
          <p:cNvSpPr/>
          <p:nvPr/>
        </p:nvSpPr>
        <p:spPr>
          <a:xfrm>
            <a:off x="301752" y="1901952"/>
            <a:ext cx="128016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45A3A"/>
              </a:buClr>
              <a:buSzPts val="1150"/>
              <a:buFont typeface="Arial"/>
              <a:buNone/>
            </a:pPr>
            <a:r>
              <a:rPr b="1" i="0" lang="en-US" sz="1150" u="none" cap="none" strike="noStrike">
                <a:solidFill>
                  <a:srgbClr val="C45A3A"/>
                </a:solidFill>
                <a:latin typeface="Arial"/>
                <a:ea typeface="Arial"/>
                <a:cs typeface="Arial"/>
                <a:sym typeface="Arial"/>
              </a:rPr>
              <a:t>1940s-50s</a:t>
            </a:r>
            <a:endParaRPr b="0" i="0" sz="1150" u="none" cap="none" strike="noStrike">
              <a:solidFill>
                <a:schemeClr val="dk1"/>
              </a:solidFill>
              <a:latin typeface="Calibri"/>
              <a:ea typeface="Calibri"/>
              <a:cs typeface="Calibri"/>
              <a:sym typeface="Calibri"/>
            </a:endParaRPr>
          </a:p>
        </p:txBody>
      </p:sp>
      <p:sp>
        <p:nvSpPr>
          <p:cNvPr id="38" name="Google Shape;38;p2"/>
          <p:cNvSpPr/>
          <p:nvPr/>
        </p:nvSpPr>
        <p:spPr>
          <a:xfrm>
            <a:off x="210312" y="3429000"/>
            <a:ext cx="150876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4262B"/>
              </a:buClr>
              <a:buSzPts val="1450"/>
              <a:buFont typeface="Play"/>
              <a:buNone/>
            </a:pPr>
            <a:r>
              <a:rPr b="1" i="0" lang="en-US" sz="1450" u="none" cap="none" strike="noStrike">
                <a:solidFill>
                  <a:srgbClr val="24262B"/>
                </a:solidFill>
                <a:latin typeface="Play"/>
                <a:ea typeface="Play"/>
                <a:cs typeface="Play"/>
                <a:sym typeface="Play"/>
              </a:rPr>
              <a:t>Foundations</a:t>
            </a:r>
            <a:endParaRPr b="0" i="0" sz="1450" u="none" cap="none" strike="noStrike">
              <a:solidFill>
                <a:schemeClr val="dk1"/>
              </a:solidFill>
              <a:latin typeface="Calibri"/>
              <a:ea typeface="Calibri"/>
              <a:cs typeface="Calibri"/>
              <a:sym typeface="Calibri"/>
            </a:endParaRPr>
          </a:p>
        </p:txBody>
      </p:sp>
      <p:sp>
        <p:nvSpPr>
          <p:cNvPr id="39" name="Google Shape;39;p2"/>
          <p:cNvSpPr/>
          <p:nvPr/>
        </p:nvSpPr>
        <p:spPr>
          <a:xfrm>
            <a:off x="-18288" y="3767328"/>
            <a:ext cx="1965960" cy="512064"/>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5F6875"/>
              </a:buClr>
              <a:buSzPts val="1070"/>
              <a:buFont typeface="Arial"/>
              <a:buNone/>
            </a:pPr>
            <a:r>
              <a:rPr b="0" i="0" lang="en-US" sz="1070" u="none" cap="none" strike="noStrike">
                <a:solidFill>
                  <a:srgbClr val="5F6875"/>
                </a:solidFill>
                <a:latin typeface="Arial"/>
                <a:ea typeface="Arial"/>
                <a:cs typeface="Arial"/>
                <a:sym typeface="Arial"/>
              </a:rPr>
              <a:t>Logic, neurons, and information theory</a:t>
            </a:r>
            <a:endParaRPr b="0" i="0" sz="1070" u="none" cap="none" strike="noStrike">
              <a:solidFill>
                <a:schemeClr val="dk1"/>
              </a:solidFill>
              <a:latin typeface="Calibri"/>
              <a:ea typeface="Calibri"/>
              <a:cs typeface="Calibri"/>
              <a:sym typeface="Calibri"/>
            </a:endParaRPr>
          </a:p>
        </p:txBody>
      </p:sp>
      <p:sp>
        <p:nvSpPr>
          <p:cNvPr id="40" name="Google Shape;40;p2"/>
          <p:cNvSpPr/>
          <p:nvPr/>
        </p:nvSpPr>
        <p:spPr>
          <a:xfrm>
            <a:off x="3291840" y="2761488"/>
            <a:ext cx="438912" cy="438912"/>
          </a:xfrm>
          <a:prstGeom prst="ellipse">
            <a:avLst/>
          </a:prstGeom>
          <a:solidFill>
            <a:srgbClr val="E6A23C"/>
          </a:solidFill>
          <a:ln cap="flat" cmpd="sng" w="12700">
            <a:solidFill>
              <a:srgbClr val="E6A2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a:off x="2880360" y="1901952"/>
            <a:ext cx="128016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6A23C"/>
              </a:buClr>
              <a:buSzPts val="1150"/>
              <a:buFont typeface="Arial"/>
              <a:buNone/>
            </a:pPr>
            <a:r>
              <a:rPr b="1" i="0" lang="en-US" sz="1150" u="none" cap="none" strike="noStrike">
                <a:solidFill>
                  <a:srgbClr val="E6A23C"/>
                </a:solidFill>
                <a:latin typeface="Arial"/>
                <a:ea typeface="Arial"/>
                <a:cs typeface="Arial"/>
                <a:sym typeface="Arial"/>
              </a:rPr>
              <a:t>1960s-70s</a:t>
            </a:r>
            <a:endParaRPr b="0" i="0" sz="1150" u="none" cap="none" strike="noStrike">
              <a:solidFill>
                <a:schemeClr val="dk1"/>
              </a:solidFill>
              <a:latin typeface="Calibri"/>
              <a:ea typeface="Calibri"/>
              <a:cs typeface="Calibri"/>
              <a:sym typeface="Calibri"/>
            </a:endParaRPr>
          </a:p>
        </p:txBody>
      </p:sp>
      <p:sp>
        <p:nvSpPr>
          <p:cNvPr id="42" name="Google Shape;42;p2"/>
          <p:cNvSpPr/>
          <p:nvPr/>
        </p:nvSpPr>
        <p:spPr>
          <a:xfrm>
            <a:off x="2788920" y="3429000"/>
            <a:ext cx="150876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4262B"/>
              </a:buClr>
              <a:buSzPts val="1450"/>
              <a:buFont typeface="Play"/>
              <a:buNone/>
            </a:pPr>
            <a:r>
              <a:rPr b="1" i="0" lang="en-US" sz="1450" u="none" cap="none" strike="noStrike">
                <a:solidFill>
                  <a:srgbClr val="24262B"/>
                </a:solidFill>
                <a:latin typeface="Play"/>
                <a:ea typeface="Play"/>
                <a:cs typeface="Play"/>
                <a:sym typeface="Play"/>
              </a:rPr>
              <a:t>Early AI</a:t>
            </a:r>
            <a:endParaRPr b="0" i="0" sz="1450" u="none" cap="none" strike="noStrike">
              <a:solidFill>
                <a:schemeClr val="dk1"/>
              </a:solidFill>
              <a:latin typeface="Calibri"/>
              <a:ea typeface="Calibri"/>
              <a:cs typeface="Calibri"/>
              <a:sym typeface="Calibri"/>
            </a:endParaRPr>
          </a:p>
        </p:txBody>
      </p:sp>
      <p:sp>
        <p:nvSpPr>
          <p:cNvPr id="43" name="Google Shape;43;p2"/>
          <p:cNvSpPr/>
          <p:nvPr/>
        </p:nvSpPr>
        <p:spPr>
          <a:xfrm>
            <a:off x="2560320" y="3767328"/>
            <a:ext cx="1965960" cy="512064"/>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5F6875"/>
              </a:buClr>
              <a:buSzPts val="1070"/>
              <a:buFont typeface="Arial"/>
              <a:buNone/>
            </a:pPr>
            <a:r>
              <a:rPr b="0" i="0" lang="en-US" sz="1070" u="none" cap="none" strike="noStrike">
                <a:solidFill>
                  <a:srgbClr val="5F6875"/>
                </a:solidFill>
                <a:latin typeface="Arial"/>
                <a:ea typeface="Arial"/>
                <a:cs typeface="Arial"/>
                <a:sym typeface="Arial"/>
              </a:rPr>
              <a:t>Chatbots, first limits, and the first AI winter</a:t>
            </a:r>
            <a:endParaRPr b="0" i="0" sz="1070" u="none" cap="none" strike="noStrike">
              <a:solidFill>
                <a:schemeClr val="dk1"/>
              </a:solidFill>
              <a:latin typeface="Calibri"/>
              <a:ea typeface="Calibri"/>
              <a:cs typeface="Calibri"/>
              <a:sym typeface="Calibri"/>
            </a:endParaRPr>
          </a:p>
        </p:txBody>
      </p:sp>
      <p:sp>
        <p:nvSpPr>
          <p:cNvPr id="44" name="Google Shape;44;p2"/>
          <p:cNvSpPr/>
          <p:nvPr/>
        </p:nvSpPr>
        <p:spPr>
          <a:xfrm>
            <a:off x="5870448" y="2761488"/>
            <a:ext cx="438912" cy="438912"/>
          </a:xfrm>
          <a:prstGeom prst="ellipse">
            <a:avLst/>
          </a:prstGeom>
          <a:solidFill>
            <a:srgbClr val="5B3F8C"/>
          </a:solidFill>
          <a:ln cap="flat" cmpd="sng" w="12700">
            <a:solidFill>
              <a:srgbClr val="5B3F8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a:off x="5458968" y="1901952"/>
            <a:ext cx="128016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3F8C"/>
              </a:buClr>
              <a:buSzPts val="1150"/>
              <a:buFont typeface="Arial"/>
              <a:buNone/>
            </a:pPr>
            <a:r>
              <a:rPr b="1" i="0" lang="en-US" sz="1150" u="none" cap="none" strike="noStrike">
                <a:solidFill>
                  <a:srgbClr val="5B3F8C"/>
                </a:solidFill>
                <a:latin typeface="Arial"/>
                <a:ea typeface="Arial"/>
                <a:cs typeface="Arial"/>
                <a:sym typeface="Arial"/>
              </a:rPr>
              <a:t>1980s-90s</a:t>
            </a:r>
            <a:endParaRPr b="0" i="0" sz="1150" u="none" cap="none" strike="noStrike">
              <a:solidFill>
                <a:schemeClr val="dk1"/>
              </a:solidFill>
              <a:latin typeface="Calibri"/>
              <a:ea typeface="Calibri"/>
              <a:cs typeface="Calibri"/>
              <a:sym typeface="Calibri"/>
            </a:endParaRPr>
          </a:p>
        </p:txBody>
      </p:sp>
      <p:sp>
        <p:nvSpPr>
          <p:cNvPr id="46" name="Google Shape;46;p2"/>
          <p:cNvSpPr/>
          <p:nvPr/>
        </p:nvSpPr>
        <p:spPr>
          <a:xfrm>
            <a:off x="5367528" y="3429000"/>
            <a:ext cx="150876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4262B"/>
              </a:buClr>
              <a:buSzPts val="1450"/>
              <a:buFont typeface="Play"/>
              <a:buNone/>
            </a:pPr>
            <a:r>
              <a:rPr b="1" i="0" lang="en-US" sz="1450" u="none" cap="none" strike="noStrike">
                <a:solidFill>
                  <a:srgbClr val="24262B"/>
                </a:solidFill>
                <a:latin typeface="Play"/>
                <a:ea typeface="Play"/>
                <a:cs typeface="Play"/>
                <a:sym typeface="Play"/>
              </a:rPr>
              <a:t>Expert systems</a:t>
            </a:r>
            <a:endParaRPr b="0" i="0" sz="1450" u="none" cap="none" strike="noStrike">
              <a:solidFill>
                <a:schemeClr val="dk1"/>
              </a:solidFill>
              <a:latin typeface="Calibri"/>
              <a:ea typeface="Calibri"/>
              <a:cs typeface="Calibri"/>
              <a:sym typeface="Calibri"/>
            </a:endParaRPr>
          </a:p>
        </p:txBody>
      </p:sp>
      <p:sp>
        <p:nvSpPr>
          <p:cNvPr id="47" name="Google Shape;47;p2"/>
          <p:cNvSpPr/>
          <p:nvPr/>
        </p:nvSpPr>
        <p:spPr>
          <a:xfrm>
            <a:off x="5138928" y="3767328"/>
            <a:ext cx="1965960" cy="512064"/>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5F6875"/>
              </a:buClr>
              <a:buSzPts val="1070"/>
              <a:buFont typeface="Arial"/>
              <a:buNone/>
            </a:pPr>
            <a:r>
              <a:rPr b="0" i="0" lang="en-US" sz="1070" u="none" cap="none" strike="noStrike">
                <a:solidFill>
                  <a:srgbClr val="5F6875"/>
                </a:solidFill>
                <a:latin typeface="Arial"/>
                <a:ea typeface="Arial"/>
                <a:cs typeface="Arial"/>
                <a:sym typeface="Arial"/>
              </a:rPr>
              <a:t>Rule-based AI, second winter, and game-playing AI</a:t>
            </a:r>
            <a:endParaRPr b="0" i="0" sz="1070" u="none" cap="none" strike="noStrike">
              <a:solidFill>
                <a:schemeClr val="dk1"/>
              </a:solidFill>
              <a:latin typeface="Calibri"/>
              <a:ea typeface="Calibri"/>
              <a:cs typeface="Calibri"/>
              <a:sym typeface="Calibri"/>
            </a:endParaRPr>
          </a:p>
        </p:txBody>
      </p:sp>
      <p:sp>
        <p:nvSpPr>
          <p:cNvPr id="48" name="Google Shape;48;p2"/>
          <p:cNvSpPr/>
          <p:nvPr/>
        </p:nvSpPr>
        <p:spPr>
          <a:xfrm>
            <a:off x="8449056" y="2761488"/>
            <a:ext cx="438912" cy="438912"/>
          </a:xfrm>
          <a:prstGeom prst="ellipse">
            <a:avLst/>
          </a:prstGeom>
          <a:solidFill>
            <a:srgbClr val="2A9D8F"/>
          </a:solidFill>
          <a:ln cap="flat" cmpd="sng" w="12700">
            <a:solidFill>
              <a:srgbClr val="2A9D8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2"/>
          <p:cNvSpPr/>
          <p:nvPr/>
        </p:nvSpPr>
        <p:spPr>
          <a:xfrm>
            <a:off x="8037576" y="1901952"/>
            <a:ext cx="128016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A9D8F"/>
              </a:buClr>
              <a:buSzPts val="1150"/>
              <a:buFont typeface="Arial"/>
              <a:buNone/>
            </a:pPr>
            <a:r>
              <a:rPr b="1" i="0" lang="en-US" sz="1150" u="none" cap="none" strike="noStrike">
                <a:solidFill>
                  <a:srgbClr val="2A9D8F"/>
                </a:solidFill>
                <a:latin typeface="Arial"/>
                <a:ea typeface="Arial"/>
                <a:cs typeface="Arial"/>
                <a:sym typeface="Arial"/>
              </a:rPr>
              <a:t>2000s-10s</a:t>
            </a:r>
            <a:endParaRPr b="0" i="0" sz="1150" u="none" cap="none" strike="noStrike">
              <a:solidFill>
                <a:schemeClr val="dk1"/>
              </a:solidFill>
              <a:latin typeface="Calibri"/>
              <a:ea typeface="Calibri"/>
              <a:cs typeface="Calibri"/>
              <a:sym typeface="Calibri"/>
            </a:endParaRPr>
          </a:p>
        </p:txBody>
      </p:sp>
      <p:sp>
        <p:nvSpPr>
          <p:cNvPr id="50" name="Google Shape;50;p2"/>
          <p:cNvSpPr/>
          <p:nvPr/>
        </p:nvSpPr>
        <p:spPr>
          <a:xfrm>
            <a:off x="7946136" y="3429000"/>
            <a:ext cx="150876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4262B"/>
              </a:buClr>
              <a:buSzPts val="1450"/>
              <a:buFont typeface="Play"/>
              <a:buNone/>
            </a:pPr>
            <a:r>
              <a:rPr b="1" i="0" lang="en-US" sz="1450" u="none" cap="none" strike="noStrike">
                <a:solidFill>
                  <a:srgbClr val="24262B"/>
                </a:solidFill>
                <a:latin typeface="Play"/>
                <a:ea typeface="Play"/>
                <a:cs typeface="Play"/>
                <a:sym typeface="Play"/>
              </a:rPr>
              <a:t>Deep learning</a:t>
            </a:r>
            <a:endParaRPr b="0" i="0" sz="1450" u="none" cap="none" strike="noStrike">
              <a:solidFill>
                <a:schemeClr val="dk1"/>
              </a:solidFill>
              <a:latin typeface="Calibri"/>
              <a:ea typeface="Calibri"/>
              <a:cs typeface="Calibri"/>
              <a:sym typeface="Calibri"/>
            </a:endParaRPr>
          </a:p>
        </p:txBody>
      </p:sp>
      <p:sp>
        <p:nvSpPr>
          <p:cNvPr id="51" name="Google Shape;51;p2"/>
          <p:cNvSpPr/>
          <p:nvPr/>
        </p:nvSpPr>
        <p:spPr>
          <a:xfrm>
            <a:off x="7717536" y="3767328"/>
            <a:ext cx="1965960" cy="512064"/>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5F6875"/>
              </a:buClr>
              <a:buSzPts val="1070"/>
              <a:buFont typeface="Arial"/>
              <a:buNone/>
            </a:pPr>
            <a:r>
              <a:rPr b="0" i="0" lang="en-US" sz="1070" u="none" cap="none" strike="noStrike">
                <a:solidFill>
                  <a:srgbClr val="5F6875"/>
                </a:solidFill>
                <a:latin typeface="Arial"/>
                <a:ea typeface="Arial"/>
                <a:cs typeface="Arial"/>
                <a:sym typeface="Arial"/>
              </a:rPr>
              <a:t>Cloud computing, big data, GPUs, and neural networks</a:t>
            </a:r>
            <a:endParaRPr b="0" i="0" sz="1070" u="none" cap="none" strike="noStrike">
              <a:solidFill>
                <a:schemeClr val="dk1"/>
              </a:solidFill>
              <a:latin typeface="Calibri"/>
              <a:ea typeface="Calibri"/>
              <a:cs typeface="Calibri"/>
              <a:sym typeface="Calibri"/>
            </a:endParaRPr>
          </a:p>
        </p:txBody>
      </p:sp>
      <p:sp>
        <p:nvSpPr>
          <p:cNvPr id="52" name="Google Shape;52;p2"/>
          <p:cNvSpPr/>
          <p:nvPr/>
        </p:nvSpPr>
        <p:spPr>
          <a:xfrm>
            <a:off x="11027664" y="2761488"/>
            <a:ext cx="438912" cy="438912"/>
          </a:xfrm>
          <a:prstGeom prst="ellipse">
            <a:avLst/>
          </a:prstGeom>
          <a:solidFill>
            <a:srgbClr val="C45A3A"/>
          </a:solidFill>
          <a:ln cap="flat" cmpd="sng" w="12700">
            <a:solidFill>
              <a:srgbClr val="C45A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2"/>
          <p:cNvSpPr/>
          <p:nvPr/>
        </p:nvSpPr>
        <p:spPr>
          <a:xfrm>
            <a:off x="10616184" y="1901952"/>
            <a:ext cx="128016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45A3A"/>
              </a:buClr>
              <a:buSzPts val="1150"/>
              <a:buFont typeface="Arial"/>
              <a:buNone/>
            </a:pPr>
            <a:r>
              <a:rPr b="1" i="0" lang="en-US" sz="1150" u="none" cap="none" strike="noStrike">
                <a:solidFill>
                  <a:srgbClr val="C45A3A"/>
                </a:solidFill>
                <a:latin typeface="Arial"/>
                <a:ea typeface="Arial"/>
                <a:cs typeface="Arial"/>
                <a:sym typeface="Arial"/>
              </a:rPr>
              <a:t>2020s</a:t>
            </a:r>
            <a:endParaRPr b="0" i="0" sz="1150" u="none" cap="none" strike="noStrike">
              <a:solidFill>
                <a:schemeClr val="dk1"/>
              </a:solidFill>
              <a:latin typeface="Calibri"/>
              <a:ea typeface="Calibri"/>
              <a:cs typeface="Calibri"/>
              <a:sym typeface="Calibri"/>
            </a:endParaRPr>
          </a:p>
        </p:txBody>
      </p:sp>
      <p:sp>
        <p:nvSpPr>
          <p:cNvPr id="54" name="Google Shape;54;p2"/>
          <p:cNvSpPr/>
          <p:nvPr/>
        </p:nvSpPr>
        <p:spPr>
          <a:xfrm>
            <a:off x="10524744" y="3429000"/>
            <a:ext cx="150876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4262B"/>
              </a:buClr>
              <a:buSzPts val="1450"/>
              <a:buFont typeface="Play"/>
              <a:buNone/>
            </a:pPr>
            <a:r>
              <a:rPr b="1" i="0" lang="en-US" sz="1450" u="none" cap="none" strike="noStrike">
                <a:solidFill>
                  <a:srgbClr val="24262B"/>
                </a:solidFill>
                <a:latin typeface="Play"/>
                <a:ea typeface="Play"/>
                <a:cs typeface="Play"/>
                <a:sym typeface="Play"/>
              </a:rPr>
              <a:t>Generative AI</a:t>
            </a:r>
            <a:endParaRPr b="0" i="0" sz="1450" u="none" cap="none" strike="noStrike">
              <a:solidFill>
                <a:schemeClr val="dk1"/>
              </a:solidFill>
              <a:latin typeface="Calibri"/>
              <a:ea typeface="Calibri"/>
              <a:cs typeface="Calibri"/>
              <a:sym typeface="Calibri"/>
            </a:endParaRPr>
          </a:p>
        </p:txBody>
      </p:sp>
      <p:sp>
        <p:nvSpPr>
          <p:cNvPr id="55" name="Google Shape;55;p2"/>
          <p:cNvSpPr/>
          <p:nvPr/>
        </p:nvSpPr>
        <p:spPr>
          <a:xfrm>
            <a:off x="10296144" y="3767328"/>
            <a:ext cx="1965960" cy="512064"/>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5F6875"/>
              </a:buClr>
              <a:buSzPts val="1070"/>
              <a:buFont typeface="Arial"/>
              <a:buNone/>
            </a:pPr>
            <a:r>
              <a:rPr b="0" i="0" lang="en-US" sz="1070" u="none" cap="none" strike="noStrike">
                <a:solidFill>
                  <a:srgbClr val="5F6875"/>
                </a:solidFill>
                <a:latin typeface="Arial"/>
                <a:ea typeface="Arial"/>
                <a:cs typeface="Arial"/>
                <a:sym typeface="Arial"/>
              </a:rPr>
              <a:t>Large language models, multimodal AI, and AI agents</a:t>
            </a:r>
            <a:endParaRPr b="0" i="0" sz="1070" u="none" cap="none" strike="noStrike">
              <a:solidFill>
                <a:schemeClr val="dk1"/>
              </a:solidFill>
              <a:latin typeface="Calibri"/>
              <a:ea typeface="Calibri"/>
              <a:cs typeface="Calibri"/>
              <a:sym typeface="Calibri"/>
            </a:endParaRPr>
          </a:p>
        </p:txBody>
      </p:sp>
      <p:sp>
        <p:nvSpPr>
          <p:cNvPr id="56" name="Google Shape;56;p2"/>
          <p:cNvSpPr/>
          <p:nvPr/>
        </p:nvSpPr>
        <p:spPr>
          <a:xfrm>
            <a:off x="1234440" y="5321808"/>
            <a:ext cx="9738360" cy="566928"/>
          </a:xfrm>
          <a:prstGeom prst="rect">
            <a:avLst/>
          </a:prstGeom>
          <a:solidFill>
            <a:srgbClr val="15171A"/>
          </a:solidFill>
          <a:ln cap="flat" cmpd="sng" w="12700">
            <a:solidFill>
              <a:srgbClr val="E6D8B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2"/>
          <p:cNvSpPr/>
          <p:nvPr/>
        </p:nvSpPr>
        <p:spPr>
          <a:xfrm>
            <a:off x="1508760" y="5513832"/>
            <a:ext cx="9235440" cy="18288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FFFFFF"/>
              </a:buClr>
              <a:buSzPts val="1400"/>
              <a:buFont typeface="Arial"/>
              <a:buNone/>
            </a:pPr>
            <a:r>
              <a:rPr b="1" i="0" lang="en-US" sz="1400" u="none" cap="none" strike="noStrike">
                <a:solidFill>
                  <a:srgbClr val="FFFFFF"/>
                </a:solidFill>
                <a:latin typeface="Arial"/>
                <a:ea typeface="Arial"/>
                <a:cs typeface="Arial"/>
                <a:sym typeface="Arial"/>
              </a:rPr>
              <a:t>Main idea: AI improves when good theories meet enough data, computing power, funding, and practical use.</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3"/>
          <p:cNvSpPr/>
          <p:nvPr/>
        </p:nvSpPr>
        <p:spPr>
          <a:xfrm>
            <a:off x="502920" y="6473952"/>
            <a:ext cx="4754880" cy="1463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875"/>
              </a:buClr>
              <a:buSzPts val="850"/>
              <a:buFont typeface="Arial"/>
              <a:buNone/>
            </a:pPr>
            <a:r>
              <a:rPr b="0" i="0" lang="en-US" sz="850" u="none" cap="none" strike="noStrike">
                <a:solidFill>
                  <a:srgbClr val="5F6875"/>
                </a:solidFill>
                <a:latin typeface="Arial"/>
                <a:ea typeface="Arial"/>
                <a:cs typeface="Arial"/>
                <a:sym typeface="Arial"/>
              </a:rPr>
              <a:t>Kinjal Desai | AI &amp; ML Timeline | 2</a:t>
            </a:r>
            <a:endParaRPr b="0" i="0" sz="850" u="none" cap="none" strike="noStrike">
              <a:solidFill>
                <a:schemeClr val="dk1"/>
              </a:solidFill>
              <a:latin typeface="Calibri"/>
              <a:ea typeface="Calibri"/>
              <a:cs typeface="Calibri"/>
              <a:sym typeface="Calibri"/>
            </a:endParaRPr>
          </a:p>
        </p:txBody>
      </p:sp>
      <p:sp>
        <p:nvSpPr>
          <p:cNvPr id="64" name="Google Shape;64;p3"/>
          <p:cNvSpPr/>
          <p:nvPr/>
        </p:nvSpPr>
        <p:spPr>
          <a:xfrm>
            <a:off x="548640" y="347472"/>
            <a:ext cx="8686800" cy="4389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4262B"/>
              </a:buClr>
              <a:buSzPts val="2700"/>
              <a:buFont typeface="Play"/>
              <a:buNone/>
            </a:pPr>
            <a:r>
              <a:rPr b="1" i="0" lang="en-US" sz="2700" u="none" cap="none" strike="noStrike">
                <a:solidFill>
                  <a:srgbClr val="24262B"/>
                </a:solidFill>
                <a:latin typeface="Play"/>
                <a:ea typeface="Play"/>
                <a:cs typeface="Play"/>
                <a:sym typeface="Play"/>
              </a:rPr>
              <a:t>Narrative write-up</a:t>
            </a:r>
            <a:endParaRPr b="0" i="0" sz="2700" u="none" cap="none" strike="noStrike">
              <a:solidFill>
                <a:schemeClr val="dk1"/>
              </a:solidFill>
              <a:latin typeface="Calibri"/>
              <a:ea typeface="Calibri"/>
              <a:cs typeface="Calibri"/>
              <a:sym typeface="Calibri"/>
            </a:endParaRPr>
          </a:p>
        </p:txBody>
      </p:sp>
      <p:sp>
        <p:nvSpPr>
          <p:cNvPr id="65" name="Google Shape;65;p3"/>
          <p:cNvSpPr/>
          <p:nvPr/>
        </p:nvSpPr>
        <p:spPr>
          <a:xfrm>
            <a:off x="548640" y="896112"/>
            <a:ext cx="9875520" cy="34747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5F6875"/>
              </a:buClr>
              <a:buSzPts val="1250"/>
              <a:buFont typeface="Arial"/>
              <a:buNone/>
            </a:pPr>
            <a:r>
              <a:rPr b="0" i="0" lang="en-US" sz="1250" u="none" cap="none" strike="noStrike">
                <a:solidFill>
                  <a:srgbClr val="5F6875"/>
                </a:solidFill>
                <a:latin typeface="Arial"/>
                <a:ea typeface="Arial"/>
                <a:cs typeface="Arial"/>
                <a:sym typeface="Arial"/>
              </a:rPr>
              <a:t>AI is best understood as a long story of people trying to make machines reason, learn, and help solve problems.</a:t>
            </a:r>
            <a:endParaRPr b="0" i="0" sz="1250" u="none" cap="none" strike="noStrike">
              <a:solidFill>
                <a:schemeClr val="dk1"/>
              </a:solidFill>
              <a:latin typeface="Calibri"/>
              <a:ea typeface="Calibri"/>
              <a:cs typeface="Calibri"/>
              <a:sym typeface="Calibri"/>
            </a:endParaRPr>
          </a:p>
        </p:txBody>
      </p:sp>
      <p:sp>
        <p:nvSpPr>
          <p:cNvPr id="66" name="Google Shape;66;p3"/>
          <p:cNvSpPr/>
          <p:nvPr/>
        </p:nvSpPr>
        <p:spPr>
          <a:xfrm>
            <a:off x="777240" y="1417320"/>
            <a:ext cx="5166360" cy="4526280"/>
          </a:xfrm>
          <a:prstGeom prst="rect">
            <a:avLst/>
          </a:prstGeom>
          <a:solidFill>
            <a:srgbClr val="FFFFFF"/>
          </a:solidFill>
          <a:ln cap="flat" cmpd="sng" w="12700">
            <a:solidFill>
              <a:srgbClr val="E6D8B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3"/>
          <p:cNvSpPr/>
          <p:nvPr/>
        </p:nvSpPr>
        <p:spPr>
          <a:xfrm>
            <a:off x="1051560" y="1755648"/>
            <a:ext cx="566928" cy="566928"/>
          </a:xfrm>
          <a:prstGeom prst="ellipse">
            <a:avLst/>
          </a:prstGeom>
          <a:solidFill>
            <a:srgbClr val="F4D7CC"/>
          </a:solidFill>
          <a:ln cap="flat" cmpd="sng" w="15225">
            <a:solidFill>
              <a:srgbClr val="C45A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3"/>
          <p:cNvSpPr/>
          <p:nvPr/>
        </p:nvSpPr>
        <p:spPr>
          <a:xfrm>
            <a:off x="1051560" y="1874520"/>
            <a:ext cx="566928"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45A3A"/>
              </a:buClr>
              <a:buSzPts val="1500"/>
              <a:buFont typeface="Arial"/>
              <a:buNone/>
            </a:pPr>
            <a:r>
              <a:rPr b="1" i="0" lang="en-US" sz="1500" u="none" cap="none" strike="noStrike">
                <a:solidFill>
                  <a:srgbClr val="C45A3A"/>
                </a:solidFill>
                <a:latin typeface="Arial"/>
                <a:ea typeface="Arial"/>
                <a:cs typeface="Arial"/>
                <a:sym typeface="Arial"/>
              </a:rPr>
              <a:t>AI</a:t>
            </a:r>
            <a:endParaRPr b="0" i="0" sz="1500" u="none" cap="none" strike="noStrike">
              <a:solidFill>
                <a:schemeClr val="dk1"/>
              </a:solidFill>
              <a:latin typeface="Calibri"/>
              <a:ea typeface="Calibri"/>
              <a:cs typeface="Calibri"/>
              <a:sym typeface="Calibri"/>
            </a:endParaRPr>
          </a:p>
        </p:txBody>
      </p:sp>
      <p:sp>
        <p:nvSpPr>
          <p:cNvPr id="69" name="Google Shape;69;p3"/>
          <p:cNvSpPr/>
          <p:nvPr/>
        </p:nvSpPr>
        <p:spPr>
          <a:xfrm>
            <a:off x="1801368" y="1865376"/>
            <a:ext cx="2468880" cy="25603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4262B"/>
              </a:buClr>
              <a:buSzPts val="1600"/>
              <a:buFont typeface="Play"/>
              <a:buNone/>
            </a:pPr>
            <a:r>
              <a:rPr b="1" i="0" lang="en-US" sz="1600" u="none" cap="none" strike="noStrike">
                <a:solidFill>
                  <a:srgbClr val="24262B"/>
                </a:solidFill>
                <a:latin typeface="Play"/>
                <a:ea typeface="Play"/>
                <a:cs typeface="Play"/>
                <a:sym typeface="Play"/>
              </a:rPr>
              <a:t>What AI is trying to do</a:t>
            </a:r>
            <a:endParaRPr b="0" i="0" sz="1600" u="none" cap="none" strike="noStrike">
              <a:solidFill>
                <a:schemeClr val="dk1"/>
              </a:solidFill>
              <a:latin typeface="Calibri"/>
              <a:ea typeface="Calibri"/>
              <a:cs typeface="Calibri"/>
              <a:sym typeface="Calibri"/>
            </a:endParaRPr>
          </a:p>
        </p:txBody>
      </p:sp>
      <p:sp>
        <p:nvSpPr>
          <p:cNvPr id="70" name="Google Shape;70;p3"/>
          <p:cNvSpPr/>
          <p:nvPr/>
        </p:nvSpPr>
        <p:spPr>
          <a:xfrm>
            <a:off x="1051560" y="2487168"/>
            <a:ext cx="4434840" cy="86868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4262B"/>
              </a:buClr>
              <a:buSzPts val="1180"/>
              <a:buFont typeface="Arial"/>
              <a:buNone/>
            </a:pPr>
            <a:r>
              <a:rPr b="0" i="0" lang="en-US" sz="1180" u="none" cap="none" strike="noStrike">
                <a:solidFill>
                  <a:srgbClr val="24262B"/>
                </a:solidFill>
                <a:latin typeface="Arial"/>
                <a:ea typeface="Arial"/>
                <a:cs typeface="Arial"/>
                <a:sym typeface="Arial"/>
              </a:rPr>
              <a:t>Artificial intelligence is the broad effort to build machines that can perform tasks that normally require human intelligence, such as recognizing patterns, making decisions, understanding language, or solving problems.</a:t>
            </a:r>
            <a:endParaRPr b="0" i="0" sz="1180" u="none" cap="none" strike="noStrike">
              <a:solidFill>
                <a:schemeClr val="dk1"/>
              </a:solidFill>
              <a:latin typeface="Calibri"/>
              <a:ea typeface="Calibri"/>
              <a:cs typeface="Calibri"/>
              <a:sym typeface="Calibri"/>
            </a:endParaRPr>
          </a:p>
        </p:txBody>
      </p:sp>
      <p:sp>
        <p:nvSpPr>
          <p:cNvPr id="71" name="Google Shape;71;p3"/>
          <p:cNvSpPr/>
          <p:nvPr/>
        </p:nvSpPr>
        <p:spPr>
          <a:xfrm>
            <a:off x="1051560" y="3657600"/>
            <a:ext cx="566928" cy="566928"/>
          </a:xfrm>
          <a:prstGeom prst="ellipse">
            <a:avLst/>
          </a:prstGeom>
          <a:solidFill>
            <a:srgbClr val="D8F0EB"/>
          </a:solidFill>
          <a:ln cap="flat" cmpd="sng" w="15225">
            <a:solidFill>
              <a:srgbClr val="2A9D8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3"/>
          <p:cNvSpPr/>
          <p:nvPr/>
        </p:nvSpPr>
        <p:spPr>
          <a:xfrm>
            <a:off x="1051560" y="3776472"/>
            <a:ext cx="566928"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A9D8F"/>
              </a:buClr>
              <a:buSzPts val="1500"/>
              <a:buFont typeface="Arial"/>
              <a:buNone/>
            </a:pPr>
            <a:r>
              <a:rPr b="1" i="0" lang="en-US" sz="1500" u="none" cap="none" strike="noStrike">
                <a:solidFill>
                  <a:srgbClr val="2A9D8F"/>
                </a:solidFill>
                <a:latin typeface="Arial"/>
                <a:ea typeface="Arial"/>
                <a:cs typeface="Arial"/>
                <a:sym typeface="Arial"/>
              </a:rPr>
              <a:t>ML</a:t>
            </a:r>
            <a:endParaRPr b="0" i="0" sz="1500" u="none" cap="none" strike="noStrike">
              <a:solidFill>
                <a:schemeClr val="dk1"/>
              </a:solidFill>
              <a:latin typeface="Calibri"/>
              <a:ea typeface="Calibri"/>
              <a:cs typeface="Calibri"/>
              <a:sym typeface="Calibri"/>
            </a:endParaRPr>
          </a:p>
        </p:txBody>
      </p:sp>
      <p:sp>
        <p:nvSpPr>
          <p:cNvPr id="73" name="Google Shape;73;p3"/>
          <p:cNvSpPr/>
          <p:nvPr/>
        </p:nvSpPr>
        <p:spPr>
          <a:xfrm>
            <a:off x="1801368" y="3767328"/>
            <a:ext cx="2468880" cy="25603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4262B"/>
              </a:buClr>
              <a:buSzPts val="1600"/>
              <a:buFont typeface="Play"/>
              <a:buNone/>
            </a:pPr>
            <a:r>
              <a:rPr b="1" i="0" lang="en-US" sz="1600" u="none" cap="none" strike="noStrike">
                <a:solidFill>
                  <a:srgbClr val="24262B"/>
                </a:solidFill>
                <a:latin typeface="Play"/>
                <a:ea typeface="Play"/>
                <a:cs typeface="Play"/>
                <a:sym typeface="Play"/>
              </a:rPr>
              <a:t>Why machine learning matters</a:t>
            </a:r>
            <a:endParaRPr b="0" i="0" sz="1600" u="none" cap="none" strike="noStrike">
              <a:solidFill>
                <a:schemeClr val="dk1"/>
              </a:solidFill>
              <a:latin typeface="Calibri"/>
              <a:ea typeface="Calibri"/>
              <a:cs typeface="Calibri"/>
              <a:sym typeface="Calibri"/>
            </a:endParaRPr>
          </a:p>
        </p:txBody>
      </p:sp>
      <p:sp>
        <p:nvSpPr>
          <p:cNvPr id="74" name="Google Shape;74;p3"/>
          <p:cNvSpPr/>
          <p:nvPr/>
        </p:nvSpPr>
        <p:spPr>
          <a:xfrm>
            <a:off x="1051560" y="4370832"/>
            <a:ext cx="4434840" cy="71323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4262B"/>
              </a:buClr>
              <a:buSzPts val="1180"/>
              <a:buFont typeface="Arial"/>
              <a:buNone/>
            </a:pPr>
            <a:r>
              <a:rPr b="0" i="0" lang="en-US" sz="1180" u="none" cap="none" strike="noStrike">
                <a:solidFill>
                  <a:srgbClr val="24262B"/>
                </a:solidFill>
                <a:latin typeface="Arial"/>
                <a:ea typeface="Arial"/>
                <a:cs typeface="Arial"/>
                <a:sym typeface="Arial"/>
              </a:rPr>
              <a:t>Machine learning changed AI because systems could improve from data instead of only following rules written by people. Deep learning pushed this further by using multi-layer neural networks.</a:t>
            </a:r>
            <a:endParaRPr b="0" i="0" sz="1180" u="none" cap="none" strike="noStrike">
              <a:solidFill>
                <a:schemeClr val="dk1"/>
              </a:solidFill>
              <a:latin typeface="Calibri"/>
              <a:ea typeface="Calibri"/>
              <a:cs typeface="Calibri"/>
              <a:sym typeface="Calibri"/>
            </a:endParaRPr>
          </a:p>
        </p:txBody>
      </p:sp>
      <p:sp>
        <p:nvSpPr>
          <p:cNvPr id="75" name="Google Shape;75;p3"/>
          <p:cNvSpPr/>
          <p:nvPr/>
        </p:nvSpPr>
        <p:spPr>
          <a:xfrm>
            <a:off x="6400800" y="1417320"/>
            <a:ext cx="4892040" cy="4526280"/>
          </a:xfrm>
          <a:prstGeom prst="rect">
            <a:avLst/>
          </a:prstGeom>
          <a:solidFill>
            <a:srgbClr val="FFFFFF"/>
          </a:solidFill>
          <a:ln cap="flat" cmpd="sng" w="12700">
            <a:solidFill>
              <a:srgbClr val="E6D8B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3"/>
          <p:cNvSpPr/>
          <p:nvPr/>
        </p:nvSpPr>
        <p:spPr>
          <a:xfrm>
            <a:off x="6675120" y="1755648"/>
            <a:ext cx="566928" cy="566928"/>
          </a:xfrm>
          <a:prstGeom prst="ellipse">
            <a:avLst/>
          </a:prstGeom>
          <a:solidFill>
            <a:srgbClr val="F8E8C6"/>
          </a:solidFill>
          <a:ln cap="flat" cmpd="sng" w="15225">
            <a:solidFill>
              <a:srgbClr val="E6A2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3"/>
          <p:cNvSpPr/>
          <p:nvPr/>
        </p:nvSpPr>
        <p:spPr>
          <a:xfrm>
            <a:off x="6675120" y="1874520"/>
            <a:ext cx="566928"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6A23C"/>
              </a:buClr>
              <a:buSzPts val="1500"/>
              <a:buFont typeface="Arial"/>
              <a:buNone/>
            </a:pPr>
            <a:r>
              <a:rPr b="1" i="0" lang="en-US" sz="1500" u="none" cap="none" strike="noStrike">
                <a:solidFill>
                  <a:srgbClr val="E6A23C"/>
                </a:solidFill>
                <a:latin typeface="Arial"/>
                <a:ea typeface="Arial"/>
                <a:cs typeface="Arial"/>
                <a:sym typeface="Arial"/>
              </a:rPr>
              <a:t>!</a:t>
            </a:r>
            <a:endParaRPr b="0" i="0" sz="1500" u="none" cap="none" strike="noStrike">
              <a:solidFill>
                <a:schemeClr val="dk1"/>
              </a:solidFill>
              <a:latin typeface="Calibri"/>
              <a:ea typeface="Calibri"/>
              <a:cs typeface="Calibri"/>
              <a:sym typeface="Calibri"/>
            </a:endParaRPr>
          </a:p>
        </p:txBody>
      </p:sp>
      <p:sp>
        <p:nvSpPr>
          <p:cNvPr id="78" name="Google Shape;78;p3"/>
          <p:cNvSpPr/>
          <p:nvPr/>
        </p:nvSpPr>
        <p:spPr>
          <a:xfrm>
            <a:off x="7424928" y="1865376"/>
            <a:ext cx="2468880" cy="25603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4262B"/>
              </a:buClr>
              <a:buSzPts val="1600"/>
              <a:buFont typeface="Play"/>
              <a:buNone/>
            </a:pPr>
            <a:r>
              <a:rPr b="1" i="0" lang="en-US" sz="1600" u="none" cap="none" strike="noStrike">
                <a:solidFill>
                  <a:srgbClr val="24262B"/>
                </a:solidFill>
                <a:latin typeface="Play"/>
                <a:ea typeface="Play"/>
                <a:cs typeface="Play"/>
                <a:sym typeface="Play"/>
              </a:rPr>
              <a:t>Why progress was uneven</a:t>
            </a:r>
            <a:endParaRPr b="0" i="0" sz="1600" u="none" cap="none" strike="noStrike">
              <a:solidFill>
                <a:schemeClr val="dk1"/>
              </a:solidFill>
              <a:latin typeface="Calibri"/>
              <a:ea typeface="Calibri"/>
              <a:cs typeface="Calibri"/>
              <a:sym typeface="Calibri"/>
            </a:endParaRPr>
          </a:p>
        </p:txBody>
      </p:sp>
      <p:sp>
        <p:nvSpPr>
          <p:cNvPr id="79" name="Google Shape;79;p3"/>
          <p:cNvSpPr/>
          <p:nvPr/>
        </p:nvSpPr>
        <p:spPr>
          <a:xfrm>
            <a:off x="6675120" y="2487168"/>
            <a:ext cx="4160520" cy="100584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4262B"/>
              </a:buClr>
              <a:buSzPts val="1180"/>
              <a:buFont typeface="Arial"/>
              <a:buNone/>
            </a:pPr>
            <a:r>
              <a:rPr b="0" i="0" lang="en-US" sz="1180" u="none" cap="none" strike="noStrike">
                <a:solidFill>
                  <a:srgbClr val="24262B"/>
                </a:solidFill>
                <a:latin typeface="Arial"/>
                <a:ea typeface="Arial"/>
                <a:cs typeface="Arial"/>
                <a:sym typeface="Arial"/>
              </a:rPr>
              <a:t>The field had two major AI winters when excitement was higher than what the technology could actually deliver. Later, better hardware, cloud computing, big data, and GPUs helped bring AI back in a much stronger form.</a:t>
            </a:r>
            <a:endParaRPr b="0" i="0" sz="1180" u="none" cap="none" strike="noStrike">
              <a:solidFill>
                <a:schemeClr val="dk1"/>
              </a:solidFill>
              <a:latin typeface="Calibri"/>
              <a:ea typeface="Calibri"/>
              <a:cs typeface="Calibri"/>
              <a:sym typeface="Calibri"/>
            </a:endParaRPr>
          </a:p>
        </p:txBody>
      </p:sp>
      <p:sp>
        <p:nvSpPr>
          <p:cNvPr id="80" name="Google Shape;80;p3"/>
          <p:cNvSpPr/>
          <p:nvPr/>
        </p:nvSpPr>
        <p:spPr>
          <a:xfrm>
            <a:off x="6675120" y="3794760"/>
            <a:ext cx="566928" cy="566928"/>
          </a:xfrm>
          <a:prstGeom prst="ellipse">
            <a:avLst/>
          </a:prstGeom>
          <a:solidFill>
            <a:srgbClr val="E5DDF2"/>
          </a:solidFill>
          <a:ln cap="flat" cmpd="sng" w="15225">
            <a:solidFill>
              <a:srgbClr val="5B3F8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3"/>
          <p:cNvSpPr/>
          <p:nvPr/>
        </p:nvSpPr>
        <p:spPr>
          <a:xfrm>
            <a:off x="6675120" y="3913632"/>
            <a:ext cx="566928"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3F8C"/>
              </a:buClr>
              <a:buSzPts val="1500"/>
              <a:buFont typeface="Arial"/>
              <a:buNone/>
            </a:pPr>
            <a:r>
              <a:rPr b="1" i="0" lang="en-US" sz="1500" u="none" cap="none" strike="noStrike">
                <a:solidFill>
                  <a:srgbClr val="5B3F8C"/>
                </a:solidFill>
                <a:latin typeface="Arial"/>
                <a:ea typeface="Arial"/>
                <a:cs typeface="Arial"/>
                <a:sym typeface="Arial"/>
              </a:rPr>
              <a:t>+</a:t>
            </a:r>
            <a:endParaRPr b="0" i="0" sz="1500" u="none" cap="none" strike="noStrike">
              <a:solidFill>
                <a:schemeClr val="dk1"/>
              </a:solidFill>
              <a:latin typeface="Calibri"/>
              <a:ea typeface="Calibri"/>
              <a:cs typeface="Calibri"/>
              <a:sym typeface="Calibri"/>
            </a:endParaRPr>
          </a:p>
        </p:txBody>
      </p:sp>
      <p:sp>
        <p:nvSpPr>
          <p:cNvPr id="82" name="Google Shape;82;p3"/>
          <p:cNvSpPr/>
          <p:nvPr/>
        </p:nvSpPr>
        <p:spPr>
          <a:xfrm>
            <a:off x="7424928" y="3904488"/>
            <a:ext cx="2468880" cy="25603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4262B"/>
              </a:buClr>
              <a:buSzPts val="1600"/>
              <a:buFont typeface="Play"/>
              <a:buNone/>
            </a:pPr>
            <a:r>
              <a:rPr b="1" i="0" lang="en-US" sz="1600" u="none" cap="none" strike="noStrike">
                <a:solidFill>
                  <a:srgbClr val="24262B"/>
                </a:solidFill>
                <a:latin typeface="Play"/>
                <a:ea typeface="Play"/>
                <a:cs typeface="Play"/>
                <a:sym typeface="Play"/>
              </a:rPr>
              <a:t>Why it matters today</a:t>
            </a:r>
            <a:endParaRPr b="0" i="0" sz="1600" u="none" cap="none" strike="noStrike">
              <a:solidFill>
                <a:schemeClr val="dk1"/>
              </a:solidFill>
              <a:latin typeface="Calibri"/>
              <a:ea typeface="Calibri"/>
              <a:cs typeface="Calibri"/>
              <a:sym typeface="Calibri"/>
            </a:endParaRPr>
          </a:p>
        </p:txBody>
      </p:sp>
      <p:sp>
        <p:nvSpPr>
          <p:cNvPr id="83" name="Google Shape;83;p3"/>
          <p:cNvSpPr/>
          <p:nvPr/>
        </p:nvSpPr>
        <p:spPr>
          <a:xfrm>
            <a:off x="6675120" y="4498848"/>
            <a:ext cx="4160520" cy="77724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4262B"/>
              </a:buClr>
              <a:buSzPts val="1180"/>
              <a:buFont typeface="Arial"/>
              <a:buNone/>
            </a:pPr>
            <a:r>
              <a:rPr b="0" i="0" lang="en-US" sz="1180" u="none" cap="none" strike="noStrike">
                <a:solidFill>
                  <a:srgbClr val="24262B"/>
                </a:solidFill>
                <a:latin typeface="Arial"/>
                <a:ea typeface="Arial"/>
                <a:cs typeface="Arial"/>
                <a:sym typeface="Arial"/>
              </a:rPr>
              <a:t>Today, AI is used in education, healthcare, business, finance, science, transportation, writing, coding, and decision support. The challenge is to use it responsibly and reliably.</a:t>
            </a:r>
            <a:endParaRPr b="0" i="0" sz="118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4"/>
          <p:cNvSpPr/>
          <p:nvPr/>
        </p:nvSpPr>
        <p:spPr>
          <a:xfrm>
            <a:off x="502920" y="6473952"/>
            <a:ext cx="4754880" cy="1463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875"/>
              </a:buClr>
              <a:buSzPts val="850"/>
              <a:buFont typeface="Arial"/>
              <a:buNone/>
            </a:pPr>
            <a:r>
              <a:rPr b="0" i="0" lang="en-US" sz="850" u="none" cap="none" strike="noStrike">
                <a:solidFill>
                  <a:srgbClr val="5F6875"/>
                </a:solidFill>
                <a:latin typeface="Arial"/>
                <a:ea typeface="Arial"/>
                <a:cs typeface="Arial"/>
                <a:sym typeface="Arial"/>
              </a:rPr>
              <a:t>Kinjal Desai | AI &amp; ML Timeline | 3</a:t>
            </a:r>
            <a:endParaRPr b="0" i="0" sz="850" u="none" cap="none" strike="noStrike">
              <a:solidFill>
                <a:schemeClr val="dk1"/>
              </a:solidFill>
              <a:latin typeface="Calibri"/>
              <a:ea typeface="Calibri"/>
              <a:cs typeface="Calibri"/>
              <a:sym typeface="Calibri"/>
            </a:endParaRPr>
          </a:p>
        </p:txBody>
      </p:sp>
      <p:sp>
        <p:nvSpPr>
          <p:cNvPr id="90" name="Google Shape;90;p4"/>
          <p:cNvSpPr/>
          <p:nvPr/>
        </p:nvSpPr>
        <p:spPr>
          <a:xfrm>
            <a:off x="548640" y="347472"/>
            <a:ext cx="8686800" cy="4389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4262B"/>
              </a:buClr>
              <a:buSzPts val="2700"/>
              <a:buFont typeface="Play"/>
              <a:buNone/>
            </a:pPr>
            <a:r>
              <a:rPr b="1" i="0" lang="en-US" sz="2700" u="none" cap="none" strike="noStrike">
                <a:solidFill>
                  <a:srgbClr val="24262B"/>
                </a:solidFill>
                <a:latin typeface="Play"/>
                <a:ea typeface="Play"/>
                <a:cs typeface="Play"/>
                <a:sym typeface="Play"/>
              </a:rPr>
              <a:t>1943-1956: Foundations of artificial intelligence</a:t>
            </a:r>
            <a:endParaRPr b="0" i="0" sz="2700" u="none" cap="none" strike="noStrike">
              <a:solidFill>
                <a:schemeClr val="dk1"/>
              </a:solidFill>
              <a:latin typeface="Calibri"/>
              <a:ea typeface="Calibri"/>
              <a:cs typeface="Calibri"/>
              <a:sym typeface="Calibri"/>
            </a:endParaRPr>
          </a:p>
        </p:txBody>
      </p:sp>
      <p:sp>
        <p:nvSpPr>
          <p:cNvPr id="91" name="Google Shape;91;p4"/>
          <p:cNvSpPr/>
          <p:nvPr/>
        </p:nvSpPr>
        <p:spPr>
          <a:xfrm>
            <a:off x="548640" y="896112"/>
            <a:ext cx="9875520" cy="34747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5F6875"/>
              </a:buClr>
              <a:buSzPts val="1250"/>
              <a:buFont typeface="Arial"/>
              <a:buNone/>
            </a:pPr>
            <a:r>
              <a:rPr b="0" i="0" lang="en-US" sz="1250" u="none" cap="none" strike="noStrike">
                <a:solidFill>
                  <a:srgbClr val="5F6875"/>
                </a:solidFill>
                <a:latin typeface="Arial"/>
                <a:ea typeface="Arial"/>
                <a:cs typeface="Arial"/>
                <a:sym typeface="Arial"/>
              </a:rPr>
              <a:t>This early period gave AI its basic ideas: artificial neurons, feedback, information, learning, and the question of machine intelligence.</a:t>
            </a:r>
            <a:endParaRPr b="0" i="0" sz="1250" u="none" cap="none" strike="noStrike">
              <a:solidFill>
                <a:schemeClr val="dk1"/>
              </a:solidFill>
              <a:latin typeface="Calibri"/>
              <a:ea typeface="Calibri"/>
              <a:cs typeface="Calibri"/>
              <a:sym typeface="Calibri"/>
            </a:endParaRPr>
          </a:p>
        </p:txBody>
      </p:sp>
      <p:sp>
        <p:nvSpPr>
          <p:cNvPr id="92" name="Google Shape;92;p4"/>
          <p:cNvSpPr/>
          <p:nvPr/>
        </p:nvSpPr>
        <p:spPr>
          <a:xfrm>
            <a:off x="640080" y="1481328"/>
            <a:ext cx="3246120" cy="1298448"/>
          </a:xfrm>
          <a:prstGeom prst="rect">
            <a:avLst/>
          </a:prstGeom>
          <a:solidFill>
            <a:srgbClr val="FFFFFF"/>
          </a:solidFill>
          <a:ln cap="flat" cmpd="sng" w="12700">
            <a:solidFill>
              <a:srgbClr val="E6D8B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4"/>
          <p:cNvSpPr/>
          <p:nvPr/>
        </p:nvSpPr>
        <p:spPr>
          <a:xfrm>
            <a:off x="640080" y="1481328"/>
            <a:ext cx="128016" cy="1298448"/>
          </a:xfrm>
          <a:prstGeom prst="rect">
            <a:avLst/>
          </a:prstGeom>
          <a:solidFill>
            <a:srgbClr val="C45A3A"/>
          </a:solidFill>
          <a:ln cap="flat" cmpd="sng" w="12700">
            <a:solidFill>
              <a:srgbClr val="C45A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4"/>
          <p:cNvSpPr/>
          <p:nvPr/>
        </p:nvSpPr>
        <p:spPr>
          <a:xfrm>
            <a:off x="932688" y="1645920"/>
            <a:ext cx="822960" cy="2103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C45A3A"/>
              </a:buClr>
              <a:buSzPts val="1180"/>
              <a:buFont typeface="Arial"/>
              <a:buNone/>
            </a:pPr>
            <a:r>
              <a:rPr b="1" i="0" lang="en-US" sz="1180" u="none" cap="none" strike="noStrike">
                <a:solidFill>
                  <a:srgbClr val="C45A3A"/>
                </a:solidFill>
                <a:latin typeface="Arial"/>
                <a:ea typeface="Arial"/>
                <a:cs typeface="Arial"/>
                <a:sym typeface="Arial"/>
              </a:rPr>
              <a:t>1943</a:t>
            </a:r>
            <a:endParaRPr b="0" i="0" sz="1180" u="none" cap="none" strike="noStrike">
              <a:solidFill>
                <a:schemeClr val="dk1"/>
              </a:solidFill>
              <a:latin typeface="Calibri"/>
              <a:ea typeface="Calibri"/>
              <a:cs typeface="Calibri"/>
              <a:sym typeface="Calibri"/>
            </a:endParaRPr>
          </a:p>
        </p:txBody>
      </p:sp>
      <p:sp>
        <p:nvSpPr>
          <p:cNvPr id="95" name="Google Shape;95;p4"/>
          <p:cNvSpPr/>
          <p:nvPr/>
        </p:nvSpPr>
        <p:spPr>
          <a:xfrm>
            <a:off x="1691640" y="1627632"/>
            <a:ext cx="1874520" cy="23774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4262B"/>
              </a:buClr>
              <a:buSzPts val="1450"/>
              <a:buFont typeface="Play"/>
              <a:buNone/>
            </a:pPr>
            <a:r>
              <a:rPr b="1" i="0" lang="en-US" sz="1450" u="none" cap="none" strike="noStrike">
                <a:solidFill>
                  <a:srgbClr val="24262B"/>
                </a:solidFill>
                <a:latin typeface="Play"/>
                <a:ea typeface="Play"/>
                <a:cs typeface="Play"/>
                <a:sym typeface="Play"/>
              </a:rPr>
              <a:t>Artificial neuron</a:t>
            </a:r>
            <a:endParaRPr b="0" i="0" sz="1450" u="none" cap="none" strike="noStrike">
              <a:solidFill>
                <a:schemeClr val="dk1"/>
              </a:solidFill>
              <a:latin typeface="Calibri"/>
              <a:ea typeface="Calibri"/>
              <a:cs typeface="Calibri"/>
              <a:sym typeface="Calibri"/>
            </a:endParaRPr>
          </a:p>
        </p:txBody>
      </p:sp>
      <p:sp>
        <p:nvSpPr>
          <p:cNvPr id="96" name="Google Shape;96;p4"/>
          <p:cNvSpPr/>
          <p:nvPr/>
        </p:nvSpPr>
        <p:spPr>
          <a:xfrm>
            <a:off x="932688" y="1984248"/>
            <a:ext cx="2697480" cy="566928"/>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5F6875"/>
              </a:buClr>
              <a:buSzPts val="1130"/>
              <a:buFont typeface="Arial"/>
              <a:buNone/>
            </a:pPr>
            <a:r>
              <a:rPr b="0" i="0" lang="en-US" sz="1130" u="none" cap="none" strike="noStrike">
                <a:solidFill>
                  <a:srgbClr val="5F6875"/>
                </a:solidFill>
                <a:latin typeface="Arial"/>
                <a:ea typeface="Arial"/>
                <a:cs typeface="Arial"/>
                <a:sym typeface="Arial"/>
              </a:rPr>
              <a:t>McCulloch and Pitts created a mathematical model of a neuron, showing how logic could be represented in networks.</a:t>
            </a:r>
            <a:endParaRPr b="0" i="0" sz="1130" u="none" cap="none" strike="noStrike">
              <a:solidFill>
                <a:schemeClr val="dk1"/>
              </a:solidFill>
              <a:latin typeface="Calibri"/>
              <a:ea typeface="Calibri"/>
              <a:cs typeface="Calibri"/>
              <a:sym typeface="Calibri"/>
            </a:endParaRPr>
          </a:p>
        </p:txBody>
      </p:sp>
      <p:sp>
        <p:nvSpPr>
          <p:cNvPr id="97" name="Google Shape;97;p4"/>
          <p:cNvSpPr/>
          <p:nvPr/>
        </p:nvSpPr>
        <p:spPr>
          <a:xfrm>
            <a:off x="4389120" y="1481328"/>
            <a:ext cx="3246120" cy="1298448"/>
          </a:xfrm>
          <a:prstGeom prst="rect">
            <a:avLst/>
          </a:prstGeom>
          <a:solidFill>
            <a:srgbClr val="FFFFFF"/>
          </a:solidFill>
          <a:ln cap="flat" cmpd="sng" w="12700">
            <a:solidFill>
              <a:srgbClr val="E6D8B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4"/>
          <p:cNvSpPr/>
          <p:nvPr/>
        </p:nvSpPr>
        <p:spPr>
          <a:xfrm>
            <a:off x="4389120" y="1481328"/>
            <a:ext cx="128016" cy="1298448"/>
          </a:xfrm>
          <a:prstGeom prst="rect">
            <a:avLst/>
          </a:prstGeom>
          <a:solidFill>
            <a:srgbClr val="C45A3A"/>
          </a:solidFill>
          <a:ln cap="flat" cmpd="sng" w="12700">
            <a:solidFill>
              <a:srgbClr val="C45A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4"/>
          <p:cNvSpPr/>
          <p:nvPr/>
        </p:nvSpPr>
        <p:spPr>
          <a:xfrm>
            <a:off x="4681728" y="1645920"/>
            <a:ext cx="822960" cy="2103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C45A3A"/>
              </a:buClr>
              <a:buSzPts val="1180"/>
              <a:buFont typeface="Arial"/>
              <a:buNone/>
            </a:pPr>
            <a:r>
              <a:rPr b="1" i="0" lang="en-US" sz="1180" u="none" cap="none" strike="noStrike">
                <a:solidFill>
                  <a:srgbClr val="C45A3A"/>
                </a:solidFill>
                <a:latin typeface="Arial"/>
                <a:ea typeface="Arial"/>
                <a:cs typeface="Arial"/>
                <a:sym typeface="Arial"/>
              </a:rPr>
              <a:t>1948</a:t>
            </a:r>
            <a:endParaRPr b="0" i="0" sz="1180" u="none" cap="none" strike="noStrike">
              <a:solidFill>
                <a:schemeClr val="dk1"/>
              </a:solidFill>
              <a:latin typeface="Calibri"/>
              <a:ea typeface="Calibri"/>
              <a:cs typeface="Calibri"/>
              <a:sym typeface="Calibri"/>
            </a:endParaRPr>
          </a:p>
        </p:txBody>
      </p:sp>
      <p:sp>
        <p:nvSpPr>
          <p:cNvPr id="100" name="Google Shape;100;p4"/>
          <p:cNvSpPr/>
          <p:nvPr/>
        </p:nvSpPr>
        <p:spPr>
          <a:xfrm>
            <a:off x="5440680" y="1627632"/>
            <a:ext cx="1874520" cy="23774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4262B"/>
              </a:buClr>
              <a:buSzPts val="1450"/>
              <a:buFont typeface="Play"/>
              <a:buNone/>
            </a:pPr>
            <a:r>
              <a:rPr b="1" i="0" lang="en-US" sz="1450" u="none" cap="none" strike="noStrike">
                <a:solidFill>
                  <a:srgbClr val="24262B"/>
                </a:solidFill>
                <a:latin typeface="Play"/>
                <a:ea typeface="Play"/>
                <a:cs typeface="Play"/>
                <a:sym typeface="Play"/>
              </a:rPr>
              <a:t>Cybernetics</a:t>
            </a:r>
            <a:endParaRPr b="0" i="0" sz="1450" u="none" cap="none" strike="noStrike">
              <a:solidFill>
                <a:schemeClr val="dk1"/>
              </a:solidFill>
              <a:latin typeface="Calibri"/>
              <a:ea typeface="Calibri"/>
              <a:cs typeface="Calibri"/>
              <a:sym typeface="Calibri"/>
            </a:endParaRPr>
          </a:p>
        </p:txBody>
      </p:sp>
      <p:sp>
        <p:nvSpPr>
          <p:cNvPr id="101" name="Google Shape;101;p4"/>
          <p:cNvSpPr/>
          <p:nvPr/>
        </p:nvSpPr>
        <p:spPr>
          <a:xfrm>
            <a:off x="4681728" y="1984248"/>
            <a:ext cx="2697480" cy="566928"/>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5F6875"/>
              </a:buClr>
              <a:buSzPts val="1130"/>
              <a:buFont typeface="Arial"/>
              <a:buNone/>
            </a:pPr>
            <a:r>
              <a:rPr b="0" i="0" lang="en-US" sz="1130" u="none" cap="none" strike="noStrike">
                <a:solidFill>
                  <a:srgbClr val="5F6875"/>
                </a:solidFill>
                <a:latin typeface="Arial"/>
                <a:ea typeface="Arial"/>
                <a:cs typeface="Arial"/>
                <a:sym typeface="Arial"/>
              </a:rPr>
              <a:t>Norbert Wiener explained feedback systems, connecting machines, animals, control, and communication.</a:t>
            </a:r>
            <a:endParaRPr b="0" i="0" sz="1130" u="none" cap="none" strike="noStrike">
              <a:solidFill>
                <a:schemeClr val="dk1"/>
              </a:solidFill>
              <a:latin typeface="Calibri"/>
              <a:ea typeface="Calibri"/>
              <a:cs typeface="Calibri"/>
              <a:sym typeface="Calibri"/>
            </a:endParaRPr>
          </a:p>
        </p:txBody>
      </p:sp>
      <p:sp>
        <p:nvSpPr>
          <p:cNvPr id="102" name="Google Shape;102;p4"/>
          <p:cNvSpPr/>
          <p:nvPr/>
        </p:nvSpPr>
        <p:spPr>
          <a:xfrm>
            <a:off x="8138160" y="1481328"/>
            <a:ext cx="3246120" cy="1298448"/>
          </a:xfrm>
          <a:prstGeom prst="rect">
            <a:avLst/>
          </a:prstGeom>
          <a:solidFill>
            <a:srgbClr val="FFFFFF"/>
          </a:solidFill>
          <a:ln cap="flat" cmpd="sng" w="12700">
            <a:solidFill>
              <a:srgbClr val="E6D8B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4"/>
          <p:cNvSpPr/>
          <p:nvPr/>
        </p:nvSpPr>
        <p:spPr>
          <a:xfrm>
            <a:off x="8138160" y="1481328"/>
            <a:ext cx="128016" cy="1298448"/>
          </a:xfrm>
          <a:prstGeom prst="rect">
            <a:avLst/>
          </a:prstGeom>
          <a:solidFill>
            <a:srgbClr val="C45A3A"/>
          </a:solidFill>
          <a:ln cap="flat" cmpd="sng" w="12700">
            <a:solidFill>
              <a:srgbClr val="C45A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4"/>
          <p:cNvSpPr/>
          <p:nvPr/>
        </p:nvSpPr>
        <p:spPr>
          <a:xfrm>
            <a:off x="8430768" y="1645920"/>
            <a:ext cx="822960" cy="2103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C45A3A"/>
              </a:buClr>
              <a:buSzPts val="1180"/>
              <a:buFont typeface="Arial"/>
              <a:buNone/>
            </a:pPr>
            <a:r>
              <a:rPr b="1" i="0" lang="en-US" sz="1180" u="none" cap="none" strike="noStrike">
                <a:solidFill>
                  <a:srgbClr val="C45A3A"/>
                </a:solidFill>
                <a:latin typeface="Arial"/>
                <a:ea typeface="Arial"/>
                <a:cs typeface="Arial"/>
                <a:sym typeface="Arial"/>
              </a:rPr>
              <a:t>1948</a:t>
            </a:r>
            <a:endParaRPr b="0" i="0" sz="1180" u="none" cap="none" strike="noStrike">
              <a:solidFill>
                <a:schemeClr val="dk1"/>
              </a:solidFill>
              <a:latin typeface="Calibri"/>
              <a:ea typeface="Calibri"/>
              <a:cs typeface="Calibri"/>
              <a:sym typeface="Calibri"/>
            </a:endParaRPr>
          </a:p>
        </p:txBody>
      </p:sp>
      <p:sp>
        <p:nvSpPr>
          <p:cNvPr id="105" name="Google Shape;105;p4"/>
          <p:cNvSpPr/>
          <p:nvPr/>
        </p:nvSpPr>
        <p:spPr>
          <a:xfrm>
            <a:off x="9189720" y="1627632"/>
            <a:ext cx="1874520" cy="23774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4262B"/>
              </a:buClr>
              <a:buSzPts val="1450"/>
              <a:buFont typeface="Play"/>
              <a:buNone/>
            </a:pPr>
            <a:r>
              <a:rPr b="1" i="0" lang="en-US" sz="1450" u="none" cap="none" strike="noStrike">
                <a:solidFill>
                  <a:srgbClr val="24262B"/>
                </a:solidFill>
                <a:latin typeface="Play"/>
                <a:ea typeface="Play"/>
                <a:cs typeface="Play"/>
                <a:sym typeface="Play"/>
              </a:rPr>
              <a:t>Information theory</a:t>
            </a:r>
            <a:endParaRPr b="0" i="0" sz="1450" u="none" cap="none" strike="noStrike">
              <a:solidFill>
                <a:schemeClr val="dk1"/>
              </a:solidFill>
              <a:latin typeface="Calibri"/>
              <a:ea typeface="Calibri"/>
              <a:cs typeface="Calibri"/>
              <a:sym typeface="Calibri"/>
            </a:endParaRPr>
          </a:p>
        </p:txBody>
      </p:sp>
      <p:sp>
        <p:nvSpPr>
          <p:cNvPr id="106" name="Google Shape;106;p4"/>
          <p:cNvSpPr/>
          <p:nvPr/>
        </p:nvSpPr>
        <p:spPr>
          <a:xfrm>
            <a:off x="8430768" y="1984248"/>
            <a:ext cx="2697480" cy="566928"/>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5F6875"/>
              </a:buClr>
              <a:buSzPts val="1130"/>
              <a:buFont typeface="Arial"/>
              <a:buNone/>
            </a:pPr>
            <a:r>
              <a:rPr b="0" i="0" lang="en-US" sz="1130" u="none" cap="none" strike="noStrike">
                <a:solidFill>
                  <a:srgbClr val="5F6875"/>
                </a:solidFill>
                <a:latin typeface="Arial"/>
                <a:ea typeface="Arial"/>
                <a:cs typeface="Arial"/>
                <a:sym typeface="Arial"/>
              </a:rPr>
              <a:t>Claude Shannon explained how information can be measured, encoded, transmitted, and processed.</a:t>
            </a:r>
            <a:endParaRPr b="0" i="0" sz="1130" u="none" cap="none" strike="noStrike">
              <a:solidFill>
                <a:schemeClr val="dk1"/>
              </a:solidFill>
              <a:latin typeface="Calibri"/>
              <a:ea typeface="Calibri"/>
              <a:cs typeface="Calibri"/>
              <a:sym typeface="Calibri"/>
            </a:endParaRPr>
          </a:p>
        </p:txBody>
      </p:sp>
      <p:sp>
        <p:nvSpPr>
          <p:cNvPr id="107" name="Google Shape;107;p4"/>
          <p:cNvSpPr/>
          <p:nvPr/>
        </p:nvSpPr>
        <p:spPr>
          <a:xfrm>
            <a:off x="640080" y="3419856"/>
            <a:ext cx="3246120" cy="1298448"/>
          </a:xfrm>
          <a:prstGeom prst="rect">
            <a:avLst/>
          </a:prstGeom>
          <a:solidFill>
            <a:srgbClr val="FFFFFF"/>
          </a:solidFill>
          <a:ln cap="flat" cmpd="sng" w="12700">
            <a:solidFill>
              <a:srgbClr val="E6D8B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4"/>
          <p:cNvSpPr/>
          <p:nvPr/>
        </p:nvSpPr>
        <p:spPr>
          <a:xfrm>
            <a:off x="640080" y="3419856"/>
            <a:ext cx="128016" cy="1298448"/>
          </a:xfrm>
          <a:prstGeom prst="rect">
            <a:avLst/>
          </a:prstGeom>
          <a:solidFill>
            <a:srgbClr val="C45A3A"/>
          </a:solidFill>
          <a:ln cap="flat" cmpd="sng" w="12700">
            <a:solidFill>
              <a:srgbClr val="C45A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4"/>
          <p:cNvSpPr/>
          <p:nvPr/>
        </p:nvSpPr>
        <p:spPr>
          <a:xfrm>
            <a:off x="932688" y="3584448"/>
            <a:ext cx="822960" cy="2103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C45A3A"/>
              </a:buClr>
              <a:buSzPts val="1180"/>
              <a:buFont typeface="Arial"/>
              <a:buNone/>
            </a:pPr>
            <a:r>
              <a:rPr b="1" i="0" lang="en-US" sz="1180" u="none" cap="none" strike="noStrike">
                <a:solidFill>
                  <a:srgbClr val="C45A3A"/>
                </a:solidFill>
                <a:latin typeface="Arial"/>
                <a:ea typeface="Arial"/>
                <a:cs typeface="Arial"/>
                <a:sym typeface="Arial"/>
              </a:rPr>
              <a:t>1949</a:t>
            </a:r>
            <a:endParaRPr b="0" i="0" sz="1180" u="none" cap="none" strike="noStrike">
              <a:solidFill>
                <a:schemeClr val="dk1"/>
              </a:solidFill>
              <a:latin typeface="Calibri"/>
              <a:ea typeface="Calibri"/>
              <a:cs typeface="Calibri"/>
              <a:sym typeface="Calibri"/>
            </a:endParaRPr>
          </a:p>
        </p:txBody>
      </p:sp>
      <p:sp>
        <p:nvSpPr>
          <p:cNvPr id="110" name="Google Shape;110;p4"/>
          <p:cNvSpPr/>
          <p:nvPr/>
        </p:nvSpPr>
        <p:spPr>
          <a:xfrm>
            <a:off x="1691640" y="3566160"/>
            <a:ext cx="1874520" cy="23774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4262B"/>
              </a:buClr>
              <a:buSzPts val="1450"/>
              <a:buFont typeface="Play"/>
              <a:buNone/>
            </a:pPr>
            <a:r>
              <a:rPr b="1" i="0" lang="en-US" sz="1450" u="none" cap="none" strike="noStrike">
                <a:solidFill>
                  <a:srgbClr val="24262B"/>
                </a:solidFill>
                <a:latin typeface="Play"/>
                <a:ea typeface="Play"/>
                <a:cs typeface="Play"/>
                <a:sym typeface="Play"/>
              </a:rPr>
              <a:t>Hebbian learning</a:t>
            </a:r>
            <a:endParaRPr b="0" i="0" sz="1450" u="none" cap="none" strike="noStrike">
              <a:solidFill>
                <a:schemeClr val="dk1"/>
              </a:solidFill>
              <a:latin typeface="Calibri"/>
              <a:ea typeface="Calibri"/>
              <a:cs typeface="Calibri"/>
              <a:sym typeface="Calibri"/>
            </a:endParaRPr>
          </a:p>
        </p:txBody>
      </p:sp>
      <p:sp>
        <p:nvSpPr>
          <p:cNvPr id="111" name="Google Shape;111;p4"/>
          <p:cNvSpPr/>
          <p:nvPr/>
        </p:nvSpPr>
        <p:spPr>
          <a:xfrm>
            <a:off x="932688" y="3922776"/>
            <a:ext cx="2697480" cy="566928"/>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5F6875"/>
              </a:buClr>
              <a:buSzPts val="1130"/>
              <a:buFont typeface="Arial"/>
              <a:buNone/>
            </a:pPr>
            <a:r>
              <a:rPr b="0" i="0" lang="en-US" sz="1130" u="none" cap="none" strike="noStrike">
                <a:solidFill>
                  <a:srgbClr val="5F6875"/>
                </a:solidFill>
                <a:latin typeface="Arial"/>
                <a:ea typeface="Arial"/>
                <a:cs typeface="Arial"/>
                <a:sym typeface="Arial"/>
              </a:rPr>
              <a:t>Donald Hebb proposed that repeated activity strengthens connections between neurons.</a:t>
            </a:r>
            <a:endParaRPr b="0" i="0" sz="1130" u="none" cap="none" strike="noStrike">
              <a:solidFill>
                <a:schemeClr val="dk1"/>
              </a:solidFill>
              <a:latin typeface="Calibri"/>
              <a:ea typeface="Calibri"/>
              <a:cs typeface="Calibri"/>
              <a:sym typeface="Calibri"/>
            </a:endParaRPr>
          </a:p>
        </p:txBody>
      </p:sp>
      <p:sp>
        <p:nvSpPr>
          <p:cNvPr id="112" name="Google Shape;112;p4"/>
          <p:cNvSpPr/>
          <p:nvPr/>
        </p:nvSpPr>
        <p:spPr>
          <a:xfrm>
            <a:off x="4389120" y="3419856"/>
            <a:ext cx="3246120" cy="1298448"/>
          </a:xfrm>
          <a:prstGeom prst="rect">
            <a:avLst/>
          </a:prstGeom>
          <a:solidFill>
            <a:srgbClr val="FFFFFF"/>
          </a:solidFill>
          <a:ln cap="flat" cmpd="sng" w="12700">
            <a:solidFill>
              <a:srgbClr val="E6D8B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4"/>
          <p:cNvSpPr/>
          <p:nvPr/>
        </p:nvSpPr>
        <p:spPr>
          <a:xfrm>
            <a:off x="4389120" y="3419856"/>
            <a:ext cx="128016" cy="1298448"/>
          </a:xfrm>
          <a:prstGeom prst="rect">
            <a:avLst/>
          </a:prstGeom>
          <a:solidFill>
            <a:srgbClr val="C45A3A"/>
          </a:solidFill>
          <a:ln cap="flat" cmpd="sng" w="12700">
            <a:solidFill>
              <a:srgbClr val="C45A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4"/>
          <p:cNvSpPr/>
          <p:nvPr/>
        </p:nvSpPr>
        <p:spPr>
          <a:xfrm>
            <a:off x="4681728" y="3584448"/>
            <a:ext cx="822960" cy="2103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C45A3A"/>
              </a:buClr>
              <a:buSzPts val="1180"/>
              <a:buFont typeface="Arial"/>
              <a:buNone/>
            </a:pPr>
            <a:r>
              <a:rPr b="1" i="0" lang="en-US" sz="1180" u="none" cap="none" strike="noStrike">
                <a:solidFill>
                  <a:srgbClr val="C45A3A"/>
                </a:solidFill>
                <a:latin typeface="Arial"/>
                <a:ea typeface="Arial"/>
                <a:cs typeface="Arial"/>
                <a:sym typeface="Arial"/>
              </a:rPr>
              <a:t>1950</a:t>
            </a:r>
            <a:endParaRPr b="0" i="0" sz="1180" u="none" cap="none" strike="noStrike">
              <a:solidFill>
                <a:schemeClr val="dk1"/>
              </a:solidFill>
              <a:latin typeface="Calibri"/>
              <a:ea typeface="Calibri"/>
              <a:cs typeface="Calibri"/>
              <a:sym typeface="Calibri"/>
            </a:endParaRPr>
          </a:p>
        </p:txBody>
      </p:sp>
      <p:sp>
        <p:nvSpPr>
          <p:cNvPr id="115" name="Google Shape;115;p4"/>
          <p:cNvSpPr/>
          <p:nvPr/>
        </p:nvSpPr>
        <p:spPr>
          <a:xfrm>
            <a:off x="5440680" y="3566160"/>
            <a:ext cx="1874520" cy="23774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4262B"/>
              </a:buClr>
              <a:buSzPts val="1450"/>
              <a:buFont typeface="Play"/>
              <a:buNone/>
            </a:pPr>
            <a:r>
              <a:rPr b="1" i="0" lang="en-US" sz="1450" u="none" cap="none" strike="noStrike">
                <a:solidFill>
                  <a:srgbClr val="24262B"/>
                </a:solidFill>
                <a:latin typeface="Play"/>
                <a:ea typeface="Play"/>
                <a:cs typeface="Play"/>
                <a:sym typeface="Play"/>
              </a:rPr>
              <a:t>Turing Test</a:t>
            </a:r>
            <a:endParaRPr b="0" i="0" sz="1450" u="none" cap="none" strike="noStrike">
              <a:solidFill>
                <a:schemeClr val="dk1"/>
              </a:solidFill>
              <a:latin typeface="Calibri"/>
              <a:ea typeface="Calibri"/>
              <a:cs typeface="Calibri"/>
              <a:sym typeface="Calibri"/>
            </a:endParaRPr>
          </a:p>
        </p:txBody>
      </p:sp>
      <p:sp>
        <p:nvSpPr>
          <p:cNvPr id="116" name="Google Shape;116;p4"/>
          <p:cNvSpPr/>
          <p:nvPr/>
        </p:nvSpPr>
        <p:spPr>
          <a:xfrm>
            <a:off x="4681728" y="3922776"/>
            <a:ext cx="2697480" cy="566928"/>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5F6875"/>
              </a:buClr>
              <a:buSzPts val="1130"/>
              <a:buFont typeface="Arial"/>
              <a:buNone/>
            </a:pPr>
            <a:r>
              <a:rPr b="0" i="0" lang="en-US" sz="1130" u="none" cap="none" strike="noStrike">
                <a:solidFill>
                  <a:srgbClr val="5F6875"/>
                </a:solidFill>
                <a:latin typeface="Arial"/>
                <a:ea typeface="Arial"/>
                <a:cs typeface="Arial"/>
                <a:sym typeface="Arial"/>
              </a:rPr>
              <a:t>Alan Turing asked whether machines could imitate human conversation and intelligence.</a:t>
            </a:r>
            <a:endParaRPr b="0" i="0" sz="1130" u="none" cap="none" strike="noStrike">
              <a:solidFill>
                <a:schemeClr val="dk1"/>
              </a:solidFill>
              <a:latin typeface="Calibri"/>
              <a:ea typeface="Calibri"/>
              <a:cs typeface="Calibri"/>
              <a:sym typeface="Calibri"/>
            </a:endParaRPr>
          </a:p>
        </p:txBody>
      </p:sp>
      <p:sp>
        <p:nvSpPr>
          <p:cNvPr id="117" name="Google Shape;117;p4"/>
          <p:cNvSpPr/>
          <p:nvPr/>
        </p:nvSpPr>
        <p:spPr>
          <a:xfrm>
            <a:off x="8138160" y="3419856"/>
            <a:ext cx="3246120" cy="1298448"/>
          </a:xfrm>
          <a:prstGeom prst="rect">
            <a:avLst/>
          </a:prstGeom>
          <a:solidFill>
            <a:srgbClr val="FFFFFF"/>
          </a:solidFill>
          <a:ln cap="flat" cmpd="sng" w="12700">
            <a:solidFill>
              <a:srgbClr val="E6D8B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4"/>
          <p:cNvSpPr/>
          <p:nvPr/>
        </p:nvSpPr>
        <p:spPr>
          <a:xfrm>
            <a:off x="8138160" y="3419856"/>
            <a:ext cx="128016" cy="1298448"/>
          </a:xfrm>
          <a:prstGeom prst="rect">
            <a:avLst/>
          </a:prstGeom>
          <a:solidFill>
            <a:srgbClr val="C45A3A"/>
          </a:solidFill>
          <a:ln cap="flat" cmpd="sng" w="12700">
            <a:solidFill>
              <a:srgbClr val="C45A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4"/>
          <p:cNvSpPr/>
          <p:nvPr/>
        </p:nvSpPr>
        <p:spPr>
          <a:xfrm>
            <a:off x="8430768" y="3584448"/>
            <a:ext cx="822960" cy="2103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C45A3A"/>
              </a:buClr>
              <a:buSzPts val="1180"/>
              <a:buFont typeface="Arial"/>
              <a:buNone/>
            </a:pPr>
            <a:r>
              <a:rPr b="1" i="0" lang="en-US" sz="1180" u="none" cap="none" strike="noStrike">
                <a:solidFill>
                  <a:srgbClr val="C45A3A"/>
                </a:solidFill>
                <a:latin typeface="Arial"/>
                <a:ea typeface="Arial"/>
                <a:cs typeface="Arial"/>
                <a:sym typeface="Arial"/>
              </a:rPr>
              <a:t>1955-56</a:t>
            </a:r>
            <a:endParaRPr b="0" i="0" sz="1180" u="none" cap="none" strike="noStrike">
              <a:solidFill>
                <a:schemeClr val="dk1"/>
              </a:solidFill>
              <a:latin typeface="Calibri"/>
              <a:ea typeface="Calibri"/>
              <a:cs typeface="Calibri"/>
              <a:sym typeface="Calibri"/>
            </a:endParaRPr>
          </a:p>
        </p:txBody>
      </p:sp>
      <p:sp>
        <p:nvSpPr>
          <p:cNvPr id="120" name="Google Shape;120;p4"/>
          <p:cNvSpPr/>
          <p:nvPr/>
        </p:nvSpPr>
        <p:spPr>
          <a:xfrm>
            <a:off x="9189720" y="3566160"/>
            <a:ext cx="1874520" cy="23774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4262B"/>
              </a:buClr>
              <a:buSzPts val="1450"/>
              <a:buFont typeface="Play"/>
              <a:buNone/>
            </a:pPr>
            <a:r>
              <a:rPr b="1" i="0" lang="en-US" sz="1450" u="none" cap="none" strike="noStrike">
                <a:solidFill>
                  <a:srgbClr val="24262B"/>
                </a:solidFill>
                <a:latin typeface="Play"/>
                <a:ea typeface="Play"/>
                <a:cs typeface="Play"/>
                <a:sym typeface="Play"/>
              </a:rPr>
              <a:t>AI is named</a:t>
            </a:r>
            <a:endParaRPr b="0" i="0" sz="1450" u="none" cap="none" strike="noStrike">
              <a:solidFill>
                <a:schemeClr val="dk1"/>
              </a:solidFill>
              <a:latin typeface="Calibri"/>
              <a:ea typeface="Calibri"/>
              <a:cs typeface="Calibri"/>
              <a:sym typeface="Calibri"/>
            </a:endParaRPr>
          </a:p>
        </p:txBody>
      </p:sp>
      <p:sp>
        <p:nvSpPr>
          <p:cNvPr id="121" name="Google Shape;121;p4"/>
          <p:cNvSpPr/>
          <p:nvPr/>
        </p:nvSpPr>
        <p:spPr>
          <a:xfrm>
            <a:off x="8430768" y="3922776"/>
            <a:ext cx="2697480" cy="566928"/>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5F6875"/>
              </a:buClr>
              <a:buSzPts val="1130"/>
              <a:buFont typeface="Arial"/>
              <a:buNone/>
            </a:pPr>
            <a:r>
              <a:rPr b="0" i="0" lang="en-US" sz="1130" u="none" cap="none" strike="noStrike">
                <a:solidFill>
                  <a:srgbClr val="5F6875"/>
                </a:solidFill>
                <a:latin typeface="Arial"/>
                <a:ea typeface="Arial"/>
                <a:cs typeface="Arial"/>
                <a:sym typeface="Arial"/>
              </a:rPr>
              <a:t>John McCarthy coined artificial intelligence, and the Dartmouth workshop helped start the field.</a:t>
            </a:r>
            <a:endParaRPr b="0" i="0" sz="113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5"/>
          <p:cNvSpPr/>
          <p:nvPr/>
        </p:nvSpPr>
        <p:spPr>
          <a:xfrm>
            <a:off x="502920" y="6473952"/>
            <a:ext cx="4754880" cy="1463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875"/>
              </a:buClr>
              <a:buSzPts val="850"/>
              <a:buFont typeface="Arial"/>
              <a:buNone/>
            </a:pPr>
            <a:r>
              <a:rPr b="0" i="0" lang="en-US" sz="850" u="none" cap="none" strike="noStrike">
                <a:solidFill>
                  <a:srgbClr val="5F6875"/>
                </a:solidFill>
                <a:latin typeface="Arial"/>
                <a:ea typeface="Arial"/>
                <a:cs typeface="Arial"/>
                <a:sym typeface="Arial"/>
              </a:rPr>
              <a:t>Kinjal Desai | AI &amp; ML Timeline | 4</a:t>
            </a:r>
            <a:endParaRPr b="0" i="0" sz="850" u="none" cap="none" strike="noStrike">
              <a:solidFill>
                <a:schemeClr val="dk1"/>
              </a:solidFill>
              <a:latin typeface="Calibri"/>
              <a:ea typeface="Calibri"/>
              <a:cs typeface="Calibri"/>
              <a:sym typeface="Calibri"/>
            </a:endParaRPr>
          </a:p>
        </p:txBody>
      </p:sp>
      <p:sp>
        <p:nvSpPr>
          <p:cNvPr id="128" name="Google Shape;128;p5"/>
          <p:cNvSpPr/>
          <p:nvPr/>
        </p:nvSpPr>
        <p:spPr>
          <a:xfrm>
            <a:off x="548640" y="347472"/>
            <a:ext cx="8686800" cy="4389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4262B"/>
              </a:buClr>
              <a:buSzPts val="2700"/>
              <a:buFont typeface="Play"/>
              <a:buNone/>
            </a:pPr>
            <a:r>
              <a:rPr b="1" i="0" lang="en-US" sz="2700" u="none" cap="none" strike="noStrike">
                <a:solidFill>
                  <a:srgbClr val="24262B"/>
                </a:solidFill>
                <a:latin typeface="Play"/>
                <a:ea typeface="Play"/>
                <a:cs typeface="Play"/>
                <a:sym typeface="Play"/>
              </a:rPr>
              <a:t>1958-1980: Early optimism and the first AI winter</a:t>
            </a:r>
            <a:endParaRPr b="0" i="0" sz="2700" u="none" cap="none" strike="noStrike">
              <a:solidFill>
                <a:schemeClr val="dk1"/>
              </a:solidFill>
              <a:latin typeface="Calibri"/>
              <a:ea typeface="Calibri"/>
              <a:cs typeface="Calibri"/>
              <a:sym typeface="Calibri"/>
            </a:endParaRPr>
          </a:p>
        </p:txBody>
      </p:sp>
      <p:sp>
        <p:nvSpPr>
          <p:cNvPr id="129" name="Google Shape;129;p5"/>
          <p:cNvSpPr/>
          <p:nvPr/>
        </p:nvSpPr>
        <p:spPr>
          <a:xfrm>
            <a:off x="548640" y="896112"/>
            <a:ext cx="9875520" cy="34747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5F6875"/>
              </a:buClr>
              <a:buSzPts val="1250"/>
              <a:buFont typeface="Arial"/>
              <a:buNone/>
            </a:pPr>
            <a:r>
              <a:rPr b="0" i="0" lang="en-US" sz="1250" u="none" cap="none" strike="noStrike">
                <a:solidFill>
                  <a:srgbClr val="5F6875"/>
                </a:solidFill>
                <a:latin typeface="Arial"/>
                <a:ea typeface="Arial"/>
                <a:cs typeface="Arial"/>
                <a:sym typeface="Arial"/>
              </a:rPr>
              <a:t>Early AI systems were impressive for their time, but limited hardware and unrealistic promises led to disappointment.</a:t>
            </a:r>
            <a:endParaRPr b="0" i="0" sz="1250" u="none" cap="none" strike="noStrike">
              <a:solidFill>
                <a:schemeClr val="dk1"/>
              </a:solidFill>
              <a:latin typeface="Calibri"/>
              <a:ea typeface="Calibri"/>
              <a:cs typeface="Calibri"/>
              <a:sym typeface="Calibri"/>
            </a:endParaRPr>
          </a:p>
        </p:txBody>
      </p:sp>
      <p:sp>
        <p:nvSpPr>
          <p:cNvPr id="130" name="Google Shape;130;p5"/>
          <p:cNvSpPr/>
          <p:nvPr/>
        </p:nvSpPr>
        <p:spPr>
          <a:xfrm>
            <a:off x="640080" y="1481328"/>
            <a:ext cx="3246120" cy="1298448"/>
          </a:xfrm>
          <a:prstGeom prst="rect">
            <a:avLst/>
          </a:prstGeom>
          <a:solidFill>
            <a:srgbClr val="FFFFFF"/>
          </a:solidFill>
          <a:ln cap="flat" cmpd="sng" w="12700">
            <a:solidFill>
              <a:srgbClr val="E6D8B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5"/>
          <p:cNvSpPr/>
          <p:nvPr/>
        </p:nvSpPr>
        <p:spPr>
          <a:xfrm>
            <a:off x="640080" y="1481328"/>
            <a:ext cx="128016" cy="1298448"/>
          </a:xfrm>
          <a:prstGeom prst="rect">
            <a:avLst/>
          </a:prstGeom>
          <a:solidFill>
            <a:srgbClr val="E6A23C"/>
          </a:solidFill>
          <a:ln cap="flat" cmpd="sng" w="12700">
            <a:solidFill>
              <a:srgbClr val="E6A2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5"/>
          <p:cNvSpPr/>
          <p:nvPr/>
        </p:nvSpPr>
        <p:spPr>
          <a:xfrm>
            <a:off x="932688" y="1645920"/>
            <a:ext cx="822960" cy="2103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E6A23C"/>
              </a:buClr>
              <a:buSzPts val="1180"/>
              <a:buFont typeface="Arial"/>
              <a:buNone/>
            </a:pPr>
            <a:r>
              <a:rPr b="1" i="0" lang="en-US" sz="1180" u="none" cap="none" strike="noStrike">
                <a:solidFill>
                  <a:srgbClr val="E6A23C"/>
                </a:solidFill>
                <a:latin typeface="Arial"/>
                <a:ea typeface="Arial"/>
                <a:cs typeface="Arial"/>
                <a:sym typeface="Arial"/>
              </a:rPr>
              <a:t>1958</a:t>
            </a:r>
            <a:endParaRPr b="0" i="0" sz="1180" u="none" cap="none" strike="noStrike">
              <a:solidFill>
                <a:schemeClr val="dk1"/>
              </a:solidFill>
              <a:latin typeface="Calibri"/>
              <a:ea typeface="Calibri"/>
              <a:cs typeface="Calibri"/>
              <a:sym typeface="Calibri"/>
            </a:endParaRPr>
          </a:p>
        </p:txBody>
      </p:sp>
      <p:sp>
        <p:nvSpPr>
          <p:cNvPr id="133" name="Google Shape;133;p5"/>
          <p:cNvSpPr/>
          <p:nvPr/>
        </p:nvSpPr>
        <p:spPr>
          <a:xfrm>
            <a:off x="1691640" y="1627632"/>
            <a:ext cx="1874520" cy="23774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4262B"/>
              </a:buClr>
              <a:buSzPts val="1450"/>
              <a:buFont typeface="Play"/>
              <a:buNone/>
            </a:pPr>
            <a:r>
              <a:rPr b="1" i="0" lang="en-US" sz="1450" u="none" cap="none" strike="noStrike">
                <a:solidFill>
                  <a:srgbClr val="24262B"/>
                </a:solidFill>
                <a:latin typeface="Play"/>
                <a:ea typeface="Play"/>
                <a:cs typeface="Play"/>
                <a:sym typeface="Play"/>
              </a:rPr>
              <a:t>Perceptron</a:t>
            </a:r>
            <a:endParaRPr b="0" i="0" sz="1450" u="none" cap="none" strike="noStrike">
              <a:solidFill>
                <a:schemeClr val="dk1"/>
              </a:solidFill>
              <a:latin typeface="Calibri"/>
              <a:ea typeface="Calibri"/>
              <a:cs typeface="Calibri"/>
              <a:sym typeface="Calibri"/>
            </a:endParaRPr>
          </a:p>
        </p:txBody>
      </p:sp>
      <p:sp>
        <p:nvSpPr>
          <p:cNvPr id="134" name="Google Shape;134;p5"/>
          <p:cNvSpPr/>
          <p:nvPr/>
        </p:nvSpPr>
        <p:spPr>
          <a:xfrm>
            <a:off x="932688" y="1984248"/>
            <a:ext cx="2697480" cy="566928"/>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5F6875"/>
              </a:buClr>
              <a:buSzPts val="1130"/>
              <a:buFont typeface="Arial"/>
              <a:buNone/>
            </a:pPr>
            <a:r>
              <a:rPr b="0" i="0" lang="en-US" sz="1130" u="none" cap="none" strike="noStrike">
                <a:solidFill>
                  <a:srgbClr val="5F6875"/>
                </a:solidFill>
                <a:latin typeface="Arial"/>
                <a:ea typeface="Arial"/>
                <a:cs typeface="Arial"/>
                <a:sym typeface="Arial"/>
              </a:rPr>
              <a:t>Frank Rosenblatt built an early learning system that became an important step toward neural networks.</a:t>
            </a:r>
            <a:endParaRPr b="0" i="0" sz="1130" u="none" cap="none" strike="noStrike">
              <a:solidFill>
                <a:schemeClr val="dk1"/>
              </a:solidFill>
              <a:latin typeface="Calibri"/>
              <a:ea typeface="Calibri"/>
              <a:cs typeface="Calibri"/>
              <a:sym typeface="Calibri"/>
            </a:endParaRPr>
          </a:p>
        </p:txBody>
      </p:sp>
      <p:sp>
        <p:nvSpPr>
          <p:cNvPr id="135" name="Google Shape;135;p5"/>
          <p:cNvSpPr/>
          <p:nvPr/>
        </p:nvSpPr>
        <p:spPr>
          <a:xfrm>
            <a:off x="4389120" y="1481328"/>
            <a:ext cx="3246120" cy="1298448"/>
          </a:xfrm>
          <a:prstGeom prst="rect">
            <a:avLst/>
          </a:prstGeom>
          <a:solidFill>
            <a:srgbClr val="FFFFFF"/>
          </a:solidFill>
          <a:ln cap="flat" cmpd="sng" w="12700">
            <a:solidFill>
              <a:srgbClr val="E6D8B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5"/>
          <p:cNvSpPr/>
          <p:nvPr/>
        </p:nvSpPr>
        <p:spPr>
          <a:xfrm>
            <a:off x="4389120" y="1481328"/>
            <a:ext cx="128016" cy="1298448"/>
          </a:xfrm>
          <a:prstGeom prst="rect">
            <a:avLst/>
          </a:prstGeom>
          <a:solidFill>
            <a:srgbClr val="E6A23C"/>
          </a:solidFill>
          <a:ln cap="flat" cmpd="sng" w="12700">
            <a:solidFill>
              <a:srgbClr val="E6A2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5"/>
          <p:cNvSpPr/>
          <p:nvPr/>
        </p:nvSpPr>
        <p:spPr>
          <a:xfrm>
            <a:off x="4681728" y="1645920"/>
            <a:ext cx="822960" cy="2103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E6A23C"/>
              </a:buClr>
              <a:buSzPts val="1180"/>
              <a:buFont typeface="Arial"/>
              <a:buNone/>
            </a:pPr>
            <a:r>
              <a:rPr b="1" i="0" lang="en-US" sz="1180" u="none" cap="none" strike="noStrike">
                <a:solidFill>
                  <a:srgbClr val="E6A23C"/>
                </a:solidFill>
                <a:latin typeface="Arial"/>
                <a:ea typeface="Arial"/>
                <a:cs typeface="Arial"/>
                <a:sym typeface="Arial"/>
              </a:rPr>
              <a:t>1966</a:t>
            </a:r>
            <a:endParaRPr b="0" i="0" sz="1180" u="none" cap="none" strike="noStrike">
              <a:solidFill>
                <a:schemeClr val="dk1"/>
              </a:solidFill>
              <a:latin typeface="Calibri"/>
              <a:ea typeface="Calibri"/>
              <a:cs typeface="Calibri"/>
              <a:sym typeface="Calibri"/>
            </a:endParaRPr>
          </a:p>
        </p:txBody>
      </p:sp>
      <p:sp>
        <p:nvSpPr>
          <p:cNvPr id="138" name="Google Shape;138;p5"/>
          <p:cNvSpPr/>
          <p:nvPr/>
        </p:nvSpPr>
        <p:spPr>
          <a:xfrm>
            <a:off x="5440680" y="1627632"/>
            <a:ext cx="1874520" cy="23774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4262B"/>
              </a:buClr>
              <a:buSzPts val="1450"/>
              <a:buFont typeface="Play"/>
              <a:buNone/>
            </a:pPr>
            <a:r>
              <a:rPr b="1" i="0" lang="en-US" sz="1450" u="none" cap="none" strike="noStrike">
                <a:solidFill>
                  <a:srgbClr val="24262B"/>
                </a:solidFill>
                <a:latin typeface="Play"/>
                <a:ea typeface="Play"/>
                <a:cs typeface="Play"/>
                <a:sym typeface="Play"/>
              </a:rPr>
              <a:t>ELIZA</a:t>
            </a:r>
            <a:endParaRPr b="0" i="0" sz="1450" u="none" cap="none" strike="noStrike">
              <a:solidFill>
                <a:schemeClr val="dk1"/>
              </a:solidFill>
              <a:latin typeface="Calibri"/>
              <a:ea typeface="Calibri"/>
              <a:cs typeface="Calibri"/>
              <a:sym typeface="Calibri"/>
            </a:endParaRPr>
          </a:p>
        </p:txBody>
      </p:sp>
      <p:sp>
        <p:nvSpPr>
          <p:cNvPr id="139" name="Google Shape;139;p5"/>
          <p:cNvSpPr/>
          <p:nvPr/>
        </p:nvSpPr>
        <p:spPr>
          <a:xfrm>
            <a:off x="4681728" y="1984248"/>
            <a:ext cx="2697480" cy="566928"/>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5F6875"/>
              </a:buClr>
              <a:buSzPts val="1130"/>
              <a:buFont typeface="Arial"/>
              <a:buNone/>
            </a:pPr>
            <a:r>
              <a:rPr b="0" i="0" lang="en-US" sz="1130" u="none" cap="none" strike="noStrike">
                <a:solidFill>
                  <a:srgbClr val="5F6875"/>
                </a:solidFill>
                <a:latin typeface="Arial"/>
                <a:ea typeface="Arial"/>
                <a:cs typeface="Arial"/>
                <a:sym typeface="Arial"/>
              </a:rPr>
              <a:t>Joseph Weizenbaum created a chatbot that made simple pattern matching feel conversational.</a:t>
            </a:r>
            <a:endParaRPr b="0" i="0" sz="1130" u="none" cap="none" strike="noStrike">
              <a:solidFill>
                <a:schemeClr val="dk1"/>
              </a:solidFill>
              <a:latin typeface="Calibri"/>
              <a:ea typeface="Calibri"/>
              <a:cs typeface="Calibri"/>
              <a:sym typeface="Calibri"/>
            </a:endParaRPr>
          </a:p>
        </p:txBody>
      </p:sp>
      <p:sp>
        <p:nvSpPr>
          <p:cNvPr id="140" name="Google Shape;140;p5"/>
          <p:cNvSpPr/>
          <p:nvPr/>
        </p:nvSpPr>
        <p:spPr>
          <a:xfrm>
            <a:off x="8138160" y="1481328"/>
            <a:ext cx="3246120" cy="1298448"/>
          </a:xfrm>
          <a:prstGeom prst="rect">
            <a:avLst/>
          </a:prstGeom>
          <a:solidFill>
            <a:srgbClr val="FFFFFF"/>
          </a:solidFill>
          <a:ln cap="flat" cmpd="sng" w="12700">
            <a:solidFill>
              <a:srgbClr val="E6D8B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5"/>
          <p:cNvSpPr/>
          <p:nvPr/>
        </p:nvSpPr>
        <p:spPr>
          <a:xfrm>
            <a:off x="8138160" y="1481328"/>
            <a:ext cx="128016" cy="1298448"/>
          </a:xfrm>
          <a:prstGeom prst="rect">
            <a:avLst/>
          </a:prstGeom>
          <a:solidFill>
            <a:srgbClr val="E6A23C"/>
          </a:solidFill>
          <a:ln cap="flat" cmpd="sng" w="12700">
            <a:solidFill>
              <a:srgbClr val="E6A2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5"/>
          <p:cNvSpPr/>
          <p:nvPr/>
        </p:nvSpPr>
        <p:spPr>
          <a:xfrm>
            <a:off x="8430768" y="1645920"/>
            <a:ext cx="822960" cy="2103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E6A23C"/>
              </a:buClr>
              <a:buSzPts val="1180"/>
              <a:buFont typeface="Arial"/>
              <a:buNone/>
            </a:pPr>
            <a:r>
              <a:rPr b="1" i="0" lang="en-US" sz="1180" u="none" cap="none" strike="noStrike">
                <a:solidFill>
                  <a:srgbClr val="E6A23C"/>
                </a:solidFill>
                <a:latin typeface="Arial"/>
                <a:ea typeface="Arial"/>
                <a:cs typeface="Arial"/>
                <a:sym typeface="Arial"/>
              </a:rPr>
              <a:t>1969</a:t>
            </a:r>
            <a:endParaRPr b="0" i="0" sz="1180" u="none" cap="none" strike="noStrike">
              <a:solidFill>
                <a:schemeClr val="dk1"/>
              </a:solidFill>
              <a:latin typeface="Calibri"/>
              <a:ea typeface="Calibri"/>
              <a:cs typeface="Calibri"/>
              <a:sym typeface="Calibri"/>
            </a:endParaRPr>
          </a:p>
        </p:txBody>
      </p:sp>
      <p:sp>
        <p:nvSpPr>
          <p:cNvPr id="143" name="Google Shape;143;p5"/>
          <p:cNvSpPr/>
          <p:nvPr/>
        </p:nvSpPr>
        <p:spPr>
          <a:xfrm>
            <a:off x="9189720" y="1627632"/>
            <a:ext cx="1874520" cy="23774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4262B"/>
              </a:buClr>
              <a:buSzPts val="1450"/>
              <a:buFont typeface="Play"/>
              <a:buNone/>
            </a:pPr>
            <a:r>
              <a:rPr b="1" i="0" lang="en-US" sz="1450" u="none" cap="none" strike="noStrike">
                <a:solidFill>
                  <a:srgbClr val="24262B"/>
                </a:solidFill>
                <a:latin typeface="Play"/>
                <a:ea typeface="Play"/>
                <a:cs typeface="Play"/>
                <a:sym typeface="Play"/>
              </a:rPr>
              <a:t>Perceptrons book</a:t>
            </a:r>
            <a:endParaRPr b="0" i="0" sz="1450" u="none" cap="none" strike="noStrike">
              <a:solidFill>
                <a:schemeClr val="dk1"/>
              </a:solidFill>
              <a:latin typeface="Calibri"/>
              <a:ea typeface="Calibri"/>
              <a:cs typeface="Calibri"/>
              <a:sym typeface="Calibri"/>
            </a:endParaRPr>
          </a:p>
        </p:txBody>
      </p:sp>
      <p:sp>
        <p:nvSpPr>
          <p:cNvPr id="144" name="Google Shape;144;p5"/>
          <p:cNvSpPr/>
          <p:nvPr/>
        </p:nvSpPr>
        <p:spPr>
          <a:xfrm>
            <a:off x="8430768" y="1984248"/>
            <a:ext cx="2697480" cy="566928"/>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5F6875"/>
              </a:buClr>
              <a:buSzPts val="1130"/>
              <a:buFont typeface="Arial"/>
              <a:buNone/>
            </a:pPr>
            <a:r>
              <a:rPr b="0" i="0" lang="en-US" sz="1130" u="none" cap="none" strike="noStrike">
                <a:solidFill>
                  <a:srgbClr val="5F6875"/>
                </a:solidFill>
                <a:latin typeface="Arial"/>
                <a:ea typeface="Arial"/>
                <a:cs typeface="Arial"/>
                <a:sym typeface="Arial"/>
              </a:rPr>
              <a:t>Minsky and Papert showed limits in early neural networks, reducing interest in the area.</a:t>
            </a:r>
            <a:endParaRPr b="0" i="0" sz="1130" u="none" cap="none" strike="noStrike">
              <a:solidFill>
                <a:schemeClr val="dk1"/>
              </a:solidFill>
              <a:latin typeface="Calibri"/>
              <a:ea typeface="Calibri"/>
              <a:cs typeface="Calibri"/>
              <a:sym typeface="Calibri"/>
            </a:endParaRPr>
          </a:p>
        </p:txBody>
      </p:sp>
      <p:sp>
        <p:nvSpPr>
          <p:cNvPr id="145" name="Google Shape;145;p5"/>
          <p:cNvSpPr/>
          <p:nvPr/>
        </p:nvSpPr>
        <p:spPr>
          <a:xfrm>
            <a:off x="640080" y="3419856"/>
            <a:ext cx="3246120" cy="1298448"/>
          </a:xfrm>
          <a:prstGeom prst="rect">
            <a:avLst/>
          </a:prstGeom>
          <a:solidFill>
            <a:srgbClr val="FFFFFF"/>
          </a:solidFill>
          <a:ln cap="flat" cmpd="sng" w="12700">
            <a:solidFill>
              <a:srgbClr val="E6D8B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5"/>
          <p:cNvSpPr/>
          <p:nvPr/>
        </p:nvSpPr>
        <p:spPr>
          <a:xfrm>
            <a:off x="640080" y="3419856"/>
            <a:ext cx="128016" cy="1298448"/>
          </a:xfrm>
          <a:prstGeom prst="rect">
            <a:avLst/>
          </a:prstGeom>
          <a:solidFill>
            <a:srgbClr val="E6A23C"/>
          </a:solidFill>
          <a:ln cap="flat" cmpd="sng" w="12700">
            <a:solidFill>
              <a:srgbClr val="E6A2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5"/>
          <p:cNvSpPr/>
          <p:nvPr/>
        </p:nvSpPr>
        <p:spPr>
          <a:xfrm>
            <a:off x="932688" y="3584448"/>
            <a:ext cx="822960" cy="2103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E6A23C"/>
              </a:buClr>
              <a:buSzPts val="1180"/>
              <a:buFont typeface="Arial"/>
              <a:buNone/>
            </a:pPr>
            <a:r>
              <a:rPr b="1" i="0" lang="en-US" sz="1180" u="none" cap="none" strike="noStrike">
                <a:solidFill>
                  <a:srgbClr val="E6A23C"/>
                </a:solidFill>
                <a:latin typeface="Arial"/>
                <a:ea typeface="Arial"/>
                <a:cs typeface="Arial"/>
                <a:sym typeface="Arial"/>
              </a:rPr>
              <a:t>1974-80</a:t>
            </a:r>
            <a:endParaRPr b="0" i="0" sz="1180" u="none" cap="none" strike="noStrike">
              <a:solidFill>
                <a:schemeClr val="dk1"/>
              </a:solidFill>
              <a:latin typeface="Calibri"/>
              <a:ea typeface="Calibri"/>
              <a:cs typeface="Calibri"/>
              <a:sym typeface="Calibri"/>
            </a:endParaRPr>
          </a:p>
        </p:txBody>
      </p:sp>
      <p:sp>
        <p:nvSpPr>
          <p:cNvPr id="148" name="Google Shape;148;p5"/>
          <p:cNvSpPr/>
          <p:nvPr/>
        </p:nvSpPr>
        <p:spPr>
          <a:xfrm>
            <a:off x="1691640" y="3566160"/>
            <a:ext cx="1874520" cy="23774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4262B"/>
              </a:buClr>
              <a:buSzPts val="1450"/>
              <a:buFont typeface="Play"/>
              <a:buNone/>
            </a:pPr>
            <a:r>
              <a:rPr b="1" i="0" lang="en-US" sz="1450" u="none" cap="none" strike="noStrike">
                <a:solidFill>
                  <a:srgbClr val="24262B"/>
                </a:solidFill>
                <a:latin typeface="Play"/>
                <a:ea typeface="Play"/>
                <a:cs typeface="Play"/>
                <a:sym typeface="Play"/>
              </a:rPr>
              <a:t>First AI winter</a:t>
            </a:r>
            <a:endParaRPr b="0" i="0" sz="1450" u="none" cap="none" strike="noStrike">
              <a:solidFill>
                <a:schemeClr val="dk1"/>
              </a:solidFill>
              <a:latin typeface="Calibri"/>
              <a:ea typeface="Calibri"/>
              <a:cs typeface="Calibri"/>
              <a:sym typeface="Calibri"/>
            </a:endParaRPr>
          </a:p>
        </p:txBody>
      </p:sp>
      <p:sp>
        <p:nvSpPr>
          <p:cNvPr id="149" name="Google Shape;149;p5"/>
          <p:cNvSpPr/>
          <p:nvPr/>
        </p:nvSpPr>
        <p:spPr>
          <a:xfrm>
            <a:off x="932688" y="3922776"/>
            <a:ext cx="2697480" cy="566928"/>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5F6875"/>
              </a:buClr>
              <a:buSzPts val="1130"/>
              <a:buFont typeface="Arial"/>
              <a:buNone/>
            </a:pPr>
            <a:r>
              <a:rPr b="0" i="0" lang="en-US" sz="1130" u="none" cap="none" strike="noStrike">
                <a:solidFill>
                  <a:srgbClr val="5F6875"/>
                </a:solidFill>
                <a:latin typeface="Arial"/>
                <a:ea typeface="Arial"/>
                <a:cs typeface="Arial"/>
                <a:sym typeface="Arial"/>
              </a:rPr>
              <a:t>Funding dropped when AI systems could not meet expectations or perform well enough in the real world.</a:t>
            </a:r>
            <a:endParaRPr b="0" i="0" sz="1130" u="none" cap="none" strike="noStrike">
              <a:solidFill>
                <a:schemeClr val="dk1"/>
              </a:solidFill>
              <a:latin typeface="Calibri"/>
              <a:ea typeface="Calibri"/>
              <a:cs typeface="Calibri"/>
              <a:sym typeface="Calibri"/>
            </a:endParaRPr>
          </a:p>
        </p:txBody>
      </p:sp>
      <p:sp>
        <p:nvSpPr>
          <p:cNvPr id="150" name="Google Shape;150;p5"/>
          <p:cNvSpPr/>
          <p:nvPr/>
        </p:nvSpPr>
        <p:spPr>
          <a:xfrm>
            <a:off x="4389120" y="3419856"/>
            <a:ext cx="3246120" cy="1298448"/>
          </a:xfrm>
          <a:prstGeom prst="rect">
            <a:avLst/>
          </a:prstGeom>
          <a:solidFill>
            <a:srgbClr val="FFFFFF"/>
          </a:solidFill>
          <a:ln cap="flat" cmpd="sng" w="12700">
            <a:solidFill>
              <a:srgbClr val="E6D8B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5"/>
          <p:cNvSpPr/>
          <p:nvPr/>
        </p:nvSpPr>
        <p:spPr>
          <a:xfrm>
            <a:off x="4389120" y="3419856"/>
            <a:ext cx="128016" cy="1298448"/>
          </a:xfrm>
          <a:prstGeom prst="rect">
            <a:avLst/>
          </a:prstGeom>
          <a:solidFill>
            <a:srgbClr val="E6A23C"/>
          </a:solidFill>
          <a:ln cap="flat" cmpd="sng" w="12700">
            <a:solidFill>
              <a:srgbClr val="E6A2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5"/>
          <p:cNvSpPr/>
          <p:nvPr/>
        </p:nvSpPr>
        <p:spPr>
          <a:xfrm>
            <a:off x="4681728" y="3584448"/>
            <a:ext cx="822960" cy="2103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E6A23C"/>
              </a:buClr>
              <a:buSzPts val="1180"/>
              <a:buFont typeface="Arial"/>
              <a:buNone/>
            </a:pPr>
            <a:r>
              <a:rPr b="1" i="0" lang="en-US" sz="1180" u="none" cap="none" strike="noStrike">
                <a:solidFill>
                  <a:srgbClr val="E6A23C"/>
                </a:solidFill>
                <a:latin typeface="Arial"/>
                <a:ea typeface="Arial"/>
                <a:cs typeface="Arial"/>
                <a:sym typeface="Arial"/>
              </a:rPr>
              <a:t>Impact</a:t>
            </a:r>
            <a:endParaRPr b="0" i="0" sz="1180" u="none" cap="none" strike="noStrike">
              <a:solidFill>
                <a:schemeClr val="dk1"/>
              </a:solidFill>
              <a:latin typeface="Calibri"/>
              <a:ea typeface="Calibri"/>
              <a:cs typeface="Calibri"/>
              <a:sym typeface="Calibri"/>
            </a:endParaRPr>
          </a:p>
        </p:txBody>
      </p:sp>
      <p:sp>
        <p:nvSpPr>
          <p:cNvPr id="153" name="Google Shape;153;p5"/>
          <p:cNvSpPr/>
          <p:nvPr/>
        </p:nvSpPr>
        <p:spPr>
          <a:xfrm>
            <a:off x="5440680" y="3566160"/>
            <a:ext cx="1874520" cy="23774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4262B"/>
              </a:buClr>
              <a:buSzPts val="1450"/>
              <a:buFont typeface="Play"/>
              <a:buNone/>
            </a:pPr>
            <a:r>
              <a:rPr b="1" i="0" lang="en-US" sz="1450" u="none" cap="none" strike="noStrike">
                <a:solidFill>
                  <a:srgbClr val="24262B"/>
                </a:solidFill>
                <a:latin typeface="Play"/>
                <a:ea typeface="Play"/>
                <a:cs typeface="Play"/>
                <a:sym typeface="Play"/>
              </a:rPr>
              <a:t>Slowdown</a:t>
            </a:r>
            <a:endParaRPr b="0" i="0" sz="1450" u="none" cap="none" strike="noStrike">
              <a:solidFill>
                <a:schemeClr val="dk1"/>
              </a:solidFill>
              <a:latin typeface="Calibri"/>
              <a:ea typeface="Calibri"/>
              <a:cs typeface="Calibri"/>
              <a:sym typeface="Calibri"/>
            </a:endParaRPr>
          </a:p>
        </p:txBody>
      </p:sp>
      <p:sp>
        <p:nvSpPr>
          <p:cNvPr id="154" name="Google Shape;154;p5"/>
          <p:cNvSpPr/>
          <p:nvPr/>
        </p:nvSpPr>
        <p:spPr>
          <a:xfrm>
            <a:off x="4681728" y="3922776"/>
            <a:ext cx="2697480" cy="566928"/>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5F6875"/>
              </a:buClr>
              <a:buSzPts val="1130"/>
              <a:buFont typeface="Arial"/>
              <a:buNone/>
            </a:pPr>
            <a:r>
              <a:rPr b="0" i="0" lang="en-US" sz="1130" u="none" cap="none" strike="noStrike">
                <a:solidFill>
                  <a:srgbClr val="5F6875"/>
                </a:solidFill>
                <a:latin typeface="Arial"/>
                <a:ea typeface="Arial"/>
                <a:cs typeface="Arial"/>
                <a:sym typeface="Arial"/>
              </a:rPr>
              <a:t>Many projects lost support, but some researchers continued work that later became important.</a:t>
            </a:r>
            <a:endParaRPr b="0" i="0" sz="1130" u="none" cap="none" strike="noStrike">
              <a:solidFill>
                <a:schemeClr val="dk1"/>
              </a:solidFill>
              <a:latin typeface="Calibri"/>
              <a:ea typeface="Calibri"/>
              <a:cs typeface="Calibri"/>
              <a:sym typeface="Calibri"/>
            </a:endParaRPr>
          </a:p>
        </p:txBody>
      </p:sp>
      <p:sp>
        <p:nvSpPr>
          <p:cNvPr id="155" name="Google Shape;155;p5"/>
          <p:cNvSpPr/>
          <p:nvPr/>
        </p:nvSpPr>
        <p:spPr>
          <a:xfrm>
            <a:off x="8138160" y="3419856"/>
            <a:ext cx="3246120" cy="1298448"/>
          </a:xfrm>
          <a:prstGeom prst="rect">
            <a:avLst/>
          </a:prstGeom>
          <a:solidFill>
            <a:srgbClr val="FFFFFF"/>
          </a:solidFill>
          <a:ln cap="flat" cmpd="sng" w="12700">
            <a:solidFill>
              <a:srgbClr val="E6D8B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5"/>
          <p:cNvSpPr/>
          <p:nvPr/>
        </p:nvSpPr>
        <p:spPr>
          <a:xfrm>
            <a:off x="8138160" y="3419856"/>
            <a:ext cx="128016" cy="1298448"/>
          </a:xfrm>
          <a:prstGeom prst="rect">
            <a:avLst/>
          </a:prstGeom>
          <a:solidFill>
            <a:srgbClr val="E6A23C"/>
          </a:solidFill>
          <a:ln cap="flat" cmpd="sng" w="12700">
            <a:solidFill>
              <a:srgbClr val="E6A2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5"/>
          <p:cNvSpPr/>
          <p:nvPr/>
        </p:nvSpPr>
        <p:spPr>
          <a:xfrm>
            <a:off x="8430768" y="3584448"/>
            <a:ext cx="822960" cy="2103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E6A23C"/>
              </a:buClr>
              <a:buSzPts val="1180"/>
              <a:buFont typeface="Arial"/>
              <a:buNone/>
            </a:pPr>
            <a:r>
              <a:rPr b="1" i="0" lang="en-US" sz="1180" u="none" cap="none" strike="noStrike">
                <a:solidFill>
                  <a:srgbClr val="E6A23C"/>
                </a:solidFill>
                <a:latin typeface="Arial"/>
                <a:ea typeface="Arial"/>
                <a:cs typeface="Arial"/>
                <a:sym typeface="Arial"/>
              </a:rPr>
              <a:t>Lesson</a:t>
            </a:r>
            <a:endParaRPr b="0" i="0" sz="1180" u="none" cap="none" strike="noStrike">
              <a:solidFill>
                <a:schemeClr val="dk1"/>
              </a:solidFill>
              <a:latin typeface="Calibri"/>
              <a:ea typeface="Calibri"/>
              <a:cs typeface="Calibri"/>
              <a:sym typeface="Calibri"/>
            </a:endParaRPr>
          </a:p>
        </p:txBody>
      </p:sp>
      <p:sp>
        <p:nvSpPr>
          <p:cNvPr id="158" name="Google Shape;158;p5"/>
          <p:cNvSpPr/>
          <p:nvPr/>
        </p:nvSpPr>
        <p:spPr>
          <a:xfrm>
            <a:off x="9189720" y="3566160"/>
            <a:ext cx="1874520" cy="23774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4262B"/>
              </a:buClr>
              <a:buSzPts val="1450"/>
              <a:buFont typeface="Play"/>
              <a:buNone/>
            </a:pPr>
            <a:r>
              <a:rPr b="1" i="0" lang="en-US" sz="1450" u="none" cap="none" strike="noStrike">
                <a:solidFill>
                  <a:srgbClr val="24262B"/>
                </a:solidFill>
                <a:latin typeface="Play"/>
                <a:ea typeface="Play"/>
                <a:cs typeface="Play"/>
                <a:sym typeface="Play"/>
              </a:rPr>
              <a:t>Reality check</a:t>
            </a:r>
            <a:endParaRPr b="0" i="0" sz="1450" u="none" cap="none" strike="noStrike">
              <a:solidFill>
                <a:schemeClr val="dk1"/>
              </a:solidFill>
              <a:latin typeface="Calibri"/>
              <a:ea typeface="Calibri"/>
              <a:cs typeface="Calibri"/>
              <a:sym typeface="Calibri"/>
            </a:endParaRPr>
          </a:p>
        </p:txBody>
      </p:sp>
      <p:sp>
        <p:nvSpPr>
          <p:cNvPr id="159" name="Google Shape;159;p5"/>
          <p:cNvSpPr/>
          <p:nvPr/>
        </p:nvSpPr>
        <p:spPr>
          <a:xfrm>
            <a:off x="8430768" y="3922776"/>
            <a:ext cx="2697480" cy="566928"/>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5F6875"/>
              </a:buClr>
              <a:buSzPts val="1130"/>
              <a:buFont typeface="Arial"/>
              <a:buNone/>
            </a:pPr>
            <a:r>
              <a:rPr b="0" i="0" lang="en-US" sz="1130" u="none" cap="none" strike="noStrike">
                <a:solidFill>
                  <a:srgbClr val="5F6875"/>
                </a:solidFill>
                <a:latin typeface="Arial"/>
                <a:ea typeface="Arial"/>
                <a:cs typeface="Arial"/>
                <a:sym typeface="Arial"/>
              </a:rPr>
              <a:t>AI needed better computers, better data, and more realistic goals.</a:t>
            </a:r>
            <a:endParaRPr b="0" i="0" sz="113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6"/>
          <p:cNvSpPr/>
          <p:nvPr/>
        </p:nvSpPr>
        <p:spPr>
          <a:xfrm>
            <a:off x="502920" y="6473952"/>
            <a:ext cx="4754880" cy="1463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875"/>
              </a:buClr>
              <a:buSzPts val="850"/>
              <a:buFont typeface="Arial"/>
              <a:buNone/>
            </a:pPr>
            <a:r>
              <a:rPr b="0" i="0" lang="en-US" sz="850" u="none" cap="none" strike="noStrike">
                <a:solidFill>
                  <a:srgbClr val="5F6875"/>
                </a:solidFill>
                <a:latin typeface="Arial"/>
                <a:ea typeface="Arial"/>
                <a:cs typeface="Arial"/>
                <a:sym typeface="Arial"/>
              </a:rPr>
              <a:t>Kinjal Desai | AI &amp; ML Timeline | 5</a:t>
            </a:r>
            <a:endParaRPr b="0" i="0" sz="850" u="none" cap="none" strike="noStrike">
              <a:solidFill>
                <a:schemeClr val="dk1"/>
              </a:solidFill>
              <a:latin typeface="Calibri"/>
              <a:ea typeface="Calibri"/>
              <a:cs typeface="Calibri"/>
              <a:sym typeface="Calibri"/>
            </a:endParaRPr>
          </a:p>
        </p:txBody>
      </p:sp>
      <p:sp>
        <p:nvSpPr>
          <p:cNvPr id="166" name="Google Shape;166;p6"/>
          <p:cNvSpPr/>
          <p:nvPr/>
        </p:nvSpPr>
        <p:spPr>
          <a:xfrm>
            <a:off x="548640" y="347472"/>
            <a:ext cx="8686800" cy="4389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4262B"/>
              </a:buClr>
              <a:buSzPts val="2700"/>
              <a:buFont typeface="Play"/>
              <a:buNone/>
            </a:pPr>
            <a:r>
              <a:rPr b="1" i="0" lang="en-US" sz="2700" u="none" cap="none" strike="noStrike">
                <a:solidFill>
                  <a:srgbClr val="24262B"/>
                </a:solidFill>
                <a:latin typeface="Play"/>
                <a:ea typeface="Play"/>
                <a:cs typeface="Play"/>
                <a:sym typeface="Play"/>
              </a:rPr>
              <a:t>1980-1997: Expert systems, second winter, and Deep Blue</a:t>
            </a:r>
            <a:endParaRPr b="0" i="0" sz="2700" u="none" cap="none" strike="noStrike">
              <a:solidFill>
                <a:schemeClr val="dk1"/>
              </a:solidFill>
              <a:latin typeface="Calibri"/>
              <a:ea typeface="Calibri"/>
              <a:cs typeface="Calibri"/>
              <a:sym typeface="Calibri"/>
            </a:endParaRPr>
          </a:p>
        </p:txBody>
      </p:sp>
      <p:sp>
        <p:nvSpPr>
          <p:cNvPr id="167" name="Google Shape;167;p6"/>
          <p:cNvSpPr/>
          <p:nvPr/>
        </p:nvSpPr>
        <p:spPr>
          <a:xfrm>
            <a:off x="548640" y="896112"/>
            <a:ext cx="9875520" cy="34747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5F6875"/>
              </a:buClr>
              <a:buSzPts val="1250"/>
              <a:buFont typeface="Arial"/>
              <a:buNone/>
            </a:pPr>
            <a:r>
              <a:rPr b="0" i="0" lang="en-US" sz="1250" u="none" cap="none" strike="noStrike">
                <a:solidFill>
                  <a:srgbClr val="5F6875"/>
                </a:solidFill>
                <a:latin typeface="Arial"/>
                <a:ea typeface="Arial"/>
                <a:cs typeface="Arial"/>
                <a:sym typeface="Arial"/>
              </a:rPr>
              <a:t>AI became commercially useful through expert systems, but these systems were difficult to maintain and did not scale well.</a:t>
            </a:r>
            <a:endParaRPr b="0" i="0" sz="1250" u="none" cap="none" strike="noStrike">
              <a:solidFill>
                <a:schemeClr val="dk1"/>
              </a:solidFill>
              <a:latin typeface="Calibri"/>
              <a:ea typeface="Calibri"/>
              <a:cs typeface="Calibri"/>
              <a:sym typeface="Calibri"/>
            </a:endParaRPr>
          </a:p>
        </p:txBody>
      </p:sp>
      <p:sp>
        <p:nvSpPr>
          <p:cNvPr id="168" name="Google Shape;168;p6"/>
          <p:cNvSpPr/>
          <p:nvPr/>
        </p:nvSpPr>
        <p:spPr>
          <a:xfrm>
            <a:off x="640080" y="1481328"/>
            <a:ext cx="3246120" cy="1298448"/>
          </a:xfrm>
          <a:prstGeom prst="rect">
            <a:avLst/>
          </a:prstGeom>
          <a:solidFill>
            <a:srgbClr val="FFFFFF"/>
          </a:solidFill>
          <a:ln cap="flat" cmpd="sng" w="12700">
            <a:solidFill>
              <a:srgbClr val="E6D8B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6"/>
          <p:cNvSpPr/>
          <p:nvPr/>
        </p:nvSpPr>
        <p:spPr>
          <a:xfrm>
            <a:off x="640080" y="1481328"/>
            <a:ext cx="128016" cy="1298448"/>
          </a:xfrm>
          <a:prstGeom prst="rect">
            <a:avLst/>
          </a:prstGeom>
          <a:solidFill>
            <a:srgbClr val="5B3F8C"/>
          </a:solidFill>
          <a:ln cap="flat" cmpd="sng" w="12700">
            <a:solidFill>
              <a:srgbClr val="5B3F8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6"/>
          <p:cNvSpPr/>
          <p:nvPr/>
        </p:nvSpPr>
        <p:spPr>
          <a:xfrm>
            <a:off x="932688" y="1645920"/>
            <a:ext cx="822960" cy="2103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5B3F8C"/>
              </a:buClr>
              <a:buSzPts val="1180"/>
              <a:buFont typeface="Arial"/>
              <a:buNone/>
            </a:pPr>
            <a:r>
              <a:rPr b="1" i="0" lang="en-US" sz="1180" u="none" cap="none" strike="noStrike">
                <a:solidFill>
                  <a:srgbClr val="5B3F8C"/>
                </a:solidFill>
                <a:latin typeface="Arial"/>
                <a:ea typeface="Arial"/>
                <a:cs typeface="Arial"/>
                <a:sym typeface="Arial"/>
              </a:rPr>
              <a:t>1980-87</a:t>
            </a:r>
            <a:endParaRPr b="0" i="0" sz="1180" u="none" cap="none" strike="noStrike">
              <a:solidFill>
                <a:schemeClr val="dk1"/>
              </a:solidFill>
              <a:latin typeface="Calibri"/>
              <a:ea typeface="Calibri"/>
              <a:cs typeface="Calibri"/>
              <a:sym typeface="Calibri"/>
            </a:endParaRPr>
          </a:p>
        </p:txBody>
      </p:sp>
      <p:sp>
        <p:nvSpPr>
          <p:cNvPr id="171" name="Google Shape;171;p6"/>
          <p:cNvSpPr/>
          <p:nvPr/>
        </p:nvSpPr>
        <p:spPr>
          <a:xfrm>
            <a:off x="1691640" y="1627632"/>
            <a:ext cx="1874520" cy="23774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4262B"/>
              </a:buClr>
              <a:buSzPts val="1450"/>
              <a:buFont typeface="Play"/>
              <a:buNone/>
            </a:pPr>
            <a:r>
              <a:rPr b="1" i="0" lang="en-US" sz="1450" u="none" cap="none" strike="noStrike">
                <a:solidFill>
                  <a:srgbClr val="24262B"/>
                </a:solidFill>
                <a:latin typeface="Play"/>
                <a:ea typeface="Play"/>
                <a:cs typeface="Play"/>
                <a:sym typeface="Play"/>
              </a:rPr>
              <a:t>Expert systems</a:t>
            </a:r>
            <a:endParaRPr b="0" i="0" sz="1450" u="none" cap="none" strike="noStrike">
              <a:solidFill>
                <a:schemeClr val="dk1"/>
              </a:solidFill>
              <a:latin typeface="Calibri"/>
              <a:ea typeface="Calibri"/>
              <a:cs typeface="Calibri"/>
              <a:sym typeface="Calibri"/>
            </a:endParaRPr>
          </a:p>
        </p:txBody>
      </p:sp>
      <p:sp>
        <p:nvSpPr>
          <p:cNvPr id="172" name="Google Shape;172;p6"/>
          <p:cNvSpPr/>
          <p:nvPr/>
        </p:nvSpPr>
        <p:spPr>
          <a:xfrm>
            <a:off x="932688" y="1984248"/>
            <a:ext cx="2697480" cy="566928"/>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5F6875"/>
              </a:buClr>
              <a:buSzPts val="1130"/>
              <a:buFont typeface="Arial"/>
              <a:buNone/>
            </a:pPr>
            <a:r>
              <a:rPr b="0" i="0" lang="en-US" sz="1130" u="none" cap="none" strike="noStrike">
                <a:solidFill>
                  <a:srgbClr val="5F6875"/>
                </a:solidFill>
                <a:latin typeface="Arial"/>
                <a:ea typeface="Arial"/>
                <a:cs typeface="Arial"/>
                <a:sym typeface="Arial"/>
              </a:rPr>
              <a:t>Rule-based systems helped with specialized problems in medicine, engineering, and business.</a:t>
            </a:r>
            <a:endParaRPr b="0" i="0" sz="1130" u="none" cap="none" strike="noStrike">
              <a:solidFill>
                <a:schemeClr val="dk1"/>
              </a:solidFill>
              <a:latin typeface="Calibri"/>
              <a:ea typeface="Calibri"/>
              <a:cs typeface="Calibri"/>
              <a:sym typeface="Calibri"/>
            </a:endParaRPr>
          </a:p>
        </p:txBody>
      </p:sp>
      <p:sp>
        <p:nvSpPr>
          <p:cNvPr id="173" name="Google Shape;173;p6"/>
          <p:cNvSpPr/>
          <p:nvPr/>
        </p:nvSpPr>
        <p:spPr>
          <a:xfrm>
            <a:off x="4389120" y="1481328"/>
            <a:ext cx="3246120" cy="1298448"/>
          </a:xfrm>
          <a:prstGeom prst="rect">
            <a:avLst/>
          </a:prstGeom>
          <a:solidFill>
            <a:srgbClr val="FFFFFF"/>
          </a:solidFill>
          <a:ln cap="flat" cmpd="sng" w="12700">
            <a:solidFill>
              <a:srgbClr val="E6D8B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6"/>
          <p:cNvSpPr/>
          <p:nvPr/>
        </p:nvSpPr>
        <p:spPr>
          <a:xfrm>
            <a:off x="4389120" y="1481328"/>
            <a:ext cx="128016" cy="1298448"/>
          </a:xfrm>
          <a:prstGeom prst="rect">
            <a:avLst/>
          </a:prstGeom>
          <a:solidFill>
            <a:srgbClr val="5B3F8C"/>
          </a:solidFill>
          <a:ln cap="flat" cmpd="sng" w="12700">
            <a:solidFill>
              <a:srgbClr val="5B3F8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6"/>
          <p:cNvSpPr/>
          <p:nvPr/>
        </p:nvSpPr>
        <p:spPr>
          <a:xfrm>
            <a:off x="4681728" y="1645920"/>
            <a:ext cx="822960" cy="2103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5B3F8C"/>
              </a:buClr>
              <a:buSzPts val="1180"/>
              <a:buFont typeface="Arial"/>
              <a:buNone/>
            </a:pPr>
            <a:r>
              <a:rPr b="1" i="0" lang="en-US" sz="1180" u="none" cap="none" strike="noStrike">
                <a:solidFill>
                  <a:srgbClr val="5B3F8C"/>
                </a:solidFill>
                <a:latin typeface="Arial"/>
                <a:ea typeface="Arial"/>
                <a:cs typeface="Arial"/>
                <a:sym typeface="Arial"/>
              </a:rPr>
              <a:t>1986</a:t>
            </a:r>
            <a:endParaRPr b="0" i="0" sz="1180" u="none" cap="none" strike="noStrike">
              <a:solidFill>
                <a:schemeClr val="dk1"/>
              </a:solidFill>
              <a:latin typeface="Calibri"/>
              <a:ea typeface="Calibri"/>
              <a:cs typeface="Calibri"/>
              <a:sym typeface="Calibri"/>
            </a:endParaRPr>
          </a:p>
        </p:txBody>
      </p:sp>
      <p:sp>
        <p:nvSpPr>
          <p:cNvPr id="176" name="Google Shape;176;p6"/>
          <p:cNvSpPr/>
          <p:nvPr/>
        </p:nvSpPr>
        <p:spPr>
          <a:xfrm>
            <a:off x="5440680" y="1627632"/>
            <a:ext cx="1874520" cy="23774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4262B"/>
              </a:buClr>
              <a:buSzPts val="1450"/>
              <a:buFont typeface="Play"/>
              <a:buNone/>
            </a:pPr>
            <a:r>
              <a:rPr b="1" i="0" lang="en-US" sz="1450" u="none" cap="none" strike="noStrike">
                <a:solidFill>
                  <a:srgbClr val="24262B"/>
                </a:solidFill>
                <a:latin typeface="Play"/>
                <a:ea typeface="Play"/>
                <a:cs typeface="Play"/>
                <a:sym typeface="Play"/>
              </a:rPr>
              <a:t>Backpropagation</a:t>
            </a:r>
            <a:endParaRPr b="0" i="0" sz="1450" u="none" cap="none" strike="noStrike">
              <a:solidFill>
                <a:schemeClr val="dk1"/>
              </a:solidFill>
              <a:latin typeface="Calibri"/>
              <a:ea typeface="Calibri"/>
              <a:cs typeface="Calibri"/>
              <a:sym typeface="Calibri"/>
            </a:endParaRPr>
          </a:p>
        </p:txBody>
      </p:sp>
      <p:sp>
        <p:nvSpPr>
          <p:cNvPr id="177" name="Google Shape;177;p6"/>
          <p:cNvSpPr/>
          <p:nvPr/>
        </p:nvSpPr>
        <p:spPr>
          <a:xfrm>
            <a:off x="4681728" y="1984248"/>
            <a:ext cx="2697480" cy="566928"/>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5F6875"/>
              </a:buClr>
              <a:buSzPts val="1130"/>
              <a:buFont typeface="Arial"/>
              <a:buNone/>
            </a:pPr>
            <a:r>
              <a:rPr b="0" i="0" lang="en-US" sz="1130" u="none" cap="none" strike="noStrike">
                <a:solidFill>
                  <a:srgbClr val="5F6875"/>
                </a:solidFill>
                <a:latin typeface="Arial"/>
                <a:ea typeface="Arial"/>
                <a:cs typeface="Arial"/>
                <a:sym typeface="Arial"/>
              </a:rPr>
              <a:t>Rumelhart, Hinton, and Williams helped show how multi-layer neural networks could learn effectively.</a:t>
            </a:r>
            <a:endParaRPr b="0" i="0" sz="1130" u="none" cap="none" strike="noStrike">
              <a:solidFill>
                <a:schemeClr val="dk1"/>
              </a:solidFill>
              <a:latin typeface="Calibri"/>
              <a:ea typeface="Calibri"/>
              <a:cs typeface="Calibri"/>
              <a:sym typeface="Calibri"/>
            </a:endParaRPr>
          </a:p>
        </p:txBody>
      </p:sp>
      <p:sp>
        <p:nvSpPr>
          <p:cNvPr id="178" name="Google Shape;178;p6"/>
          <p:cNvSpPr/>
          <p:nvPr/>
        </p:nvSpPr>
        <p:spPr>
          <a:xfrm>
            <a:off x="8138160" y="1481328"/>
            <a:ext cx="3246120" cy="1298448"/>
          </a:xfrm>
          <a:prstGeom prst="rect">
            <a:avLst/>
          </a:prstGeom>
          <a:solidFill>
            <a:srgbClr val="FFFFFF"/>
          </a:solidFill>
          <a:ln cap="flat" cmpd="sng" w="12700">
            <a:solidFill>
              <a:srgbClr val="E6D8B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6"/>
          <p:cNvSpPr/>
          <p:nvPr/>
        </p:nvSpPr>
        <p:spPr>
          <a:xfrm>
            <a:off x="8138160" y="1481328"/>
            <a:ext cx="128016" cy="1298448"/>
          </a:xfrm>
          <a:prstGeom prst="rect">
            <a:avLst/>
          </a:prstGeom>
          <a:solidFill>
            <a:srgbClr val="5B3F8C"/>
          </a:solidFill>
          <a:ln cap="flat" cmpd="sng" w="12700">
            <a:solidFill>
              <a:srgbClr val="5B3F8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6"/>
          <p:cNvSpPr/>
          <p:nvPr/>
        </p:nvSpPr>
        <p:spPr>
          <a:xfrm>
            <a:off x="8430768" y="1645920"/>
            <a:ext cx="822960" cy="2103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5B3F8C"/>
              </a:buClr>
              <a:buSzPts val="1180"/>
              <a:buFont typeface="Arial"/>
              <a:buNone/>
            </a:pPr>
            <a:r>
              <a:rPr b="1" i="0" lang="en-US" sz="1180" u="none" cap="none" strike="noStrike">
                <a:solidFill>
                  <a:srgbClr val="5B3F8C"/>
                </a:solidFill>
                <a:latin typeface="Arial"/>
                <a:ea typeface="Arial"/>
                <a:cs typeface="Arial"/>
                <a:sym typeface="Arial"/>
              </a:rPr>
              <a:t>1987-93</a:t>
            </a:r>
            <a:endParaRPr b="0" i="0" sz="1180" u="none" cap="none" strike="noStrike">
              <a:solidFill>
                <a:schemeClr val="dk1"/>
              </a:solidFill>
              <a:latin typeface="Calibri"/>
              <a:ea typeface="Calibri"/>
              <a:cs typeface="Calibri"/>
              <a:sym typeface="Calibri"/>
            </a:endParaRPr>
          </a:p>
        </p:txBody>
      </p:sp>
      <p:sp>
        <p:nvSpPr>
          <p:cNvPr id="181" name="Google Shape;181;p6"/>
          <p:cNvSpPr/>
          <p:nvPr/>
        </p:nvSpPr>
        <p:spPr>
          <a:xfrm>
            <a:off x="9189720" y="1627632"/>
            <a:ext cx="1874520" cy="23774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4262B"/>
              </a:buClr>
              <a:buSzPts val="1450"/>
              <a:buFont typeface="Play"/>
              <a:buNone/>
            </a:pPr>
            <a:r>
              <a:rPr b="1" i="0" lang="en-US" sz="1450" u="none" cap="none" strike="noStrike">
                <a:solidFill>
                  <a:srgbClr val="24262B"/>
                </a:solidFill>
                <a:latin typeface="Play"/>
                <a:ea typeface="Play"/>
                <a:cs typeface="Play"/>
                <a:sym typeface="Play"/>
              </a:rPr>
              <a:t>Second AI winter</a:t>
            </a:r>
            <a:endParaRPr b="0" i="0" sz="1450" u="none" cap="none" strike="noStrike">
              <a:solidFill>
                <a:schemeClr val="dk1"/>
              </a:solidFill>
              <a:latin typeface="Calibri"/>
              <a:ea typeface="Calibri"/>
              <a:cs typeface="Calibri"/>
              <a:sym typeface="Calibri"/>
            </a:endParaRPr>
          </a:p>
        </p:txBody>
      </p:sp>
      <p:sp>
        <p:nvSpPr>
          <p:cNvPr id="182" name="Google Shape;182;p6"/>
          <p:cNvSpPr/>
          <p:nvPr/>
        </p:nvSpPr>
        <p:spPr>
          <a:xfrm>
            <a:off x="8430768" y="1984248"/>
            <a:ext cx="2697480" cy="566928"/>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5F6875"/>
              </a:buClr>
              <a:buSzPts val="1130"/>
              <a:buFont typeface="Arial"/>
              <a:buNone/>
            </a:pPr>
            <a:r>
              <a:rPr b="0" i="0" lang="en-US" sz="1130" u="none" cap="none" strike="noStrike">
                <a:solidFill>
                  <a:srgbClr val="5F6875"/>
                </a:solidFill>
                <a:latin typeface="Arial"/>
                <a:ea typeface="Arial"/>
                <a:cs typeface="Arial"/>
                <a:sym typeface="Arial"/>
              </a:rPr>
              <a:t>Expert systems became expensive and brittle, so companies reduced investment.</a:t>
            </a:r>
            <a:endParaRPr b="0" i="0" sz="1130" u="none" cap="none" strike="noStrike">
              <a:solidFill>
                <a:schemeClr val="dk1"/>
              </a:solidFill>
              <a:latin typeface="Calibri"/>
              <a:ea typeface="Calibri"/>
              <a:cs typeface="Calibri"/>
              <a:sym typeface="Calibri"/>
            </a:endParaRPr>
          </a:p>
        </p:txBody>
      </p:sp>
      <p:sp>
        <p:nvSpPr>
          <p:cNvPr id="183" name="Google Shape;183;p6"/>
          <p:cNvSpPr/>
          <p:nvPr/>
        </p:nvSpPr>
        <p:spPr>
          <a:xfrm>
            <a:off x="640080" y="3419856"/>
            <a:ext cx="3246120" cy="1298448"/>
          </a:xfrm>
          <a:prstGeom prst="rect">
            <a:avLst/>
          </a:prstGeom>
          <a:solidFill>
            <a:srgbClr val="FFFFFF"/>
          </a:solidFill>
          <a:ln cap="flat" cmpd="sng" w="12700">
            <a:solidFill>
              <a:srgbClr val="E6D8B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6"/>
          <p:cNvSpPr/>
          <p:nvPr/>
        </p:nvSpPr>
        <p:spPr>
          <a:xfrm>
            <a:off x="640080" y="3419856"/>
            <a:ext cx="128016" cy="1298448"/>
          </a:xfrm>
          <a:prstGeom prst="rect">
            <a:avLst/>
          </a:prstGeom>
          <a:solidFill>
            <a:srgbClr val="5B3F8C"/>
          </a:solidFill>
          <a:ln cap="flat" cmpd="sng" w="12700">
            <a:solidFill>
              <a:srgbClr val="5B3F8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6"/>
          <p:cNvSpPr/>
          <p:nvPr/>
        </p:nvSpPr>
        <p:spPr>
          <a:xfrm>
            <a:off x="932688" y="3584448"/>
            <a:ext cx="822960" cy="2103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5B3F8C"/>
              </a:buClr>
              <a:buSzPts val="1180"/>
              <a:buFont typeface="Arial"/>
              <a:buNone/>
            </a:pPr>
            <a:r>
              <a:rPr b="1" i="0" lang="en-US" sz="1180" u="none" cap="none" strike="noStrike">
                <a:solidFill>
                  <a:srgbClr val="5B3F8C"/>
                </a:solidFill>
                <a:latin typeface="Arial"/>
                <a:ea typeface="Arial"/>
                <a:cs typeface="Arial"/>
                <a:sym typeface="Arial"/>
              </a:rPr>
              <a:t>1997</a:t>
            </a:r>
            <a:endParaRPr b="0" i="0" sz="1180" u="none" cap="none" strike="noStrike">
              <a:solidFill>
                <a:schemeClr val="dk1"/>
              </a:solidFill>
              <a:latin typeface="Calibri"/>
              <a:ea typeface="Calibri"/>
              <a:cs typeface="Calibri"/>
              <a:sym typeface="Calibri"/>
            </a:endParaRPr>
          </a:p>
        </p:txBody>
      </p:sp>
      <p:sp>
        <p:nvSpPr>
          <p:cNvPr id="186" name="Google Shape;186;p6"/>
          <p:cNvSpPr/>
          <p:nvPr/>
        </p:nvSpPr>
        <p:spPr>
          <a:xfrm>
            <a:off x="1691640" y="3566160"/>
            <a:ext cx="1874520" cy="23774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4262B"/>
              </a:buClr>
              <a:buSzPts val="1450"/>
              <a:buFont typeface="Play"/>
              <a:buNone/>
            </a:pPr>
            <a:r>
              <a:rPr b="1" i="0" lang="en-US" sz="1450" u="none" cap="none" strike="noStrike">
                <a:solidFill>
                  <a:srgbClr val="24262B"/>
                </a:solidFill>
                <a:latin typeface="Play"/>
                <a:ea typeface="Play"/>
                <a:cs typeface="Play"/>
                <a:sym typeface="Play"/>
              </a:rPr>
              <a:t>Deep Blue</a:t>
            </a:r>
            <a:endParaRPr b="0" i="0" sz="1450" u="none" cap="none" strike="noStrike">
              <a:solidFill>
                <a:schemeClr val="dk1"/>
              </a:solidFill>
              <a:latin typeface="Calibri"/>
              <a:ea typeface="Calibri"/>
              <a:cs typeface="Calibri"/>
              <a:sym typeface="Calibri"/>
            </a:endParaRPr>
          </a:p>
        </p:txBody>
      </p:sp>
      <p:sp>
        <p:nvSpPr>
          <p:cNvPr id="187" name="Google Shape;187;p6"/>
          <p:cNvSpPr/>
          <p:nvPr/>
        </p:nvSpPr>
        <p:spPr>
          <a:xfrm>
            <a:off x="932688" y="3922776"/>
            <a:ext cx="2697480" cy="566928"/>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5F6875"/>
              </a:buClr>
              <a:buSzPts val="1130"/>
              <a:buFont typeface="Arial"/>
              <a:buNone/>
            </a:pPr>
            <a:r>
              <a:rPr b="0" i="0" lang="en-US" sz="1130" u="none" cap="none" strike="noStrike">
                <a:solidFill>
                  <a:srgbClr val="5F6875"/>
                </a:solidFill>
                <a:latin typeface="Arial"/>
                <a:ea typeface="Arial"/>
                <a:cs typeface="Arial"/>
                <a:sym typeface="Arial"/>
              </a:rPr>
              <a:t>IBM's Deep Blue defeated chess champion Garry Kasparov using search and evaluation algorithms.</a:t>
            </a:r>
            <a:endParaRPr b="0" i="0" sz="1130" u="none" cap="none" strike="noStrike">
              <a:solidFill>
                <a:schemeClr val="dk1"/>
              </a:solidFill>
              <a:latin typeface="Calibri"/>
              <a:ea typeface="Calibri"/>
              <a:cs typeface="Calibri"/>
              <a:sym typeface="Calibri"/>
            </a:endParaRPr>
          </a:p>
        </p:txBody>
      </p:sp>
      <p:sp>
        <p:nvSpPr>
          <p:cNvPr id="188" name="Google Shape;188;p6"/>
          <p:cNvSpPr/>
          <p:nvPr/>
        </p:nvSpPr>
        <p:spPr>
          <a:xfrm>
            <a:off x="4389120" y="3419856"/>
            <a:ext cx="3246120" cy="1298448"/>
          </a:xfrm>
          <a:prstGeom prst="rect">
            <a:avLst/>
          </a:prstGeom>
          <a:solidFill>
            <a:srgbClr val="FFFFFF"/>
          </a:solidFill>
          <a:ln cap="flat" cmpd="sng" w="12700">
            <a:solidFill>
              <a:srgbClr val="E6D8B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6"/>
          <p:cNvSpPr/>
          <p:nvPr/>
        </p:nvSpPr>
        <p:spPr>
          <a:xfrm>
            <a:off x="4389120" y="3419856"/>
            <a:ext cx="128016" cy="1298448"/>
          </a:xfrm>
          <a:prstGeom prst="rect">
            <a:avLst/>
          </a:prstGeom>
          <a:solidFill>
            <a:srgbClr val="5B3F8C"/>
          </a:solidFill>
          <a:ln cap="flat" cmpd="sng" w="12700">
            <a:solidFill>
              <a:srgbClr val="5B3F8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6"/>
          <p:cNvSpPr/>
          <p:nvPr/>
        </p:nvSpPr>
        <p:spPr>
          <a:xfrm>
            <a:off x="4681728" y="3584448"/>
            <a:ext cx="822960" cy="2103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5B3F8C"/>
              </a:buClr>
              <a:buSzPts val="1180"/>
              <a:buFont typeface="Arial"/>
              <a:buNone/>
            </a:pPr>
            <a:r>
              <a:rPr b="1" i="0" lang="en-US" sz="1180" u="none" cap="none" strike="noStrike">
                <a:solidFill>
                  <a:srgbClr val="5B3F8C"/>
                </a:solidFill>
                <a:latin typeface="Arial"/>
                <a:ea typeface="Arial"/>
                <a:cs typeface="Arial"/>
                <a:sym typeface="Arial"/>
              </a:rPr>
              <a:t>Lesson</a:t>
            </a:r>
            <a:endParaRPr b="0" i="0" sz="1180" u="none" cap="none" strike="noStrike">
              <a:solidFill>
                <a:schemeClr val="dk1"/>
              </a:solidFill>
              <a:latin typeface="Calibri"/>
              <a:ea typeface="Calibri"/>
              <a:cs typeface="Calibri"/>
              <a:sym typeface="Calibri"/>
            </a:endParaRPr>
          </a:p>
        </p:txBody>
      </p:sp>
      <p:sp>
        <p:nvSpPr>
          <p:cNvPr id="191" name="Google Shape;191;p6"/>
          <p:cNvSpPr/>
          <p:nvPr/>
        </p:nvSpPr>
        <p:spPr>
          <a:xfrm>
            <a:off x="5440680" y="3566160"/>
            <a:ext cx="1874520" cy="23774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4262B"/>
              </a:buClr>
              <a:buSzPts val="1450"/>
              <a:buFont typeface="Play"/>
              <a:buNone/>
            </a:pPr>
            <a:r>
              <a:rPr b="1" i="0" lang="en-US" sz="1450" u="none" cap="none" strike="noStrike">
                <a:solidFill>
                  <a:srgbClr val="24262B"/>
                </a:solidFill>
                <a:latin typeface="Play"/>
                <a:ea typeface="Play"/>
                <a:cs typeface="Play"/>
                <a:sym typeface="Play"/>
              </a:rPr>
              <a:t>Narrow AI</a:t>
            </a:r>
            <a:endParaRPr b="0" i="0" sz="1450" u="none" cap="none" strike="noStrike">
              <a:solidFill>
                <a:schemeClr val="dk1"/>
              </a:solidFill>
              <a:latin typeface="Calibri"/>
              <a:ea typeface="Calibri"/>
              <a:cs typeface="Calibri"/>
              <a:sym typeface="Calibri"/>
            </a:endParaRPr>
          </a:p>
        </p:txBody>
      </p:sp>
      <p:sp>
        <p:nvSpPr>
          <p:cNvPr id="192" name="Google Shape;192;p6"/>
          <p:cNvSpPr/>
          <p:nvPr/>
        </p:nvSpPr>
        <p:spPr>
          <a:xfrm>
            <a:off x="4681728" y="3922776"/>
            <a:ext cx="2697480" cy="566928"/>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5F6875"/>
              </a:buClr>
              <a:buSzPts val="1130"/>
              <a:buFont typeface="Arial"/>
              <a:buNone/>
            </a:pPr>
            <a:r>
              <a:rPr b="0" i="0" lang="en-US" sz="1130" u="none" cap="none" strike="noStrike">
                <a:solidFill>
                  <a:srgbClr val="5F6875"/>
                </a:solidFill>
                <a:latin typeface="Arial"/>
                <a:ea typeface="Arial"/>
                <a:cs typeface="Arial"/>
                <a:sym typeface="Arial"/>
              </a:rPr>
              <a:t>AI could beat humans at specific tasks without having general intelligence.</a:t>
            </a:r>
            <a:endParaRPr b="0" i="0" sz="1130" u="none" cap="none" strike="noStrike">
              <a:solidFill>
                <a:schemeClr val="dk1"/>
              </a:solidFill>
              <a:latin typeface="Calibri"/>
              <a:ea typeface="Calibri"/>
              <a:cs typeface="Calibri"/>
              <a:sym typeface="Calibri"/>
            </a:endParaRPr>
          </a:p>
        </p:txBody>
      </p:sp>
      <p:sp>
        <p:nvSpPr>
          <p:cNvPr id="193" name="Google Shape;193;p6"/>
          <p:cNvSpPr/>
          <p:nvPr/>
        </p:nvSpPr>
        <p:spPr>
          <a:xfrm>
            <a:off x="8138160" y="3419856"/>
            <a:ext cx="3246120" cy="1298448"/>
          </a:xfrm>
          <a:prstGeom prst="rect">
            <a:avLst/>
          </a:prstGeom>
          <a:solidFill>
            <a:srgbClr val="FFFFFF"/>
          </a:solidFill>
          <a:ln cap="flat" cmpd="sng" w="12700">
            <a:solidFill>
              <a:srgbClr val="E6D8B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6"/>
          <p:cNvSpPr/>
          <p:nvPr/>
        </p:nvSpPr>
        <p:spPr>
          <a:xfrm>
            <a:off x="8138160" y="3419856"/>
            <a:ext cx="128016" cy="1298448"/>
          </a:xfrm>
          <a:prstGeom prst="rect">
            <a:avLst/>
          </a:prstGeom>
          <a:solidFill>
            <a:srgbClr val="5B3F8C"/>
          </a:solidFill>
          <a:ln cap="flat" cmpd="sng" w="12700">
            <a:solidFill>
              <a:srgbClr val="5B3F8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6"/>
          <p:cNvSpPr/>
          <p:nvPr/>
        </p:nvSpPr>
        <p:spPr>
          <a:xfrm>
            <a:off x="8430768" y="3584448"/>
            <a:ext cx="822960" cy="2103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5B3F8C"/>
              </a:buClr>
              <a:buSzPts val="1180"/>
              <a:buFont typeface="Arial"/>
              <a:buNone/>
            </a:pPr>
            <a:r>
              <a:rPr b="1" i="0" lang="en-US" sz="1180" u="none" cap="none" strike="noStrike">
                <a:solidFill>
                  <a:srgbClr val="5B3F8C"/>
                </a:solidFill>
                <a:latin typeface="Arial"/>
                <a:ea typeface="Arial"/>
                <a:cs typeface="Arial"/>
                <a:sym typeface="Arial"/>
              </a:rPr>
              <a:t>Impact</a:t>
            </a:r>
            <a:endParaRPr b="0" i="0" sz="1180" u="none" cap="none" strike="noStrike">
              <a:solidFill>
                <a:schemeClr val="dk1"/>
              </a:solidFill>
              <a:latin typeface="Calibri"/>
              <a:ea typeface="Calibri"/>
              <a:cs typeface="Calibri"/>
              <a:sym typeface="Calibri"/>
            </a:endParaRPr>
          </a:p>
        </p:txBody>
      </p:sp>
      <p:sp>
        <p:nvSpPr>
          <p:cNvPr id="196" name="Google Shape;196;p6"/>
          <p:cNvSpPr/>
          <p:nvPr/>
        </p:nvSpPr>
        <p:spPr>
          <a:xfrm>
            <a:off x="9189720" y="3566160"/>
            <a:ext cx="1874520" cy="23774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4262B"/>
              </a:buClr>
              <a:buSzPts val="1450"/>
              <a:buFont typeface="Play"/>
              <a:buNone/>
            </a:pPr>
            <a:r>
              <a:rPr b="1" i="0" lang="en-US" sz="1450" u="none" cap="none" strike="noStrike">
                <a:solidFill>
                  <a:srgbClr val="24262B"/>
                </a:solidFill>
                <a:latin typeface="Play"/>
                <a:ea typeface="Play"/>
                <a:cs typeface="Play"/>
                <a:sym typeface="Play"/>
              </a:rPr>
              <a:t>Foundation remains</a:t>
            </a:r>
            <a:endParaRPr b="0" i="0" sz="1450" u="none" cap="none" strike="noStrike">
              <a:solidFill>
                <a:schemeClr val="dk1"/>
              </a:solidFill>
              <a:latin typeface="Calibri"/>
              <a:ea typeface="Calibri"/>
              <a:cs typeface="Calibri"/>
              <a:sym typeface="Calibri"/>
            </a:endParaRPr>
          </a:p>
        </p:txBody>
      </p:sp>
      <p:sp>
        <p:nvSpPr>
          <p:cNvPr id="197" name="Google Shape;197;p6"/>
          <p:cNvSpPr/>
          <p:nvPr/>
        </p:nvSpPr>
        <p:spPr>
          <a:xfrm>
            <a:off x="8430768" y="3922776"/>
            <a:ext cx="2697480" cy="566928"/>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5F6875"/>
              </a:buClr>
              <a:buSzPts val="1130"/>
              <a:buFont typeface="Arial"/>
              <a:buNone/>
            </a:pPr>
            <a:r>
              <a:rPr b="0" i="0" lang="en-US" sz="1130" u="none" cap="none" strike="noStrike">
                <a:solidFill>
                  <a:srgbClr val="5F6875"/>
                </a:solidFill>
                <a:latin typeface="Arial"/>
                <a:ea typeface="Arial"/>
                <a:cs typeface="Arial"/>
                <a:sym typeface="Arial"/>
              </a:rPr>
              <a:t>Even during slowdowns, core machine learning research continued.</a:t>
            </a:r>
            <a:endParaRPr b="0" i="0" sz="113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7"/>
          <p:cNvSpPr/>
          <p:nvPr/>
        </p:nvSpPr>
        <p:spPr>
          <a:xfrm>
            <a:off x="502920" y="6473952"/>
            <a:ext cx="4754880" cy="1463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875"/>
              </a:buClr>
              <a:buSzPts val="850"/>
              <a:buFont typeface="Arial"/>
              <a:buNone/>
            </a:pPr>
            <a:r>
              <a:rPr b="0" i="0" lang="en-US" sz="850" u="none" cap="none" strike="noStrike">
                <a:solidFill>
                  <a:srgbClr val="5F6875"/>
                </a:solidFill>
                <a:latin typeface="Arial"/>
                <a:ea typeface="Arial"/>
                <a:cs typeface="Arial"/>
                <a:sym typeface="Arial"/>
              </a:rPr>
              <a:t>Kinjal Desai | AI &amp; ML Timeline | 6</a:t>
            </a:r>
            <a:endParaRPr b="0" i="0" sz="850" u="none" cap="none" strike="noStrike">
              <a:solidFill>
                <a:schemeClr val="dk1"/>
              </a:solidFill>
              <a:latin typeface="Calibri"/>
              <a:ea typeface="Calibri"/>
              <a:cs typeface="Calibri"/>
              <a:sym typeface="Calibri"/>
            </a:endParaRPr>
          </a:p>
        </p:txBody>
      </p:sp>
      <p:sp>
        <p:nvSpPr>
          <p:cNvPr id="204" name="Google Shape;204;p7"/>
          <p:cNvSpPr/>
          <p:nvPr/>
        </p:nvSpPr>
        <p:spPr>
          <a:xfrm>
            <a:off x="548640" y="347472"/>
            <a:ext cx="8686800" cy="4389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4262B"/>
              </a:buClr>
              <a:buSzPts val="2700"/>
              <a:buFont typeface="Play"/>
              <a:buNone/>
            </a:pPr>
            <a:r>
              <a:rPr b="1" i="0" lang="en-US" sz="2700" u="none" cap="none" strike="noStrike">
                <a:solidFill>
                  <a:srgbClr val="24262B"/>
                </a:solidFill>
                <a:latin typeface="Play"/>
                <a:ea typeface="Play"/>
                <a:cs typeface="Play"/>
                <a:sym typeface="Play"/>
              </a:rPr>
              <a:t>2002-2018: Deep learning, cloud computing, and modern AI</a:t>
            </a:r>
            <a:endParaRPr b="0" i="0" sz="2700" u="none" cap="none" strike="noStrike">
              <a:solidFill>
                <a:schemeClr val="dk1"/>
              </a:solidFill>
              <a:latin typeface="Calibri"/>
              <a:ea typeface="Calibri"/>
              <a:cs typeface="Calibri"/>
              <a:sym typeface="Calibri"/>
            </a:endParaRPr>
          </a:p>
        </p:txBody>
      </p:sp>
      <p:sp>
        <p:nvSpPr>
          <p:cNvPr id="205" name="Google Shape;205;p7"/>
          <p:cNvSpPr/>
          <p:nvPr/>
        </p:nvSpPr>
        <p:spPr>
          <a:xfrm>
            <a:off x="548640" y="896112"/>
            <a:ext cx="9875520" cy="34747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5F6875"/>
              </a:buClr>
              <a:buSzPts val="1250"/>
              <a:buFont typeface="Arial"/>
              <a:buNone/>
            </a:pPr>
            <a:r>
              <a:rPr b="0" i="0" lang="en-US" sz="1250" u="none" cap="none" strike="noStrike">
                <a:solidFill>
                  <a:srgbClr val="5F6875"/>
                </a:solidFill>
                <a:latin typeface="Arial"/>
                <a:ea typeface="Arial"/>
                <a:cs typeface="Arial"/>
                <a:sym typeface="Arial"/>
              </a:rPr>
              <a:t>This era changed AI because better algorithms finally had the computing power and data needed to work at a large scale.</a:t>
            </a:r>
            <a:endParaRPr b="0" i="0" sz="1250" u="none" cap="none" strike="noStrike">
              <a:solidFill>
                <a:schemeClr val="dk1"/>
              </a:solidFill>
              <a:latin typeface="Calibri"/>
              <a:ea typeface="Calibri"/>
              <a:cs typeface="Calibri"/>
              <a:sym typeface="Calibri"/>
            </a:endParaRPr>
          </a:p>
        </p:txBody>
      </p:sp>
      <p:sp>
        <p:nvSpPr>
          <p:cNvPr id="206" name="Google Shape;206;p7"/>
          <p:cNvSpPr/>
          <p:nvPr/>
        </p:nvSpPr>
        <p:spPr>
          <a:xfrm>
            <a:off x="640080" y="1481328"/>
            <a:ext cx="3246120" cy="1298448"/>
          </a:xfrm>
          <a:prstGeom prst="rect">
            <a:avLst/>
          </a:prstGeom>
          <a:solidFill>
            <a:srgbClr val="FFFFFF"/>
          </a:solidFill>
          <a:ln cap="flat" cmpd="sng" w="12700">
            <a:solidFill>
              <a:srgbClr val="E6D8B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7"/>
          <p:cNvSpPr/>
          <p:nvPr/>
        </p:nvSpPr>
        <p:spPr>
          <a:xfrm>
            <a:off x="640080" y="1481328"/>
            <a:ext cx="128016" cy="1298448"/>
          </a:xfrm>
          <a:prstGeom prst="rect">
            <a:avLst/>
          </a:prstGeom>
          <a:solidFill>
            <a:srgbClr val="2A9D8F"/>
          </a:solidFill>
          <a:ln cap="flat" cmpd="sng" w="12700">
            <a:solidFill>
              <a:srgbClr val="2A9D8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7"/>
          <p:cNvSpPr/>
          <p:nvPr/>
        </p:nvSpPr>
        <p:spPr>
          <a:xfrm>
            <a:off x="932688" y="1645920"/>
            <a:ext cx="822960" cy="2103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A9D8F"/>
              </a:buClr>
              <a:buSzPts val="1180"/>
              <a:buFont typeface="Arial"/>
              <a:buNone/>
            </a:pPr>
            <a:r>
              <a:rPr b="1" i="0" lang="en-US" sz="1180" u="none" cap="none" strike="noStrike">
                <a:solidFill>
                  <a:srgbClr val="2A9D8F"/>
                </a:solidFill>
                <a:latin typeface="Arial"/>
                <a:ea typeface="Arial"/>
                <a:cs typeface="Arial"/>
                <a:sym typeface="Arial"/>
              </a:rPr>
              <a:t>2002</a:t>
            </a:r>
            <a:endParaRPr b="0" i="0" sz="1180" u="none" cap="none" strike="noStrike">
              <a:solidFill>
                <a:schemeClr val="dk1"/>
              </a:solidFill>
              <a:latin typeface="Calibri"/>
              <a:ea typeface="Calibri"/>
              <a:cs typeface="Calibri"/>
              <a:sym typeface="Calibri"/>
            </a:endParaRPr>
          </a:p>
        </p:txBody>
      </p:sp>
      <p:sp>
        <p:nvSpPr>
          <p:cNvPr id="209" name="Google Shape;209;p7"/>
          <p:cNvSpPr/>
          <p:nvPr/>
        </p:nvSpPr>
        <p:spPr>
          <a:xfrm>
            <a:off x="1691640" y="1627632"/>
            <a:ext cx="1874520" cy="23774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4262B"/>
              </a:buClr>
              <a:buSzPts val="1450"/>
              <a:buFont typeface="Play"/>
              <a:buNone/>
            </a:pPr>
            <a:r>
              <a:rPr b="1" i="0" lang="en-US" sz="1450" u="none" cap="none" strike="noStrike">
                <a:solidFill>
                  <a:srgbClr val="24262B"/>
                </a:solidFill>
                <a:latin typeface="Play"/>
                <a:ea typeface="Play"/>
                <a:cs typeface="Play"/>
                <a:sym typeface="Play"/>
              </a:rPr>
              <a:t>Roomba</a:t>
            </a:r>
            <a:endParaRPr b="0" i="0" sz="1450" u="none" cap="none" strike="noStrike">
              <a:solidFill>
                <a:schemeClr val="dk1"/>
              </a:solidFill>
              <a:latin typeface="Calibri"/>
              <a:ea typeface="Calibri"/>
              <a:cs typeface="Calibri"/>
              <a:sym typeface="Calibri"/>
            </a:endParaRPr>
          </a:p>
        </p:txBody>
      </p:sp>
      <p:sp>
        <p:nvSpPr>
          <p:cNvPr id="210" name="Google Shape;210;p7"/>
          <p:cNvSpPr/>
          <p:nvPr/>
        </p:nvSpPr>
        <p:spPr>
          <a:xfrm>
            <a:off x="932688" y="1984248"/>
            <a:ext cx="2697480" cy="566928"/>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5F6875"/>
              </a:buClr>
              <a:buSzPts val="1130"/>
              <a:buFont typeface="Arial"/>
              <a:buNone/>
            </a:pPr>
            <a:r>
              <a:rPr b="0" i="0" lang="en-US" sz="1130" u="none" cap="none" strike="noStrike">
                <a:solidFill>
                  <a:srgbClr val="5F6875"/>
                </a:solidFill>
                <a:latin typeface="Arial"/>
                <a:ea typeface="Arial"/>
                <a:cs typeface="Arial"/>
                <a:sym typeface="Arial"/>
              </a:rPr>
              <a:t>Consumer robotics brought autonomous navigation into everyday homes.</a:t>
            </a:r>
            <a:endParaRPr b="0" i="0" sz="1130" u="none" cap="none" strike="noStrike">
              <a:solidFill>
                <a:schemeClr val="dk1"/>
              </a:solidFill>
              <a:latin typeface="Calibri"/>
              <a:ea typeface="Calibri"/>
              <a:cs typeface="Calibri"/>
              <a:sym typeface="Calibri"/>
            </a:endParaRPr>
          </a:p>
        </p:txBody>
      </p:sp>
      <p:sp>
        <p:nvSpPr>
          <p:cNvPr id="211" name="Google Shape;211;p7"/>
          <p:cNvSpPr/>
          <p:nvPr/>
        </p:nvSpPr>
        <p:spPr>
          <a:xfrm>
            <a:off x="4389120" y="1481328"/>
            <a:ext cx="3246120" cy="1298448"/>
          </a:xfrm>
          <a:prstGeom prst="rect">
            <a:avLst/>
          </a:prstGeom>
          <a:solidFill>
            <a:srgbClr val="FFFFFF"/>
          </a:solidFill>
          <a:ln cap="flat" cmpd="sng" w="12700">
            <a:solidFill>
              <a:srgbClr val="E6D8B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7"/>
          <p:cNvSpPr/>
          <p:nvPr/>
        </p:nvSpPr>
        <p:spPr>
          <a:xfrm>
            <a:off x="4389120" y="1481328"/>
            <a:ext cx="128016" cy="1298448"/>
          </a:xfrm>
          <a:prstGeom prst="rect">
            <a:avLst/>
          </a:prstGeom>
          <a:solidFill>
            <a:srgbClr val="2A9D8F"/>
          </a:solidFill>
          <a:ln cap="flat" cmpd="sng" w="12700">
            <a:solidFill>
              <a:srgbClr val="2A9D8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7"/>
          <p:cNvSpPr/>
          <p:nvPr/>
        </p:nvSpPr>
        <p:spPr>
          <a:xfrm>
            <a:off x="4681728" y="1645920"/>
            <a:ext cx="822960" cy="2103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A9D8F"/>
              </a:buClr>
              <a:buSzPts val="1180"/>
              <a:buFont typeface="Arial"/>
              <a:buNone/>
            </a:pPr>
            <a:r>
              <a:rPr b="1" i="0" lang="en-US" sz="1180" u="none" cap="none" strike="noStrike">
                <a:solidFill>
                  <a:srgbClr val="2A9D8F"/>
                </a:solidFill>
                <a:latin typeface="Arial"/>
                <a:ea typeface="Arial"/>
                <a:cs typeface="Arial"/>
                <a:sym typeface="Arial"/>
              </a:rPr>
              <a:t>2006</a:t>
            </a:r>
            <a:endParaRPr b="0" i="0" sz="1180" u="none" cap="none" strike="noStrike">
              <a:solidFill>
                <a:schemeClr val="dk1"/>
              </a:solidFill>
              <a:latin typeface="Calibri"/>
              <a:ea typeface="Calibri"/>
              <a:cs typeface="Calibri"/>
              <a:sym typeface="Calibri"/>
            </a:endParaRPr>
          </a:p>
        </p:txBody>
      </p:sp>
      <p:sp>
        <p:nvSpPr>
          <p:cNvPr id="214" name="Google Shape;214;p7"/>
          <p:cNvSpPr/>
          <p:nvPr/>
        </p:nvSpPr>
        <p:spPr>
          <a:xfrm>
            <a:off x="5440680" y="1627632"/>
            <a:ext cx="1874520" cy="23774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4262B"/>
              </a:buClr>
              <a:buSzPts val="1450"/>
              <a:buFont typeface="Play"/>
              <a:buNone/>
            </a:pPr>
            <a:r>
              <a:rPr b="1" i="0" lang="en-US" sz="1450" u="none" cap="none" strike="noStrike">
                <a:solidFill>
                  <a:srgbClr val="24262B"/>
                </a:solidFill>
                <a:latin typeface="Play"/>
                <a:ea typeface="Play"/>
                <a:cs typeface="Play"/>
                <a:sym typeface="Play"/>
              </a:rPr>
              <a:t>Deep learning revival</a:t>
            </a:r>
            <a:endParaRPr b="0" i="0" sz="1450" u="none" cap="none" strike="noStrike">
              <a:solidFill>
                <a:schemeClr val="dk1"/>
              </a:solidFill>
              <a:latin typeface="Calibri"/>
              <a:ea typeface="Calibri"/>
              <a:cs typeface="Calibri"/>
              <a:sym typeface="Calibri"/>
            </a:endParaRPr>
          </a:p>
        </p:txBody>
      </p:sp>
      <p:sp>
        <p:nvSpPr>
          <p:cNvPr id="215" name="Google Shape;215;p7"/>
          <p:cNvSpPr/>
          <p:nvPr/>
        </p:nvSpPr>
        <p:spPr>
          <a:xfrm>
            <a:off x="4681728" y="1984248"/>
            <a:ext cx="2697480" cy="566928"/>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5F6875"/>
              </a:buClr>
              <a:buSzPts val="1130"/>
              <a:buFont typeface="Arial"/>
              <a:buNone/>
            </a:pPr>
            <a:r>
              <a:rPr b="0" i="0" lang="en-US" sz="1130" u="none" cap="none" strike="noStrike">
                <a:solidFill>
                  <a:srgbClr val="5F6875"/>
                </a:solidFill>
                <a:latin typeface="Arial"/>
                <a:ea typeface="Arial"/>
                <a:cs typeface="Arial"/>
                <a:sym typeface="Arial"/>
              </a:rPr>
              <a:t>Geoffrey Hinton and others renewed interest in training deep neural networks.</a:t>
            </a:r>
            <a:endParaRPr b="0" i="0" sz="1130" u="none" cap="none" strike="noStrike">
              <a:solidFill>
                <a:schemeClr val="dk1"/>
              </a:solidFill>
              <a:latin typeface="Calibri"/>
              <a:ea typeface="Calibri"/>
              <a:cs typeface="Calibri"/>
              <a:sym typeface="Calibri"/>
            </a:endParaRPr>
          </a:p>
        </p:txBody>
      </p:sp>
      <p:sp>
        <p:nvSpPr>
          <p:cNvPr id="216" name="Google Shape;216;p7"/>
          <p:cNvSpPr/>
          <p:nvPr/>
        </p:nvSpPr>
        <p:spPr>
          <a:xfrm>
            <a:off x="8138160" y="1481328"/>
            <a:ext cx="3246120" cy="1298448"/>
          </a:xfrm>
          <a:prstGeom prst="rect">
            <a:avLst/>
          </a:prstGeom>
          <a:solidFill>
            <a:srgbClr val="FFFFFF"/>
          </a:solidFill>
          <a:ln cap="flat" cmpd="sng" w="12700">
            <a:solidFill>
              <a:srgbClr val="E6D8B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7"/>
          <p:cNvSpPr/>
          <p:nvPr/>
        </p:nvSpPr>
        <p:spPr>
          <a:xfrm>
            <a:off x="8138160" y="1481328"/>
            <a:ext cx="128016" cy="1298448"/>
          </a:xfrm>
          <a:prstGeom prst="rect">
            <a:avLst/>
          </a:prstGeom>
          <a:solidFill>
            <a:srgbClr val="2A9D8F"/>
          </a:solidFill>
          <a:ln cap="flat" cmpd="sng" w="12700">
            <a:solidFill>
              <a:srgbClr val="2A9D8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7"/>
          <p:cNvSpPr/>
          <p:nvPr/>
        </p:nvSpPr>
        <p:spPr>
          <a:xfrm>
            <a:off x="8430768" y="1645920"/>
            <a:ext cx="822960" cy="2103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A9D8F"/>
              </a:buClr>
              <a:buSzPts val="1180"/>
              <a:buFont typeface="Arial"/>
              <a:buNone/>
            </a:pPr>
            <a:r>
              <a:rPr b="1" i="0" lang="en-US" sz="1180" u="none" cap="none" strike="noStrike">
                <a:solidFill>
                  <a:srgbClr val="2A9D8F"/>
                </a:solidFill>
                <a:latin typeface="Arial"/>
                <a:ea typeface="Arial"/>
                <a:cs typeface="Arial"/>
                <a:sym typeface="Arial"/>
              </a:rPr>
              <a:t>2009-12</a:t>
            </a:r>
            <a:endParaRPr b="0" i="0" sz="1180" u="none" cap="none" strike="noStrike">
              <a:solidFill>
                <a:schemeClr val="dk1"/>
              </a:solidFill>
              <a:latin typeface="Calibri"/>
              <a:ea typeface="Calibri"/>
              <a:cs typeface="Calibri"/>
              <a:sym typeface="Calibri"/>
            </a:endParaRPr>
          </a:p>
        </p:txBody>
      </p:sp>
      <p:sp>
        <p:nvSpPr>
          <p:cNvPr id="219" name="Google Shape;219;p7"/>
          <p:cNvSpPr/>
          <p:nvPr/>
        </p:nvSpPr>
        <p:spPr>
          <a:xfrm>
            <a:off x="9189720" y="1627632"/>
            <a:ext cx="1874520" cy="23774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4262B"/>
              </a:buClr>
              <a:buSzPts val="1450"/>
              <a:buFont typeface="Play"/>
              <a:buNone/>
            </a:pPr>
            <a:r>
              <a:rPr b="1" i="0" lang="en-US" sz="1450" u="none" cap="none" strike="noStrike">
                <a:solidFill>
                  <a:srgbClr val="24262B"/>
                </a:solidFill>
                <a:latin typeface="Play"/>
                <a:ea typeface="Play"/>
                <a:cs typeface="Play"/>
                <a:sym typeface="Play"/>
              </a:rPr>
              <a:t>Cloud + big data</a:t>
            </a:r>
            <a:endParaRPr b="0" i="0" sz="1450" u="none" cap="none" strike="noStrike">
              <a:solidFill>
                <a:schemeClr val="dk1"/>
              </a:solidFill>
              <a:latin typeface="Calibri"/>
              <a:ea typeface="Calibri"/>
              <a:cs typeface="Calibri"/>
              <a:sym typeface="Calibri"/>
            </a:endParaRPr>
          </a:p>
        </p:txBody>
      </p:sp>
      <p:sp>
        <p:nvSpPr>
          <p:cNvPr id="220" name="Google Shape;220;p7"/>
          <p:cNvSpPr/>
          <p:nvPr/>
        </p:nvSpPr>
        <p:spPr>
          <a:xfrm>
            <a:off x="8430768" y="1984248"/>
            <a:ext cx="2697480" cy="566928"/>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5F6875"/>
              </a:buClr>
              <a:buSzPts val="1130"/>
              <a:buFont typeface="Arial"/>
              <a:buNone/>
            </a:pPr>
            <a:r>
              <a:rPr b="0" i="0" lang="en-US" sz="1130" u="none" cap="none" strike="noStrike">
                <a:solidFill>
                  <a:srgbClr val="5F6875"/>
                </a:solidFill>
                <a:latin typeface="Arial"/>
                <a:ea typeface="Arial"/>
                <a:cs typeface="Arial"/>
                <a:sym typeface="Arial"/>
              </a:rPr>
              <a:t>Google, AWS, and Microsoft expanded access to scalable computing power.</a:t>
            </a:r>
            <a:endParaRPr b="0" i="0" sz="1130" u="none" cap="none" strike="noStrike">
              <a:solidFill>
                <a:schemeClr val="dk1"/>
              </a:solidFill>
              <a:latin typeface="Calibri"/>
              <a:ea typeface="Calibri"/>
              <a:cs typeface="Calibri"/>
              <a:sym typeface="Calibri"/>
            </a:endParaRPr>
          </a:p>
        </p:txBody>
      </p:sp>
      <p:sp>
        <p:nvSpPr>
          <p:cNvPr id="221" name="Google Shape;221;p7"/>
          <p:cNvSpPr/>
          <p:nvPr/>
        </p:nvSpPr>
        <p:spPr>
          <a:xfrm>
            <a:off x="640080" y="3419856"/>
            <a:ext cx="3246120" cy="1298448"/>
          </a:xfrm>
          <a:prstGeom prst="rect">
            <a:avLst/>
          </a:prstGeom>
          <a:solidFill>
            <a:srgbClr val="FFFFFF"/>
          </a:solidFill>
          <a:ln cap="flat" cmpd="sng" w="12700">
            <a:solidFill>
              <a:srgbClr val="E6D8B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7"/>
          <p:cNvSpPr/>
          <p:nvPr/>
        </p:nvSpPr>
        <p:spPr>
          <a:xfrm>
            <a:off x="640080" y="3419856"/>
            <a:ext cx="128016" cy="1298448"/>
          </a:xfrm>
          <a:prstGeom prst="rect">
            <a:avLst/>
          </a:prstGeom>
          <a:solidFill>
            <a:srgbClr val="2A9D8F"/>
          </a:solidFill>
          <a:ln cap="flat" cmpd="sng" w="12700">
            <a:solidFill>
              <a:srgbClr val="2A9D8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7"/>
          <p:cNvSpPr/>
          <p:nvPr/>
        </p:nvSpPr>
        <p:spPr>
          <a:xfrm>
            <a:off x="932688" y="3584448"/>
            <a:ext cx="822960" cy="2103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A9D8F"/>
              </a:buClr>
              <a:buSzPts val="1180"/>
              <a:buFont typeface="Arial"/>
              <a:buNone/>
            </a:pPr>
            <a:r>
              <a:rPr b="1" i="0" lang="en-US" sz="1180" u="none" cap="none" strike="noStrike">
                <a:solidFill>
                  <a:srgbClr val="2A9D8F"/>
                </a:solidFill>
                <a:latin typeface="Arial"/>
                <a:ea typeface="Arial"/>
                <a:cs typeface="Arial"/>
                <a:sym typeface="Arial"/>
              </a:rPr>
              <a:t>2012</a:t>
            </a:r>
            <a:endParaRPr b="0" i="0" sz="1180" u="none" cap="none" strike="noStrike">
              <a:solidFill>
                <a:schemeClr val="dk1"/>
              </a:solidFill>
              <a:latin typeface="Calibri"/>
              <a:ea typeface="Calibri"/>
              <a:cs typeface="Calibri"/>
              <a:sym typeface="Calibri"/>
            </a:endParaRPr>
          </a:p>
        </p:txBody>
      </p:sp>
      <p:sp>
        <p:nvSpPr>
          <p:cNvPr id="224" name="Google Shape;224;p7"/>
          <p:cNvSpPr/>
          <p:nvPr/>
        </p:nvSpPr>
        <p:spPr>
          <a:xfrm>
            <a:off x="1691640" y="3566160"/>
            <a:ext cx="1874520" cy="23774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4262B"/>
              </a:buClr>
              <a:buSzPts val="1450"/>
              <a:buFont typeface="Play"/>
              <a:buNone/>
            </a:pPr>
            <a:r>
              <a:rPr b="1" i="0" lang="en-US" sz="1450" u="none" cap="none" strike="noStrike">
                <a:solidFill>
                  <a:srgbClr val="24262B"/>
                </a:solidFill>
                <a:latin typeface="Play"/>
                <a:ea typeface="Play"/>
                <a:cs typeface="Play"/>
                <a:sym typeface="Play"/>
              </a:rPr>
              <a:t>AlexNet</a:t>
            </a:r>
            <a:endParaRPr b="0" i="0" sz="1450" u="none" cap="none" strike="noStrike">
              <a:solidFill>
                <a:schemeClr val="dk1"/>
              </a:solidFill>
              <a:latin typeface="Calibri"/>
              <a:ea typeface="Calibri"/>
              <a:cs typeface="Calibri"/>
              <a:sym typeface="Calibri"/>
            </a:endParaRPr>
          </a:p>
        </p:txBody>
      </p:sp>
      <p:sp>
        <p:nvSpPr>
          <p:cNvPr id="225" name="Google Shape;225;p7"/>
          <p:cNvSpPr/>
          <p:nvPr/>
        </p:nvSpPr>
        <p:spPr>
          <a:xfrm>
            <a:off x="932688" y="3922776"/>
            <a:ext cx="2697480" cy="566928"/>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5F6875"/>
              </a:buClr>
              <a:buSzPts val="1130"/>
              <a:buFont typeface="Arial"/>
              <a:buNone/>
            </a:pPr>
            <a:r>
              <a:rPr b="0" i="0" lang="en-US" sz="1130" u="none" cap="none" strike="noStrike">
                <a:solidFill>
                  <a:srgbClr val="5F6875"/>
                </a:solidFill>
                <a:latin typeface="Arial"/>
                <a:ea typeface="Arial"/>
                <a:cs typeface="Arial"/>
                <a:sym typeface="Arial"/>
              </a:rPr>
              <a:t>AlexNet used GPUs to greatly improve image recognition and prove deep learning's strength.</a:t>
            </a:r>
            <a:endParaRPr b="0" i="0" sz="1130" u="none" cap="none" strike="noStrike">
              <a:solidFill>
                <a:schemeClr val="dk1"/>
              </a:solidFill>
              <a:latin typeface="Calibri"/>
              <a:ea typeface="Calibri"/>
              <a:cs typeface="Calibri"/>
              <a:sym typeface="Calibri"/>
            </a:endParaRPr>
          </a:p>
        </p:txBody>
      </p:sp>
      <p:sp>
        <p:nvSpPr>
          <p:cNvPr id="226" name="Google Shape;226;p7"/>
          <p:cNvSpPr/>
          <p:nvPr/>
        </p:nvSpPr>
        <p:spPr>
          <a:xfrm>
            <a:off x="4389120" y="3419856"/>
            <a:ext cx="3246120" cy="1298448"/>
          </a:xfrm>
          <a:prstGeom prst="rect">
            <a:avLst/>
          </a:prstGeom>
          <a:solidFill>
            <a:srgbClr val="FFFFFF"/>
          </a:solidFill>
          <a:ln cap="flat" cmpd="sng" w="12700">
            <a:solidFill>
              <a:srgbClr val="E6D8B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7"/>
          <p:cNvSpPr/>
          <p:nvPr/>
        </p:nvSpPr>
        <p:spPr>
          <a:xfrm>
            <a:off x="4389120" y="3419856"/>
            <a:ext cx="128016" cy="1298448"/>
          </a:xfrm>
          <a:prstGeom prst="rect">
            <a:avLst/>
          </a:prstGeom>
          <a:solidFill>
            <a:srgbClr val="2A9D8F"/>
          </a:solidFill>
          <a:ln cap="flat" cmpd="sng" w="12700">
            <a:solidFill>
              <a:srgbClr val="2A9D8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7"/>
          <p:cNvSpPr/>
          <p:nvPr/>
        </p:nvSpPr>
        <p:spPr>
          <a:xfrm>
            <a:off x="4681728" y="3584448"/>
            <a:ext cx="822960" cy="2103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A9D8F"/>
              </a:buClr>
              <a:buSzPts val="1180"/>
              <a:buFont typeface="Arial"/>
              <a:buNone/>
            </a:pPr>
            <a:r>
              <a:rPr b="1" i="0" lang="en-US" sz="1180" u="none" cap="none" strike="noStrike">
                <a:solidFill>
                  <a:srgbClr val="2A9D8F"/>
                </a:solidFill>
                <a:latin typeface="Arial"/>
                <a:ea typeface="Arial"/>
                <a:cs typeface="Arial"/>
                <a:sym typeface="Arial"/>
              </a:rPr>
              <a:t>2014</a:t>
            </a:r>
            <a:endParaRPr b="0" i="0" sz="1180" u="none" cap="none" strike="noStrike">
              <a:solidFill>
                <a:schemeClr val="dk1"/>
              </a:solidFill>
              <a:latin typeface="Calibri"/>
              <a:ea typeface="Calibri"/>
              <a:cs typeface="Calibri"/>
              <a:sym typeface="Calibri"/>
            </a:endParaRPr>
          </a:p>
        </p:txBody>
      </p:sp>
      <p:sp>
        <p:nvSpPr>
          <p:cNvPr id="229" name="Google Shape;229;p7"/>
          <p:cNvSpPr/>
          <p:nvPr/>
        </p:nvSpPr>
        <p:spPr>
          <a:xfrm>
            <a:off x="5440680" y="3566160"/>
            <a:ext cx="1874520" cy="23774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4262B"/>
              </a:buClr>
              <a:buSzPts val="1450"/>
              <a:buFont typeface="Play"/>
              <a:buNone/>
            </a:pPr>
            <a:r>
              <a:rPr b="1" i="0" lang="en-US" sz="1450" u="none" cap="none" strike="noStrike">
                <a:solidFill>
                  <a:srgbClr val="24262B"/>
                </a:solidFill>
                <a:latin typeface="Play"/>
                <a:ea typeface="Play"/>
                <a:cs typeface="Play"/>
                <a:sym typeface="Play"/>
              </a:rPr>
              <a:t>GANs</a:t>
            </a:r>
            <a:endParaRPr b="0" i="0" sz="1450" u="none" cap="none" strike="noStrike">
              <a:solidFill>
                <a:schemeClr val="dk1"/>
              </a:solidFill>
              <a:latin typeface="Calibri"/>
              <a:ea typeface="Calibri"/>
              <a:cs typeface="Calibri"/>
              <a:sym typeface="Calibri"/>
            </a:endParaRPr>
          </a:p>
        </p:txBody>
      </p:sp>
      <p:sp>
        <p:nvSpPr>
          <p:cNvPr id="230" name="Google Shape;230;p7"/>
          <p:cNvSpPr/>
          <p:nvPr/>
        </p:nvSpPr>
        <p:spPr>
          <a:xfrm>
            <a:off x="4681728" y="3922776"/>
            <a:ext cx="2697480" cy="566928"/>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5F6875"/>
              </a:buClr>
              <a:buSzPts val="1130"/>
              <a:buFont typeface="Arial"/>
              <a:buNone/>
            </a:pPr>
            <a:r>
              <a:rPr b="0" i="0" lang="en-US" sz="1130" u="none" cap="none" strike="noStrike">
                <a:solidFill>
                  <a:srgbClr val="5F6875"/>
                </a:solidFill>
                <a:latin typeface="Arial"/>
                <a:ea typeface="Arial"/>
                <a:cs typeface="Arial"/>
                <a:sym typeface="Arial"/>
              </a:rPr>
              <a:t>Ian Goodfellow introduced a method for creating realistic generated outputs.</a:t>
            </a:r>
            <a:endParaRPr b="0" i="0" sz="1130" u="none" cap="none" strike="noStrike">
              <a:solidFill>
                <a:schemeClr val="dk1"/>
              </a:solidFill>
              <a:latin typeface="Calibri"/>
              <a:ea typeface="Calibri"/>
              <a:cs typeface="Calibri"/>
              <a:sym typeface="Calibri"/>
            </a:endParaRPr>
          </a:p>
        </p:txBody>
      </p:sp>
      <p:sp>
        <p:nvSpPr>
          <p:cNvPr id="231" name="Google Shape;231;p7"/>
          <p:cNvSpPr/>
          <p:nvPr/>
        </p:nvSpPr>
        <p:spPr>
          <a:xfrm>
            <a:off x="8138160" y="3419856"/>
            <a:ext cx="3246120" cy="1298448"/>
          </a:xfrm>
          <a:prstGeom prst="rect">
            <a:avLst/>
          </a:prstGeom>
          <a:solidFill>
            <a:srgbClr val="FFFFFF"/>
          </a:solidFill>
          <a:ln cap="flat" cmpd="sng" w="12700">
            <a:solidFill>
              <a:srgbClr val="E6D8B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7"/>
          <p:cNvSpPr/>
          <p:nvPr/>
        </p:nvSpPr>
        <p:spPr>
          <a:xfrm>
            <a:off x="8138160" y="3419856"/>
            <a:ext cx="128016" cy="1298448"/>
          </a:xfrm>
          <a:prstGeom prst="rect">
            <a:avLst/>
          </a:prstGeom>
          <a:solidFill>
            <a:srgbClr val="2A9D8F"/>
          </a:solidFill>
          <a:ln cap="flat" cmpd="sng" w="12700">
            <a:solidFill>
              <a:srgbClr val="2A9D8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7"/>
          <p:cNvSpPr/>
          <p:nvPr/>
        </p:nvSpPr>
        <p:spPr>
          <a:xfrm>
            <a:off x="8430768" y="3584448"/>
            <a:ext cx="822960" cy="2103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A9D8F"/>
              </a:buClr>
              <a:buSzPts val="1180"/>
              <a:buFont typeface="Arial"/>
              <a:buNone/>
            </a:pPr>
            <a:r>
              <a:rPr b="1" i="0" lang="en-US" sz="1180" u="none" cap="none" strike="noStrike">
                <a:solidFill>
                  <a:srgbClr val="2A9D8F"/>
                </a:solidFill>
                <a:latin typeface="Arial"/>
                <a:ea typeface="Arial"/>
                <a:cs typeface="Arial"/>
                <a:sym typeface="Arial"/>
              </a:rPr>
              <a:t>2016-18</a:t>
            </a:r>
            <a:endParaRPr b="0" i="0" sz="1180" u="none" cap="none" strike="noStrike">
              <a:solidFill>
                <a:schemeClr val="dk1"/>
              </a:solidFill>
              <a:latin typeface="Calibri"/>
              <a:ea typeface="Calibri"/>
              <a:cs typeface="Calibri"/>
              <a:sym typeface="Calibri"/>
            </a:endParaRPr>
          </a:p>
        </p:txBody>
      </p:sp>
      <p:sp>
        <p:nvSpPr>
          <p:cNvPr id="234" name="Google Shape;234;p7"/>
          <p:cNvSpPr/>
          <p:nvPr/>
        </p:nvSpPr>
        <p:spPr>
          <a:xfrm>
            <a:off x="9189720" y="3566160"/>
            <a:ext cx="1874520" cy="23774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4262B"/>
              </a:buClr>
              <a:buSzPts val="1450"/>
              <a:buFont typeface="Play"/>
              <a:buNone/>
            </a:pPr>
            <a:r>
              <a:rPr b="1" i="0" lang="en-US" sz="1450" u="none" cap="none" strike="noStrike">
                <a:solidFill>
                  <a:srgbClr val="24262B"/>
                </a:solidFill>
                <a:latin typeface="Play"/>
                <a:ea typeface="Play"/>
                <a:cs typeface="Play"/>
                <a:sym typeface="Play"/>
              </a:rPr>
              <a:t>AlphaGo + BERT</a:t>
            </a:r>
            <a:endParaRPr b="0" i="0" sz="1450" u="none" cap="none" strike="noStrike">
              <a:solidFill>
                <a:schemeClr val="dk1"/>
              </a:solidFill>
              <a:latin typeface="Calibri"/>
              <a:ea typeface="Calibri"/>
              <a:cs typeface="Calibri"/>
              <a:sym typeface="Calibri"/>
            </a:endParaRPr>
          </a:p>
        </p:txBody>
      </p:sp>
      <p:sp>
        <p:nvSpPr>
          <p:cNvPr id="235" name="Google Shape;235;p7"/>
          <p:cNvSpPr/>
          <p:nvPr/>
        </p:nvSpPr>
        <p:spPr>
          <a:xfrm>
            <a:off x="8430768" y="3922776"/>
            <a:ext cx="2697480" cy="566928"/>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5F6875"/>
              </a:buClr>
              <a:buSzPts val="1130"/>
              <a:buFont typeface="Arial"/>
              <a:buNone/>
            </a:pPr>
            <a:r>
              <a:rPr b="0" i="0" lang="en-US" sz="1130" u="none" cap="none" strike="noStrike">
                <a:solidFill>
                  <a:srgbClr val="5F6875"/>
                </a:solidFill>
                <a:latin typeface="Arial"/>
                <a:ea typeface="Arial"/>
                <a:cs typeface="Arial"/>
                <a:sym typeface="Arial"/>
              </a:rPr>
              <a:t>DeepMind and Google advanced reinforcement learning and language understanding.</a:t>
            </a:r>
            <a:endParaRPr b="0" i="0" sz="113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8"/>
          <p:cNvSpPr/>
          <p:nvPr/>
        </p:nvSpPr>
        <p:spPr>
          <a:xfrm>
            <a:off x="502920" y="6473952"/>
            <a:ext cx="4754880" cy="1463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875"/>
              </a:buClr>
              <a:buSzPts val="850"/>
              <a:buFont typeface="Arial"/>
              <a:buNone/>
            </a:pPr>
            <a:r>
              <a:rPr b="0" i="0" lang="en-US" sz="850" u="none" cap="none" strike="noStrike">
                <a:solidFill>
                  <a:srgbClr val="5F6875"/>
                </a:solidFill>
                <a:latin typeface="Arial"/>
                <a:ea typeface="Arial"/>
                <a:cs typeface="Arial"/>
                <a:sym typeface="Arial"/>
              </a:rPr>
              <a:t>Kinjal Desai | AI &amp; ML Timeline | 7</a:t>
            </a:r>
            <a:endParaRPr b="0" i="0" sz="850" u="none" cap="none" strike="noStrike">
              <a:solidFill>
                <a:schemeClr val="dk1"/>
              </a:solidFill>
              <a:latin typeface="Calibri"/>
              <a:ea typeface="Calibri"/>
              <a:cs typeface="Calibri"/>
              <a:sym typeface="Calibri"/>
            </a:endParaRPr>
          </a:p>
        </p:txBody>
      </p:sp>
      <p:sp>
        <p:nvSpPr>
          <p:cNvPr id="242" name="Google Shape;242;p8"/>
          <p:cNvSpPr/>
          <p:nvPr/>
        </p:nvSpPr>
        <p:spPr>
          <a:xfrm>
            <a:off x="548640" y="347472"/>
            <a:ext cx="8686800" cy="4389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4262B"/>
              </a:buClr>
              <a:buSzPts val="2700"/>
              <a:buFont typeface="Play"/>
              <a:buNone/>
            </a:pPr>
            <a:r>
              <a:rPr b="1" i="0" lang="en-US" sz="2700" u="none" cap="none" strike="noStrike">
                <a:solidFill>
                  <a:srgbClr val="24262B"/>
                </a:solidFill>
                <a:latin typeface="Play"/>
                <a:ea typeface="Play"/>
                <a:cs typeface="Play"/>
                <a:sym typeface="Play"/>
              </a:rPr>
              <a:t>2020-2026: Generative AI, agents, and core technology</a:t>
            </a:r>
            <a:endParaRPr b="0" i="0" sz="2700" u="none" cap="none" strike="noStrike">
              <a:solidFill>
                <a:schemeClr val="dk1"/>
              </a:solidFill>
              <a:latin typeface="Calibri"/>
              <a:ea typeface="Calibri"/>
              <a:cs typeface="Calibri"/>
              <a:sym typeface="Calibri"/>
            </a:endParaRPr>
          </a:p>
        </p:txBody>
      </p:sp>
      <p:sp>
        <p:nvSpPr>
          <p:cNvPr id="243" name="Google Shape;243;p8"/>
          <p:cNvSpPr/>
          <p:nvPr/>
        </p:nvSpPr>
        <p:spPr>
          <a:xfrm>
            <a:off x="548640" y="896112"/>
            <a:ext cx="9875520" cy="34747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5F6875"/>
              </a:buClr>
              <a:buSzPts val="1250"/>
              <a:buFont typeface="Arial"/>
              <a:buNone/>
            </a:pPr>
            <a:r>
              <a:rPr b="0" i="0" lang="en-US" sz="1250" u="none" cap="none" strike="noStrike">
                <a:solidFill>
                  <a:srgbClr val="5F6875"/>
                </a:solidFill>
                <a:latin typeface="Arial"/>
                <a:ea typeface="Arial"/>
                <a:cs typeface="Arial"/>
                <a:sym typeface="Arial"/>
              </a:rPr>
              <a:t>Large language models brought AI into everyday work, education, writing, coding, and business systems.</a:t>
            </a:r>
            <a:endParaRPr b="0" i="0" sz="1250" u="none" cap="none" strike="noStrike">
              <a:solidFill>
                <a:schemeClr val="dk1"/>
              </a:solidFill>
              <a:latin typeface="Calibri"/>
              <a:ea typeface="Calibri"/>
              <a:cs typeface="Calibri"/>
              <a:sym typeface="Calibri"/>
            </a:endParaRPr>
          </a:p>
        </p:txBody>
      </p:sp>
      <p:sp>
        <p:nvSpPr>
          <p:cNvPr id="244" name="Google Shape;244;p8"/>
          <p:cNvSpPr/>
          <p:nvPr/>
        </p:nvSpPr>
        <p:spPr>
          <a:xfrm>
            <a:off x="640080" y="1481328"/>
            <a:ext cx="3246120" cy="1298448"/>
          </a:xfrm>
          <a:prstGeom prst="rect">
            <a:avLst/>
          </a:prstGeom>
          <a:solidFill>
            <a:srgbClr val="FFFFFF"/>
          </a:solidFill>
          <a:ln cap="flat" cmpd="sng" w="12700">
            <a:solidFill>
              <a:srgbClr val="E6D8B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8"/>
          <p:cNvSpPr/>
          <p:nvPr/>
        </p:nvSpPr>
        <p:spPr>
          <a:xfrm>
            <a:off x="640080" y="1481328"/>
            <a:ext cx="128016" cy="1298448"/>
          </a:xfrm>
          <a:prstGeom prst="rect">
            <a:avLst/>
          </a:prstGeom>
          <a:solidFill>
            <a:srgbClr val="C45A3A"/>
          </a:solidFill>
          <a:ln cap="flat" cmpd="sng" w="12700">
            <a:solidFill>
              <a:srgbClr val="C45A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8"/>
          <p:cNvSpPr/>
          <p:nvPr/>
        </p:nvSpPr>
        <p:spPr>
          <a:xfrm>
            <a:off x="932688" y="1645920"/>
            <a:ext cx="822960" cy="2103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C45A3A"/>
              </a:buClr>
              <a:buSzPts val="1180"/>
              <a:buFont typeface="Arial"/>
              <a:buNone/>
            </a:pPr>
            <a:r>
              <a:rPr b="1" i="0" lang="en-US" sz="1180" u="none" cap="none" strike="noStrike">
                <a:solidFill>
                  <a:srgbClr val="C45A3A"/>
                </a:solidFill>
                <a:latin typeface="Arial"/>
                <a:ea typeface="Arial"/>
                <a:cs typeface="Arial"/>
                <a:sym typeface="Arial"/>
              </a:rPr>
              <a:t>2020</a:t>
            </a:r>
            <a:endParaRPr b="0" i="0" sz="1180" u="none" cap="none" strike="noStrike">
              <a:solidFill>
                <a:schemeClr val="dk1"/>
              </a:solidFill>
              <a:latin typeface="Calibri"/>
              <a:ea typeface="Calibri"/>
              <a:cs typeface="Calibri"/>
              <a:sym typeface="Calibri"/>
            </a:endParaRPr>
          </a:p>
        </p:txBody>
      </p:sp>
      <p:sp>
        <p:nvSpPr>
          <p:cNvPr id="247" name="Google Shape;247;p8"/>
          <p:cNvSpPr/>
          <p:nvPr/>
        </p:nvSpPr>
        <p:spPr>
          <a:xfrm>
            <a:off x="1691640" y="1627632"/>
            <a:ext cx="1874520" cy="23774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4262B"/>
              </a:buClr>
              <a:buSzPts val="1450"/>
              <a:buFont typeface="Play"/>
              <a:buNone/>
            </a:pPr>
            <a:r>
              <a:rPr b="1" i="0" lang="en-US" sz="1450" u="none" cap="none" strike="noStrike">
                <a:solidFill>
                  <a:srgbClr val="24262B"/>
                </a:solidFill>
                <a:latin typeface="Play"/>
                <a:ea typeface="Play"/>
                <a:cs typeface="Play"/>
                <a:sym typeface="Play"/>
              </a:rPr>
              <a:t>GPT-3</a:t>
            </a:r>
            <a:endParaRPr b="0" i="0" sz="1450" u="none" cap="none" strike="noStrike">
              <a:solidFill>
                <a:schemeClr val="dk1"/>
              </a:solidFill>
              <a:latin typeface="Calibri"/>
              <a:ea typeface="Calibri"/>
              <a:cs typeface="Calibri"/>
              <a:sym typeface="Calibri"/>
            </a:endParaRPr>
          </a:p>
        </p:txBody>
      </p:sp>
      <p:sp>
        <p:nvSpPr>
          <p:cNvPr id="248" name="Google Shape;248;p8"/>
          <p:cNvSpPr/>
          <p:nvPr/>
        </p:nvSpPr>
        <p:spPr>
          <a:xfrm>
            <a:off x="932688" y="1984248"/>
            <a:ext cx="2697480" cy="566928"/>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5F6875"/>
              </a:buClr>
              <a:buSzPts val="1130"/>
              <a:buFont typeface="Arial"/>
              <a:buNone/>
            </a:pPr>
            <a:r>
              <a:rPr b="0" i="0" lang="en-US" sz="1130" u="none" cap="none" strike="noStrike">
                <a:solidFill>
                  <a:srgbClr val="5F6875"/>
                </a:solidFill>
                <a:latin typeface="Arial"/>
                <a:ea typeface="Arial"/>
                <a:cs typeface="Arial"/>
                <a:sym typeface="Arial"/>
              </a:rPr>
              <a:t>OpenAI showed how powerful language models could become when scaled to very large sizes.</a:t>
            </a:r>
            <a:endParaRPr b="0" i="0" sz="1130" u="none" cap="none" strike="noStrike">
              <a:solidFill>
                <a:schemeClr val="dk1"/>
              </a:solidFill>
              <a:latin typeface="Calibri"/>
              <a:ea typeface="Calibri"/>
              <a:cs typeface="Calibri"/>
              <a:sym typeface="Calibri"/>
            </a:endParaRPr>
          </a:p>
        </p:txBody>
      </p:sp>
      <p:sp>
        <p:nvSpPr>
          <p:cNvPr id="249" name="Google Shape;249;p8"/>
          <p:cNvSpPr/>
          <p:nvPr/>
        </p:nvSpPr>
        <p:spPr>
          <a:xfrm>
            <a:off x="4389120" y="1481328"/>
            <a:ext cx="3246120" cy="1298448"/>
          </a:xfrm>
          <a:prstGeom prst="rect">
            <a:avLst/>
          </a:prstGeom>
          <a:solidFill>
            <a:srgbClr val="FFFFFF"/>
          </a:solidFill>
          <a:ln cap="flat" cmpd="sng" w="12700">
            <a:solidFill>
              <a:srgbClr val="E6D8B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8"/>
          <p:cNvSpPr/>
          <p:nvPr/>
        </p:nvSpPr>
        <p:spPr>
          <a:xfrm>
            <a:off x="4389120" y="1481328"/>
            <a:ext cx="128016" cy="1298448"/>
          </a:xfrm>
          <a:prstGeom prst="rect">
            <a:avLst/>
          </a:prstGeom>
          <a:solidFill>
            <a:srgbClr val="C45A3A"/>
          </a:solidFill>
          <a:ln cap="flat" cmpd="sng" w="12700">
            <a:solidFill>
              <a:srgbClr val="C45A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8"/>
          <p:cNvSpPr/>
          <p:nvPr/>
        </p:nvSpPr>
        <p:spPr>
          <a:xfrm>
            <a:off x="4681728" y="1645920"/>
            <a:ext cx="822960" cy="2103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C45A3A"/>
              </a:buClr>
              <a:buSzPts val="1180"/>
              <a:buFont typeface="Arial"/>
              <a:buNone/>
            </a:pPr>
            <a:r>
              <a:rPr b="1" i="0" lang="en-US" sz="1180" u="none" cap="none" strike="noStrike">
                <a:solidFill>
                  <a:srgbClr val="C45A3A"/>
                </a:solidFill>
                <a:latin typeface="Arial"/>
                <a:ea typeface="Arial"/>
                <a:cs typeface="Arial"/>
                <a:sym typeface="Arial"/>
              </a:rPr>
              <a:t>2022</a:t>
            </a:r>
            <a:endParaRPr b="0" i="0" sz="1180" u="none" cap="none" strike="noStrike">
              <a:solidFill>
                <a:schemeClr val="dk1"/>
              </a:solidFill>
              <a:latin typeface="Calibri"/>
              <a:ea typeface="Calibri"/>
              <a:cs typeface="Calibri"/>
              <a:sym typeface="Calibri"/>
            </a:endParaRPr>
          </a:p>
        </p:txBody>
      </p:sp>
      <p:sp>
        <p:nvSpPr>
          <p:cNvPr id="252" name="Google Shape;252;p8"/>
          <p:cNvSpPr/>
          <p:nvPr/>
        </p:nvSpPr>
        <p:spPr>
          <a:xfrm>
            <a:off x="5440680" y="1627632"/>
            <a:ext cx="1874520" cy="23774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4262B"/>
              </a:buClr>
              <a:buSzPts val="1450"/>
              <a:buFont typeface="Play"/>
              <a:buNone/>
            </a:pPr>
            <a:r>
              <a:rPr b="1" i="0" lang="en-US" sz="1450" u="none" cap="none" strike="noStrike">
                <a:solidFill>
                  <a:srgbClr val="24262B"/>
                </a:solidFill>
                <a:latin typeface="Play"/>
                <a:ea typeface="Play"/>
                <a:cs typeface="Play"/>
                <a:sym typeface="Play"/>
              </a:rPr>
              <a:t>ChatGPT</a:t>
            </a:r>
            <a:endParaRPr b="0" i="0" sz="1450" u="none" cap="none" strike="noStrike">
              <a:solidFill>
                <a:schemeClr val="dk1"/>
              </a:solidFill>
              <a:latin typeface="Calibri"/>
              <a:ea typeface="Calibri"/>
              <a:cs typeface="Calibri"/>
              <a:sym typeface="Calibri"/>
            </a:endParaRPr>
          </a:p>
        </p:txBody>
      </p:sp>
      <p:sp>
        <p:nvSpPr>
          <p:cNvPr id="253" name="Google Shape;253;p8"/>
          <p:cNvSpPr/>
          <p:nvPr/>
        </p:nvSpPr>
        <p:spPr>
          <a:xfrm>
            <a:off x="4681728" y="1984248"/>
            <a:ext cx="2697480" cy="566928"/>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5F6875"/>
              </a:buClr>
              <a:buSzPts val="1130"/>
              <a:buFont typeface="Arial"/>
              <a:buNone/>
            </a:pPr>
            <a:r>
              <a:rPr b="0" i="0" lang="en-US" sz="1130" u="none" cap="none" strike="noStrike">
                <a:solidFill>
                  <a:srgbClr val="5F6875"/>
                </a:solidFill>
                <a:latin typeface="Arial"/>
                <a:ea typeface="Arial"/>
                <a:cs typeface="Arial"/>
                <a:sym typeface="Arial"/>
              </a:rPr>
              <a:t>Conversational AI reached the public and became widely used for school, work, writing, and coding.</a:t>
            </a:r>
            <a:endParaRPr b="0" i="0" sz="1130" u="none" cap="none" strike="noStrike">
              <a:solidFill>
                <a:schemeClr val="dk1"/>
              </a:solidFill>
              <a:latin typeface="Calibri"/>
              <a:ea typeface="Calibri"/>
              <a:cs typeface="Calibri"/>
              <a:sym typeface="Calibri"/>
            </a:endParaRPr>
          </a:p>
        </p:txBody>
      </p:sp>
      <p:sp>
        <p:nvSpPr>
          <p:cNvPr id="254" name="Google Shape;254;p8"/>
          <p:cNvSpPr/>
          <p:nvPr/>
        </p:nvSpPr>
        <p:spPr>
          <a:xfrm>
            <a:off x="8138160" y="1481328"/>
            <a:ext cx="3246120" cy="1298448"/>
          </a:xfrm>
          <a:prstGeom prst="rect">
            <a:avLst/>
          </a:prstGeom>
          <a:solidFill>
            <a:srgbClr val="FFFFFF"/>
          </a:solidFill>
          <a:ln cap="flat" cmpd="sng" w="12700">
            <a:solidFill>
              <a:srgbClr val="E6D8B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8"/>
          <p:cNvSpPr/>
          <p:nvPr/>
        </p:nvSpPr>
        <p:spPr>
          <a:xfrm>
            <a:off x="8138160" y="1481328"/>
            <a:ext cx="128016" cy="1298448"/>
          </a:xfrm>
          <a:prstGeom prst="rect">
            <a:avLst/>
          </a:prstGeom>
          <a:solidFill>
            <a:srgbClr val="C45A3A"/>
          </a:solidFill>
          <a:ln cap="flat" cmpd="sng" w="12700">
            <a:solidFill>
              <a:srgbClr val="C45A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8"/>
          <p:cNvSpPr/>
          <p:nvPr/>
        </p:nvSpPr>
        <p:spPr>
          <a:xfrm>
            <a:off x="8430768" y="1645920"/>
            <a:ext cx="822960" cy="2103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C45A3A"/>
              </a:buClr>
              <a:buSzPts val="1180"/>
              <a:buFont typeface="Arial"/>
              <a:buNone/>
            </a:pPr>
            <a:r>
              <a:rPr b="1" i="0" lang="en-US" sz="1180" u="none" cap="none" strike="noStrike">
                <a:solidFill>
                  <a:srgbClr val="C45A3A"/>
                </a:solidFill>
                <a:latin typeface="Arial"/>
                <a:ea typeface="Arial"/>
                <a:cs typeface="Arial"/>
                <a:sym typeface="Arial"/>
              </a:rPr>
              <a:t>2023</a:t>
            </a:r>
            <a:endParaRPr b="0" i="0" sz="1180" u="none" cap="none" strike="noStrike">
              <a:solidFill>
                <a:schemeClr val="dk1"/>
              </a:solidFill>
              <a:latin typeface="Calibri"/>
              <a:ea typeface="Calibri"/>
              <a:cs typeface="Calibri"/>
              <a:sym typeface="Calibri"/>
            </a:endParaRPr>
          </a:p>
        </p:txBody>
      </p:sp>
      <p:sp>
        <p:nvSpPr>
          <p:cNvPr id="257" name="Google Shape;257;p8"/>
          <p:cNvSpPr/>
          <p:nvPr/>
        </p:nvSpPr>
        <p:spPr>
          <a:xfrm>
            <a:off x="9189720" y="1627632"/>
            <a:ext cx="1874520" cy="23774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4262B"/>
              </a:buClr>
              <a:buSzPts val="1450"/>
              <a:buFont typeface="Play"/>
              <a:buNone/>
            </a:pPr>
            <a:r>
              <a:rPr b="1" i="0" lang="en-US" sz="1450" u="none" cap="none" strike="noStrike">
                <a:solidFill>
                  <a:srgbClr val="24262B"/>
                </a:solidFill>
                <a:latin typeface="Play"/>
                <a:ea typeface="Play"/>
                <a:cs typeface="Play"/>
                <a:sym typeface="Play"/>
              </a:rPr>
              <a:t>Model race</a:t>
            </a:r>
            <a:endParaRPr b="0" i="0" sz="1450" u="none" cap="none" strike="noStrike">
              <a:solidFill>
                <a:schemeClr val="dk1"/>
              </a:solidFill>
              <a:latin typeface="Calibri"/>
              <a:ea typeface="Calibri"/>
              <a:cs typeface="Calibri"/>
              <a:sym typeface="Calibri"/>
            </a:endParaRPr>
          </a:p>
        </p:txBody>
      </p:sp>
      <p:sp>
        <p:nvSpPr>
          <p:cNvPr id="258" name="Google Shape;258;p8"/>
          <p:cNvSpPr/>
          <p:nvPr/>
        </p:nvSpPr>
        <p:spPr>
          <a:xfrm>
            <a:off x="8430768" y="1984248"/>
            <a:ext cx="2697480" cy="566928"/>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5F6875"/>
              </a:buClr>
              <a:buSzPts val="1130"/>
              <a:buFont typeface="Arial"/>
              <a:buNone/>
            </a:pPr>
            <a:r>
              <a:rPr b="0" i="0" lang="en-US" sz="1130" u="none" cap="none" strike="noStrike">
                <a:solidFill>
                  <a:srgbClr val="5F6875"/>
                </a:solidFill>
                <a:latin typeface="Arial"/>
                <a:ea typeface="Arial"/>
                <a:cs typeface="Arial"/>
                <a:sym typeface="Arial"/>
              </a:rPr>
              <a:t>OpenAI, Google, Anthropic, and Meta released major generative and multimodal AI models.</a:t>
            </a:r>
            <a:endParaRPr b="0" i="0" sz="1130" u="none" cap="none" strike="noStrike">
              <a:solidFill>
                <a:schemeClr val="dk1"/>
              </a:solidFill>
              <a:latin typeface="Calibri"/>
              <a:ea typeface="Calibri"/>
              <a:cs typeface="Calibri"/>
              <a:sym typeface="Calibri"/>
            </a:endParaRPr>
          </a:p>
        </p:txBody>
      </p:sp>
      <p:sp>
        <p:nvSpPr>
          <p:cNvPr id="259" name="Google Shape;259;p8"/>
          <p:cNvSpPr/>
          <p:nvPr/>
        </p:nvSpPr>
        <p:spPr>
          <a:xfrm>
            <a:off x="640080" y="3419856"/>
            <a:ext cx="3246120" cy="1298448"/>
          </a:xfrm>
          <a:prstGeom prst="rect">
            <a:avLst/>
          </a:prstGeom>
          <a:solidFill>
            <a:srgbClr val="FFFFFF"/>
          </a:solidFill>
          <a:ln cap="flat" cmpd="sng" w="12700">
            <a:solidFill>
              <a:srgbClr val="E6D8B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8"/>
          <p:cNvSpPr/>
          <p:nvPr/>
        </p:nvSpPr>
        <p:spPr>
          <a:xfrm>
            <a:off x="640080" y="3419856"/>
            <a:ext cx="128016" cy="1298448"/>
          </a:xfrm>
          <a:prstGeom prst="rect">
            <a:avLst/>
          </a:prstGeom>
          <a:solidFill>
            <a:srgbClr val="C45A3A"/>
          </a:solidFill>
          <a:ln cap="flat" cmpd="sng" w="12700">
            <a:solidFill>
              <a:srgbClr val="C45A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8"/>
          <p:cNvSpPr/>
          <p:nvPr/>
        </p:nvSpPr>
        <p:spPr>
          <a:xfrm>
            <a:off x="932688" y="3584448"/>
            <a:ext cx="822960" cy="2103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C45A3A"/>
              </a:buClr>
              <a:buSzPts val="1180"/>
              <a:buFont typeface="Arial"/>
              <a:buNone/>
            </a:pPr>
            <a:r>
              <a:rPr b="1" i="0" lang="en-US" sz="1180" u="none" cap="none" strike="noStrike">
                <a:solidFill>
                  <a:srgbClr val="C45A3A"/>
                </a:solidFill>
                <a:latin typeface="Arial"/>
                <a:ea typeface="Arial"/>
                <a:cs typeface="Arial"/>
                <a:sym typeface="Arial"/>
              </a:rPr>
              <a:t>2024</a:t>
            </a:r>
            <a:endParaRPr b="0" i="0" sz="1180" u="none" cap="none" strike="noStrike">
              <a:solidFill>
                <a:schemeClr val="dk1"/>
              </a:solidFill>
              <a:latin typeface="Calibri"/>
              <a:ea typeface="Calibri"/>
              <a:cs typeface="Calibri"/>
              <a:sym typeface="Calibri"/>
            </a:endParaRPr>
          </a:p>
        </p:txBody>
      </p:sp>
      <p:sp>
        <p:nvSpPr>
          <p:cNvPr id="262" name="Google Shape;262;p8"/>
          <p:cNvSpPr/>
          <p:nvPr/>
        </p:nvSpPr>
        <p:spPr>
          <a:xfrm>
            <a:off x="1691640" y="3566160"/>
            <a:ext cx="1874520" cy="23774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4262B"/>
              </a:buClr>
              <a:buSzPts val="1450"/>
              <a:buFont typeface="Play"/>
              <a:buNone/>
            </a:pPr>
            <a:r>
              <a:rPr b="1" i="0" lang="en-US" sz="1450" u="none" cap="none" strike="noStrike">
                <a:solidFill>
                  <a:srgbClr val="24262B"/>
                </a:solidFill>
                <a:latin typeface="Play"/>
                <a:ea typeface="Play"/>
                <a:cs typeface="Play"/>
                <a:sym typeface="Play"/>
              </a:rPr>
              <a:t>Wide adoption</a:t>
            </a:r>
            <a:endParaRPr b="0" i="0" sz="1450" u="none" cap="none" strike="noStrike">
              <a:solidFill>
                <a:schemeClr val="dk1"/>
              </a:solidFill>
              <a:latin typeface="Calibri"/>
              <a:ea typeface="Calibri"/>
              <a:cs typeface="Calibri"/>
              <a:sym typeface="Calibri"/>
            </a:endParaRPr>
          </a:p>
        </p:txBody>
      </p:sp>
      <p:sp>
        <p:nvSpPr>
          <p:cNvPr id="263" name="Google Shape;263;p8"/>
          <p:cNvSpPr/>
          <p:nvPr/>
        </p:nvSpPr>
        <p:spPr>
          <a:xfrm>
            <a:off x="932688" y="3922776"/>
            <a:ext cx="2697480" cy="566928"/>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5F6875"/>
              </a:buClr>
              <a:buSzPts val="1130"/>
              <a:buFont typeface="Arial"/>
              <a:buNone/>
            </a:pPr>
            <a:r>
              <a:rPr b="0" i="0" lang="en-US" sz="1130" u="none" cap="none" strike="noStrike">
                <a:solidFill>
                  <a:srgbClr val="5F6875"/>
                </a:solidFill>
                <a:latin typeface="Arial"/>
                <a:ea typeface="Arial"/>
                <a:cs typeface="Arial"/>
                <a:sym typeface="Arial"/>
              </a:rPr>
              <a:t>AI spread across healthcare, finance, education, transportation, science, and business.</a:t>
            </a:r>
            <a:endParaRPr b="0" i="0" sz="1130" u="none" cap="none" strike="noStrike">
              <a:solidFill>
                <a:schemeClr val="dk1"/>
              </a:solidFill>
              <a:latin typeface="Calibri"/>
              <a:ea typeface="Calibri"/>
              <a:cs typeface="Calibri"/>
              <a:sym typeface="Calibri"/>
            </a:endParaRPr>
          </a:p>
        </p:txBody>
      </p:sp>
      <p:sp>
        <p:nvSpPr>
          <p:cNvPr id="264" name="Google Shape;264;p8"/>
          <p:cNvSpPr/>
          <p:nvPr/>
        </p:nvSpPr>
        <p:spPr>
          <a:xfrm>
            <a:off x="4389120" y="3419856"/>
            <a:ext cx="3246120" cy="1298448"/>
          </a:xfrm>
          <a:prstGeom prst="rect">
            <a:avLst/>
          </a:prstGeom>
          <a:solidFill>
            <a:srgbClr val="FFFFFF"/>
          </a:solidFill>
          <a:ln cap="flat" cmpd="sng" w="12700">
            <a:solidFill>
              <a:srgbClr val="E6D8B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8"/>
          <p:cNvSpPr/>
          <p:nvPr/>
        </p:nvSpPr>
        <p:spPr>
          <a:xfrm>
            <a:off x="4389120" y="3419856"/>
            <a:ext cx="128016" cy="1298448"/>
          </a:xfrm>
          <a:prstGeom prst="rect">
            <a:avLst/>
          </a:prstGeom>
          <a:solidFill>
            <a:srgbClr val="C45A3A"/>
          </a:solidFill>
          <a:ln cap="flat" cmpd="sng" w="12700">
            <a:solidFill>
              <a:srgbClr val="C45A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8"/>
          <p:cNvSpPr/>
          <p:nvPr/>
        </p:nvSpPr>
        <p:spPr>
          <a:xfrm>
            <a:off x="4681728" y="3584448"/>
            <a:ext cx="822960" cy="2103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C45A3A"/>
              </a:buClr>
              <a:buSzPts val="1180"/>
              <a:buFont typeface="Arial"/>
              <a:buNone/>
            </a:pPr>
            <a:r>
              <a:rPr b="1" i="0" lang="en-US" sz="1180" u="none" cap="none" strike="noStrike">
                <a:solidFill>
                  <a:srgbClr val="C45A3A"/>
                </a:solidFill>
                <a:latin typeface="Arial"/>
                <a:ea typeface="Arial"/>
                <a:cs typeface="Arial"/>
                <a:sym typeface="Arial"/>
              </a:rPr>
              <a:t>2025</a:t>
            </a:r>
            <a:endParaRPr b="0" i="0" sz="1180" u="none" cap="none" strike="noStrike">
              <a:solidFill>
                <a:schemeClr val="dk1"/>
              </a:solidFill>
              <a:latin typeface="Calibri"/>
              <a:ea typeface="Calibri"/>
              <a:cs typeface="Calibri"/>
              <a:sym typeface="Calibri"/>
            </a:endParaRPr>
          </a:p>
        </p:txBody>
      </p:sp>
      <p:sp>
        <p:nvSpPr>
          <p:cNvPr id="267" name="Google Shape;267;p8"/>
          <p:cNvSpPr/>
          <p:nvPr/>
        </p:nvSpPr>
        <p:spPr>
          <a:xfrm>
            <a:off x="5440680" y="3566160"/>
            <a:ext cx="1874520" cy="23774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4262B"/>
              </a:buClr>
              <a:buSzPts val="1450"/>
              <a:buFont typeface="Play"/>
              <a:buNone/>
            </a:pPr>
            <a:r>
              <a:rPr b="1" i="0" lang="en-US" sz="1450" u="none" cap="none" strike="noStrike">
                <a:solidFill>
                  <a:srgbClr val="24262B"/>
                </a:solidFill>
                <a:latin typeface="Play"/>
                <a:ea typeface="Play"/>
                <a:cs typeface="Play"/>
                <a:sym typeface="Play"/>
              </a:rPr>
              <a:t>AI agents</a:t>
            </a:r>
            <a:endParaRPr b="0" i="0" sz="1450" u="none" cap="none" strike="noStrike">
              <a:solidFill>
                <a:schemeClr val="dk1"/>
              </a:solidFill>
              <a:latin typeface="Calibri"/>
              <a:ea typeface="Calibri"/>
              <a:cs typeface="Calibri"/>
              <a:sym typeface="Calibri"/>
            </a:endParaRPr>
          </a:p>
        </p:txBody>
      </p:sp>
      <p:sp>
        <p:nvSpPr>
          <p:cNvPr id="268" name="Google Shape;268;p8"/>
          <p:cNvSpPr/>
          <p:nvPr/>
        </p:nvSpPr>
        <p:spPr>
          <a:xfrm>
            <a:off x="4681728" y="3922776"/>
            <a:ext cx="2697480" cy="566928"/>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5F6875"/>
              </a:buClr>
              <a:buSzPts val="1130"/>
              <a:buFont typeface="Arial"/>
              <a:buNone/>
            </a:pPr>
            <a:r>
              <a:rPr b="0" i="0" lang="en-US" sz="1130" u="none" cap="none" strike="noStrike">
                <a:solidFill>
                  <a:srgbClr val="5F6875"/>
                </a:solidFill>
                <a:latin typeface="Arial"/>
                <a:ea typeface="Arial"/>
                <a:cs typeface="Arial"/>
                <a:sym typeface="Arial"/>
              </a:rPr>
              <a:t>Tool-using AI systems became more common for multi-step enterprise work.</a:t>
            </a:r>
            <a:endParaRPr b="0" i="0" sz="1130" u="none" cap="none" strike="noStrike">
              <a:solidFill>
                <a:schemeClr val="dk1"/>
              </a:solidFill>
              <a:latin typeface="Calibri"/>
              <a:ea typeface="Calibri"/>
              <a:cs typeface="Calibri"/>
              <a:sym typeface="Calibri"/>
            </a:endParaRPr>
          </a:p>
        </p:txBody>
      </p:sp>
      <p:sp>
        <p:nvSpPr>
          <p:cNvPr id="269" name="Google Shape;269;p8"/>
          <p:cNvSpPr/>
          <p:nvPr/>
        </p:nvSpPr>
        <p:spPr>
          <a:xfrm>
            <a:off x="8138160" y="3419856"/>
            <a:ext cx="3246120" cy="1298448"/>
          </a:xfrm>
          <a:prstGeom prst="rect">
            <a:avLst/>
          </a:prstGeom>
          <a:solidFill>
            <a:srgbClr val="FFFFFF"/>
          </a:solidFill>
          <a:ln cap="flat" cmpd="sng" w="12700">
            <a:solidFill>
              <a:srgbClr val="E6D8B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8"/>
          <p:cNvSpPr/>
          <p:nvPr/>
        </p:nvSpPr>
        <p:spPr>
          <a:xfrm>
            <a:off x="8138160" y="3419856"/>
            <a:ext cx="128016" cy="1298448"/>
          </a:xfrm>
          <a:prstGeom prst="rect">
            <a:avLst/>
          </a:prstGeom>
          <a:solidFill>
            <a:srgbClr val="C45A3A"/>
          </a:solidFill>
          <a:ln cap="flat" cmpd="sng" w="12700">
            <a:solidFill>
              <a:srgbClr val="C45A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8"/>
          <p:cNvSpPr/>
          <p:nvPr/>
        </p:nvSpPr>
        <p:spPr>
          <a:xfrm>
            <a:off x="8430768" y="3584448"/>
            <a:ext cx="822960" cy="2103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C45A3A"/>
              </a:buClr>
              <a:buSzPts val="1180"/>
              <a:buFont typeface="Arial"/>
              <a:buNone/>
            </a:pPr>
            <a:r>
              <a:rPr b="1" i="0" lang="en-US" sz="1180" u="none" cap="none" strike="noStrike">
                <a:solidFill>
                  <a:srgbClr val="C45A3A"/>
                </a:solidFill>
                <a:latin typeface="Arial"/>
                <a:ea typeface="Arial"/>
                <a:cs typeface="Arial"/>
                <a:sym typeface="Arial"/>
              </a:rPr>
              <a:t>2026</a:t>
            </a:r>
            <a:endParaRPr b="0" i="0" sz="1180" u="none" cap="none" strike="noStrike">
              <a:solidFill>
                <a:schemeClr val="dk1"/>
              </a:solidFill>
              <a:latin typeface="Calibri"/>
              <a:ea typeface="Calibri"/>
              <a:cs typeface="Calibri"/>
              <a:sym typeface="Calibri"/>
            </a:endParaRPr>
          </a:p>
        </p:txBody>
      </p:sp>
      <p:sp>
        <p:nvSpPr>
          <p:cNvPr id="272" name="Google Shape;272;p8"/>
          <p:cNvSpPr/>
          <p:nvPr/>
        </p:nvSpPr>
        <p:spPr>
          <a:xfrm>
            <a:off x="9189720" y="3566160"/>
            <a:ext cx="1874520" cy="237744"/>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4262B"/>
              </a:buClr>
              <a:buSzPts val="1450"/>
              <a:buFont typeface="Play"/>
              <a:buNone/>
            </a:pPr>
            <a:r>
              <a:rPr b="1" i="0" lang="en-US" sz="1450" u="none" cap="none" strike="noStrike">
                <a:solidFill>
                  <a:srgbClr val="24262B"/>
                </a:solidFill>
                <a:latin typeface="Play"/>
                <a:ea typeface="Play"/>
                <a:cs typeface="Play"/>
                <a:sym typeface="Play"/>
              </a:rPr>
              <a:t>Core technology</a:t>
            </a:r>
            <a:endParaRPr b="0" i="0" sz="1450" u="none" cap="none" strike="noStrike">
              <a:solidFill>
                <a:schemeClr val="dk1"/>
              </a:solidFill>
              <a:latin typeface="Calibri"/>
              <a:ea typeface="Calibri"/>
              <a:cs typeface="Calibri"/>
              <a:sym typeface="Calibri"/>
            </a:endParaRPr>
          </a:p>
        </p:txBody>
      </p:sp>
      <p:sp>
        <p:nvSpPr>
          <p:cNvPr id="273" name="Google Shape;273;p8"/>
          <p:cNvSpPr/>
          <p:nvPr/>
        </p:nvSpPr>
        <p:spPr>
          <a:xfrm>
            <a:off x="8430768" y="3922776"/>
            <a:ext cx="2697480" cy="566928"/>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5F6875"/>
              </a:buClr>
              <a:buSzPts val="1130"/>
              <a:buFont typeface="Arial"/>
              <a:buNone/>
            </a:pPr>
            <a:r>
              <a:rPr b="0" i="0" lang="en-US" sz="1130" u="none" cap="none" strike="noStrike">
                <a:solidFill>
                  <a:srgbClr val="5F6875"/>
                </a:solidFill>
                <a:latin typeface="Arial"/>
                <a:ea typeface="Arial"/>
                <a:cs typeface="Arial"/>
                <a:sym typeface="Arial"/>
              </a:rPr>
              <a:t>AI became more deeply built into daily work, learning, content creation, and decision support.</a:t>
            </a:r>
            <a:endParaRPr b="0" i="0" sz="113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9"/>
          <p:cNvSpPr/>
          <p:nvPr/>
        </p:nvSpPr>
        <p:spPr>
          <a:xfrm>
            <a:off x="502920" y="6473952"/>
            <a:ext cx="4754880" cy="1463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875"/>
              </a:buClr>
              <a:buSzPts val="850"/>
              <a:buFont typeface="Arial"/>
              <a:buNone/>
            </a:pPr>
            <a:r>
              <a:rPr b="0" i="0" lang="en-US" sz="850" u="none" cap="none" strike="noStrike">
                <a:solidFill>
                  <a:srgbClr val="5F6875"/>
                </a:solidFill>
                <a:latin typeface="Arial"/>
                <a:ea typeface="Arial"/>
                <a:cs typeface="Arial"/>
                <a:sym typeface="Arial"/>
              </a:rPr>
              <a:t>Kinjal Desai | AI &amp; ML Timeline | 8</a:t>
            </a:r>
            <a:endParaRPr b="0" i="0" sz="850" u="none" cap="none" strike="noStrike">
              <a:solidFill>
                <a:schemeClr val="dk1"/>
              </a:solidFill>
              <a:latin typeface="Calibri"/>
              <a:ea typeface="Calibri"/>
              <a:cs typeface="Calibri"/>
              <a:sym typeface="Calibri"/>
            </a:endParaRPr>
          </a:p>
        </p:txBody>
      </p:sp>
      <p:sp>
        <p:nvSpPr>
          <p:cNvPr id="280" name="Google Shape;280;p9"/>
          <p:cNvSpPr/>
          <p:nvPr/>
        </p:nvSpPr>
        <p:spPr>
          <a:xfrm>
            <a:off x="548640" y="347472"/>
            <a:ext cx="8686800" cy="4389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4262B"/>
              </a:buClr>
              <a:buSzPts val="2700"/>
              <a:buFont typeface="Play"/>
              <a:buNone/>
            </a:pPr>
            <a:r>
              <a:rPr b="1" i="0" lang="en-US" sz="2700" u="none" cap="none" strike="noStrike">
                <a:solidFill>
                  <a:srgbClr val="24262B"/>
                </a:solidFill>
                <a:latin typeface="Play"/>
                <a:ea typeface="Play"/>
                <a:cs typeface="Play"/>
                <a:sym typeface="Play"/>
              </a:rPr>
              <a:t>AI winters: why progress slowed</a:t>
            </a:r>
            <a:endParaRPr b="0" i="0" sz="2700" u="none" cap="none" strike="noStrike">
              <a:solidFill>
                <a:schemeClr val="dk1"/>
              </a:solidFill>
              <a:latin typeface="Calibri"/>
              <a:ea typeface="Calibri"/>
              <a:cs typeface="Calibri"/>
              <a:sym typeface="Calibri"/>
            </a:endParaRPr>
          </a:p>
        </p:txBody>
      </p:sp>
      <p:sp>
        <p:nvSpPr>
          <p:cNvPr id="281" name="Google Shape;281;p9"/>
          <p:cNvSpPr/>
          <p:nvPr/>
        </p:nvSpPr>
        <p:spPr>
          <a:xfrm>
            <a:off x="548640" y="896112"/>
            <a:ext cx="9875520" cy="34747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5F6875"/>
              </a:buClr>
              <a:buSzPts val="1250"/>
              <a:buFont typeface="Arial"/>
              <a:buNone/>
            </a:pPr>
            <a:r>
              <a:rPr b="0" i="0" lang="en-US" sz="1250" u="none" cap="none" strike="noStrike">
                <a:solidFill>
                  <a:srgbClr val="5F6875"/>
                </a:solidFill>
                <a:latin typeface="Arial"/>
                <a:ea typeface="Arial"/>
                <a:cs typeface="Arial"/>
                <a:sym typeface="Arial"/>
              </a:rPr>
              <a:t>AI winters happened when the promise of AI was bigger than what systems could actually do at the time.</a:t>
            </a:r>
            <a:endParaRPr b="0" i="0" sz="1250" u="none" cap="none" strike="noStrike">
              <a:solidFill>
                <a:schemeClr val="dk1"/>
              </a:solidFill>
              <a:latin typeface="Calibri"/>
              <a:ea typeface="Calibri"/>
              <a:cs typeface="Calibri"/>
              <a:sym typeface="Calibri"/>
            </a:endParaRPr>
          </a:p>
        </p:txBody>
      </p:sp>
      <p:sp>
        <p:nvSpPr>
          <p:cNvPr id="282" name="Google Shape;282;p9"/>
          <p:cNvSpPr/>
          <p:nvPr/>
        </p:nvSpPr>
        <p:spPr>
          <a:xfrm>
            <a:off x="868675" y="1508749"/>
            <a:ext cx="4983600" cy="2189100"/>
          </a:xfrm>
          <a:prstGeom prst="rect">
            <a:avLst/>
          </a:prstGeom>
          <a:solidFill>
            <a:srgbClr val="FFFFFF"/>
          </a:solidFill>
          <a:ln cap="flat" cmpd="sng" w="12700">
            <a:solidFill>
              <a:srgbClr val="E6D8B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9"/>
          <p:cNvSpPr/>
          <p:nvPr/>
        </p:nvSpPr>
        <p:spPr>
          <a:xfrm>
            <a:off x="868680" y="1508760"/>
            <a:ext cx="4983600" cy="530400"/>
          </a:xfrm>
          <a:prstGeom prst="rect">
            <a:avLst/>
          </a:prstGeom>
          <a:solidFill>
            <a:srgbClr val="E6A23C"/>
          </a:solidFill>
          <a:ln cap="flat" cmpd="sng" w="12700">
            <a:solidFill>
              <a:srgbClr val="E6A2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9"/>
          <p:cNvSpPr/>
          <p:nvPr/>
        </p:nvSpPr>
        <p:spPr>
          <a:xfrm>
            <a:off x="1097280" y="1673352"/>
            <a:ext cx="128016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Arial"/>
              <a:buNone/>
            </a:pPr>
            <a:r>
              <a:rPr b="1" i="0" lang="en-US" sz="1300" u="none" cap="none" strike="noStrike">
                <a:solidFill>
                  <a:srgbClr val="FFFFFF"/>
                </a:solidFill>
                <a:latin typeface="Arial"/>
                <a:ea typeface="Arial"/>
                <a:cs typeface="Arial"/>
                <a:sym typeface="Arial"/>
              </a:rPr>
              <a:t>1974-1980</a:t>
            </a:r>
            <a:endParaRPr b="0" i="0" sz="1300" u="none" cap="none" strike="noStrike">
              <a:solidFill>
                <a:schemeClr val="dk1"/>
              </a:solidFill>
              <a:latin typeface="Calibri"/>
              <a:ea typeface="Calibri"/>
              <a:cs typeface="Calibri"/>
              <a:sym typeface="Calibri"/>
            </a:endParaRPr>
          </a:p>
        </p:txBody>
      </p:sp>
      <p:sp>
        <p:nvSpPr>
          <p:cNvPr id="285" name="Google Shape;285;p9"/>
          <p:cNvSpPr/>
          <p:nvPr/>
        </p:nvSpPr>
        <p:spPr>
          <a:xfrm>
            <a:off x="2496312" y="1645920"/>
            <a:ext cx="283464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700"/>
              <a:buFont typeface="Play"/>
              <a:buNone/>
            </a:pPr>
            <a:r>
              <a:rPr b="1" i="0" lang="en-US" sz="1700" u="none" cap="none" strike="noStrike">
                <a:solidFill>
                  <a:srgbClr val="FFFFFF"/>
                </a:solidFill>
                <a:latin typeface="Play"/>
                <a:ea typeface="Play"/>
                <a:cs typeface="Play"/>
                <a:sym typeface="Play"/>
              </a:rPr>
              <a:t>First AI winter</a:t>
            </a:r>
            <a:endParaRPr b="0" i="0" sz="1700" u="none" cap="none" strike="noStrike">
              <a:solidFill>
                <a:schemeClr val="dk1"/>
              </a:solidFill>
              <a:latin typeface="Calibri"/>
              <a:ea typeface="Calibri"/>
              <a:cs typeface="Calibri"/>
              <a:sym typeface="Calibri"/>
            </a:endParaRPr>
          </a:p>
        </p:txBody>
      </p:sp>
      <p:sp>
        <p:nvSpPr>
          <p:cNvPr id="286" name="Google Shape;286;p9"/>
          <p:cNvSpPr/>
          <p:nvPr/>
        </p:nvSpPr>
        <p:spPr>
          <a:xfrm>
            <a:off x="1252728" y="2359152"/>
            <a:ext cx="4224528" cy="9144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4262B"/>
              </a:buClr>
              <a:buSzPts val="1380"/>
              <a:buFont typeface="Arial"/>
              <a:buNone/>
            </a:pPr>
            <a:r>
              <a:rPr b="0" i="0" lang="en-US" sz="1380" u="none" cap="none" strike="noStrike">
                <a:solidFill>
                  <a:srgbClr val="24262B"/>
                </a:solidFill>
                <a:latin typeface="Arial"/>
                <a:ea typeface="Arial"/>
                <a:cs typeface="Arial"/>
                <a:sym typeface="Arial"/>
              </a:rPr>
              <a:t>Limited computing power, small datasets, and weak real-world performance caused funding agencies to reduce support.</a:t>
            </a:r>
            <a:endParaRPr b="0" i="0" sz="1380" u="none" cap="none" strike="noStrike">
              <a:solidFill>
                <a:schemeClr val="dk1"/>
              </a:solidFill>
              <a:latin typeface="Calibri"/>
              <a:ea typeface="Calibri"/>
              <a:cs typeface="Calibri"/>
              <a:sym typeface="Calibri"/>
            </a:endParaRPr>
          </a:p>
        </p:txBody>
      </p:sp>
      <p:sp>
        <p:nvSpPr>
          <p:cNvPr id="287" name="Google Shape;287;p9"/>
          <p:cNvSpPr/>
          <p:nvPr/>
        </p:nvSpPr>
        <p:spPr>
          <a:xfrm>
            <a:off x="6400800" y="1508753"/>
            <a:ext cx="4983600" cy="2189100"/>
          </a:xfrm>
          <a:prstGeom prst="rect">
            <a:avLst/>
          </a:prstGeom>
          <a:solidFill>
            <a:srgbClr val="FFFFFF"/>
          </a:solidFill>
          <a:ln cap="flat" cmpd="sng" w="12700">
            <a:solidFill>
              <a:srgbClr val="E6D8B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9"/>
          <p:cNvSpPr/>
          <p:nvPr/>
        </p:nvSpPr>
        <p:spPr>
          <a:xfrm>
            <a:off x="6400800" y="1508760"/>
            <a:ext cx="4983480" cy="530352"/>
          </a:xfrm>
          <a:prstGeom prst="rect">
            <a:avLst/>
          </a:prstGeom>
          <a:solidFill>
            <a:srgbClr val="5B3F8C"/>
          </a:solidFill>
          <a:ln cap="flat" cmpd="sng" w="12700">
            <a:solidFill>
              <a:srgbClr val="5B3F8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9"/>
          <p:cNvSpPr/>
          <p:nvPr/>
        </p:nvSpPr>
        <p:spPr>
          <a:xfrm>
            <a:off x="6629400" y="1673352"/>
            <a:ext cx="128016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Arial"/>
              <a:buNone/>
            </a:pPr>
            <a:r>
              <a:rPr b="1" i="0" lang="en-US" sz="1300" u="none" cap="none" strike="noStrike">
                <a:solidFill>
                  <a:srgbClr val="FFFFFF"/>
                </a:solidFill>
                <a:latin typeface="Arial"/>
                <a:ea typeface="Arial"/>
                <a:cs typeface="Arial"/>
                <a:sym typeface="Arial"/>
              </a:rPr>
              <a:t>1987-1993</a:t>
            </a:r>
            <a:endParaRPr b="0" i="0" sz="1300" u="none" cap="none" strike="noStrike">
              <a:solidFill>
                <a:schemeClr val="dk1"/>
              </a:solidFill>
              <a:latin typeface="Calibri"/>
              <a:ea typeface="Calibri"/>
              <a:cs typeface="Calibri"/>
              <a:sym typeface="Calibri"/>
            </a:endParaRPr>
          </a:p>
        </p:txBody>
      </p:sp>
      <p:sp>
        <p:nvSpPr>
          <p:cNvPr id="290" name="Google Shape;290;p9"/>
          <p:cNvSpPr/>
          <p:nvPr/>
        </p:nvSpPr>
        <p:spPr>
          <a:xfrm>
            <a:off x="8028432" y="1645920"/>
            <a:ext cx="283464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700"/>
              <a:buFont typeface="Play"/>
              <a:buNone/>
            </a:pPr>
            <a:r>
              <a:rPr b="1" i="0" lang="en-US" sz="1700" u="none" cap="none" strike="noStrike">
                <a:solidFill>
                  <a:srgbClr val="FFFFFF"/>
                </a:solidFill>
                <a:latin typeface="Play"/>
                <a:ea typeface="Play"/>
                <a:cs typeface="Play"/>
                <a:sym typeface="Play"/>
              </a:rPr>
              <a:t>Second AI winter</a:t>
            </a:r>
            <a:endParaRPr b="0" i="0" sz="1700" u="none" cap="none" strike="noStrike">
              <a:solidFill>
                <a:schemeClr val="dk1"/>
              </a:solidFill>
              <a:latin typeface="Calibri"/>
              <a:ea typeface="Calibri"/>
              <a:cs typeface="Calibri"/>
              <a:sym typeface="Calibri"/>
            </a:endParaRPr>
          </a:p>
        </p:txBody>
      </p:sp>
      <p:sp>
        <p:nvSpPr>
          <p:cNvPr id="291" name="Google Shape;291;p9"/>
          <p:cNvSpPr/>
          <p:nvPr/>
        </p:nvSpPr>
        <p:spPr>
          <a:xfrm>
            <a:off x="6784848" y="2359152"/>
            <a:ext cx="4224528" cy="9144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4262B"/>
              </a:buClr>
              <a:buSzPts val="1380"/>
              <a:buFont typeface="Arial"/>
              <a:buNone/>
            </a:pPr>
            <a:r>
              <a:rPr b="0" i="0" lang="en-US" sz="1380" u="none" cap="none" strike="noStrike">
                <a:solidFill>
                  <a:srgbClr val="24262B"/>
                </a:solidFill>
                <a:latin typeface="Arial"/>
                <a:ea typeface="Arial"/>
                <a:cs typeface="Arial"/>
                <a:sym typeface="Arial"/>
              </a:rPr>
              <a:t>Expert systems were useful but expensive, hard to update, and fragile outside narrow situations. Business confidence dropped.</a:t>
            </a:r>
            <a:endParaRPr b="0" i="0" sz="1380" u="none" cap="none" strike="noStrike">
              <a:solidFill>
                <a:schemeClr val="dk1"/>
              </a:solidFill>
              <a:latin typeface="Calibri"/>
              <a:ea typeface="Calibri"/>
              <a:cs typeface="Calibri"/>
              <a:sym typeface="Calibri"/>
            </a:endParaRPr>
          </a:p>
        </p:txBody>
      </p:sp>
      <p:sp>
        <p:nvSpPr>
          <p:cNvPr id="292" name="Google Shape;292;p9"/>
          <p:cNvSpPr/>
          <p:nvPr/>
        </p:nvSpPr>
        <p:spPr>
          <a:xfrm>
            <a:off x="1874525" y="4619400"/>
            <a:ext cx="8458200" cy="1205400"/>
          </a:xfrm>
          <a:prstGeom prst="rect">
            <a:avLst/>
          </a:prstGeom>
          <a:solidFill>
            <a:srgbClr val="15171A"/>
          </a:solidFill>
          <a:ln cap="flat" cmpd="sng" w="12700">
            <a:solidFill>
              <a:srgbClr val="E6D8B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9"/>
          <p:cNvSpPr/>
          <p:nvPr/>
        </p:nvSpPr>
        <p:spPr>
          <a:xfrm>
            <a:off x="2057400" y="5005175"/>
            <a:ext cx="8092500" cy="4389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FFFFFF"/>
              </a:buClr>
              <a:buSzPts val="1380"/>
              <a:buFont typeface="Arial"/>
              <a:buNone/>
            </a:pPr>
            <a:r>
              <a:rPr b="1" i="0" lang="en-US" sz="1380" u="none" cap="none" strike="noStrike">
                <a:solidFill>
                  <a:srgbClr val="FFFFFF"/>
                </a:solidFill>
                <a:latin typeface="Arial"/>
                <a:ea typeface="Arial"/>
                <a:cs typeface="Arial"/>
                <a:sym typeface="Arial"/>
              </a:rPr>
              <a:t>Both winters show that AI needs more than exciting ideas. It also needs reliable results, strong hardware, and clear use cases.</a:t>
            </a:r>
            <a:endParaRPr b="0" i="0" sz="138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10"/>
          <p:cNvSpPr/>
          <p:nvPr/>
        </p:nvSpPr>
        <p:spPr>
          <a:xfrm>
            <a:off x="502920" y="6473952"/>
            <a:ext cx="4754880" cy="1463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875"/>
              </a:buClr>
              <a:buSzPts val="850"/>
              <a:buFont typeface="Arial"/>
              <a:buNone/>
            </a:pPr>
            <a:r>
              <a:rPr b="0" i="0" lang="en-US" sz="850" u="none" cap="none" strike="noStrike">
                <a:solidFill>
                  <a:srgbClr val="5F6875"/>
                </a:solidFill>
                <a:latin typeface="Arial"/>
                <a:ea typeface="Arial"/>
                <a:cs typeface="Arial"/>
                <a:sym typeface="Arial"/>
              </a:rPr>
              <a:t>Kinjal Desai | AI &amp; ML Timeline | 9</a:t>
            </a:r>
            <a:endParaRPr b="0" i="0" sz="850" u="none" cap="none" strike="noStrike">
              <a:solidFill>
                <a:schemeClr val="dk1"/>
              </a:solidFill>
              <a:latin typeface="Calibri"/>
              <a:ea typeface="Calibri"/>
              <a:cs typeface="Calibri"/>
              <a:sym typeface="Calibri"/>
            </a:endParaRPr>
          </a:p>
        </p:txBody>
      </p:sp>
      <p:sp>
        <p:nvSpPr>
          <p:cNvPr id="300" name="Google Shape;300;p10"/>
          <p:cNvSpPr/>
          <p:nvPr/>
        </p:nvSpPr>
        <p:spPr>
          <a:xfrm>
            <a:off x="548640" y="347472"/>
            <a:ext cx="8686800" cy="4389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4262B"/>
              </a:buClr>
              <a:buSzPts val="2700"/>
              <a:buFont typeface="Play"/>
              <a:buNone/>
            </a:pPr>
            <a:r>
              <a:rPr b="1" i="0" lang="en-US" sz="2700" u="none" cap="none" strike="noStrike">
                <a:solidFill>
                  <a:srgbClr val="24262B"/>
                </a:solidFill>
                <a:latin typeface="Play"/>
                <a:ea typeface="Play"/>
                <a:cs typeface="Play"/>
                <a:sym typeface="Play"/>
              </a:rPr>
              <a:t>AI, machine learning, and deep learning</a:t>
            </a:r>
            <a:endParaRPr b="0" i="0" sz="2700" u="none" cap="none" strike="noStrike">
              <a:solidFill>
                <a:schemeClr val="dk1"/>
              </a:solidFill>
              <a:latin typeface="Calibri"/>
              <a:ea typeface="Calibri"/>
              <a:cs typeface="Calibri"/>
              <a:sym typeface="Calibri"/>
            </a:endParaRPr>
          </a:p>
        </p:txBody>
      </p:sp>
      <p:sp>
        <p:nvSpPr>
          <p:cNvPr id="301" name="Google Shape;301;p10"/>
          <p:cNvSpPr/>
          <p:nvPr/>
        </p:nvSpPr>
        <p:spPr>
          <a:xfrm>
            <a:off x="548640" y="896112"/>
            <a:ext cx="9875520" cy="34747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5F6875"/>
              </a:buClr>
              <a:buSzPts val="1250"/>
              <a:buFont typeface="Arial"/>
              <a:buNone/>
            </a:pPr>
            <a:r>
              <a:rPr b="0" i="0" lang="en-US" sz="1250" u="none" cap="none" strike="noStrike">
                <a:solidFill>
                  <a:srgbClr val="5F6875"/>
                </a:solidFill>
                <a:latin typeface="Arial"/>
                <a:ea typeface="Arial"/>
                <a:cs typeface="Arial"/>
                <a:sym typeface="Arial"/>
              </a:rPr>
              <a:t>These terms are related, but they do not mean exactly the same thing.</a:t>
            </a:r>
            <a:endParaRPr b="0" i="0" sz="1250" u="none" cap="none" strike="noStrike">
              <a:solidFill>
                <a:schemeClr val="dk1"/>
              </a:solidFill>
              <a:latin typeface="Calibri"/>
              <a:ea typeface="Calibri"/>
              <a:cs typeface="Calibri"/>
              <a:sym typeface="Calibri"/>
            </a:endParaRPr>
          </a:p>
        </p:txBody>
      </p:sp>
      <p:sp>
        <p:nvSpPr>
          <p:cNvPr id="302" name="Google Shape;302;p10"/>
          <p:cNvSpPr/>
          <p:nvPr/>
        </p:nvSpPr>
        <p:spPr>
          <a:xfrm>
            <a:off x="960120" y="1417320"/>
            <a:ext cx="5303520" cy="4160520"/>
          </a:xfrm>
          <a:prstGeom prst="ellipse">
            <a:avLst/>
          </a:prstGeom>
          <a:solidFill>
            <a:srgbClr val="F8E8C6"/>
          </a:solidFill>
          <a:ln cap="flat" cmpd="sng" w="19050">
            <a:solidFill>
              <a:srgbClr val="E6A2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10"/>
          <p:cNvSpPr/>
          <p:nvPr/>
        </p:nvSpPr>
        <p:spPr>
          <a:xfrm>
            <a:off x="1874520" y="1993392"/>
            <a:ext cx="3886200" cy="2971800"/>
          </a:xfrm>
          <a:prstGeom prst="ellipse">
            <a:avLst/>
          </a:prstGeom>
          <a:solidFill>
            <a:srgbClr val="D8F0EB"/>
          </a:solidFill>
          <a:ln cap="flat" cmpd="sng" w="19050">
            <a:solidFill>
              <a:srgbClr val="2A9D8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10"/>
          <p:cNvSpPr/>
          <p:nvPr/>
        </p:nvSpPr>
        <p:spPr>
          <a:xfrm>
            <a:off x="2743200" y="2578608"/>
            <a:ext cx="2331720" cy="1737360"/>
          </a:xfrm>
          <a:prstGeom prst="ellipse">
            <a:avLst/>
          </a:prstGeom>
          <a:solidFill>
            <a:srgbClr val="F4D7CC"/>
          </a:solidFill>
          <a:ln cap="flat" cmpd="sng" w="19050">
            <a:solidFill>
              <a:srgbClr val="C45A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10"/>
          <p:cNvSpPr/>
          <p:nvPr/>
        </p:nvSpPr>
        <p:spPr>
          <a:xfrm>
            <a:off x="1901952" y="1737360"/>
            <a:ext cx="338328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4262B"/>
              </a:buClr>
              <a:buSzPts val="1900"/>
              <a:buFont typeface="Play"/>
              <a:buNone/>
            </a:pPr>
            <a:r>
              <a:rPr b="1" i="0" lang="en-US" sz="1900" u="none" cap="none" strike="noStrike">
                <a:solidFill>
                  <a:srgbClr val="24262B"/>
                </a:solidFill>
                <a:latin typeface="Play"/>
                <a:ea typeface="Play"/>
                <a:cs typeface="Play"/>
                <a:sym typeface="Play"/>
              </a:rPr>
              <a:t>Artificial Intelligence</a:t>
            </a:r>
            <a:endParaRPr b="0" i="0" sz="1900" u="none" cap="none" strike="noStrike">
              <a:solidFill>
                <a:schemeClr val="dk1"/>
              </a:solidFill>
              <a:latin typeface="Calibri"/>
              <a:ea typeface="Calibri"/>
              <a:cs typeface="Calibri"/>
              <a:sym typeface="Calibri"/>
            </a:endParaRPr>
          </a:p>
        </p:txBody>
      </p:sp>
      <p:sp>
        <p:nvSpPr>
          <p:cNvPr id="306" name="Google Shape;306;p10"/>
          <p:cNvSpPr/>
          <p:nvPr/>
        </p:nvSpPr>
        <p:spPr>
          <a:xfrm>
            <a:off x="2487168" y="2542032"/>
            <a:ext cx="2560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4262B"/>
              </a:buClr>
              <a:buSzPts val="1700"/>
              <a:buFont typeface="Play"/>
              <a:buNone/>
            </a:pPr>
            <a:r>
              <a:rPr b="1" i="0" lang="en-US" sz="1700" u="none" cap="none" strike="noStrike">
                <a:solidFill>
                  <a:srgbClr val="24262B"/>
                </a:solidFill>
                <a:latin typeface="Play"/>
                <a:ea typeface="Play"/>
                <a:cs typeface="Play"/>
                <a:sym typeface="Play"/>
              </a:rPr>
              <a:t>Machine Learning</a:t>
            </a:r>
            <a:endParaRPr b="0" i="0" sz="1700" u="none" cap="none" strike="noStrike">
              <a:solidFill>
                <a:schemeClr val="dk1"/>
              </a:solidFill>
              <a:latin typeface="Calibri"/>
              <a:ea typeface="Calibri"/>
              <a:cs typeface="Calibri"/>
              <a:sym typeface="Calibri"/>
            </a:endParaRPr>
          </a:p>
        </p:txBody>
      </p:sp>
      <p:sp>
        <p:nvSpPr>
          <p:cNvPr id="307" name="Google Shape;307;p10"/>
          <p:cNvSpPr/>
          <p:nvPr/>
        </p:nvSpPr>
        <p:spPr>
          <a:xfrm>
            <a:off x="3063240" y="3246120"/>
            <a:ext cx="169164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4262B"/>
              </a:buClr>
              <a:buSzPts val="1500"/>
              <a:buFont typeface="Play"/>
              <a:buNone/>
            </a:pPr>
            <a:r>
              <a:rPr b="1" i="0" lang="en-US" sz="1500" u="none" cap="none" strike="noStrike">
                <a:solidFill>
                  <a:srgbClr val="24262B"/>
                </a:solidFill>
                <a:latin typeface="Play"/>
                <a:ea typeface="Play"/>
                <a:cs typeface="Play"/>
                <a:sym typeface="Play"/>
              </a:rPr>
              <a:t>Deep Learning</a:t>
            </a:r>
            <a:endParaRPr b="0" i="0" sz="1500" u="none" cap="none" strike="noStrike">
              <a:solidFill>
                <a:schemeClr val="dk1"/>
              </a:solidFill>
              <a:latin typeface="Calibri"/>
              <a:ea typeface="Calibri"/>
              <a:cs typeface="Calibri"/>
              <a:sym typeface="Calibri"/>
            </a:endParaRPr>
          </a:p>
        </p:txBody>
      </p:sp>
      <p:sp>
        <p:nvSpPr>
          <p:cNvPr id="308" name="Google Shape;308;p10"/>
          <p:cNvSpPr/>
          <p:nvPr/>
        </p:nvSpPr>
        <p:spPr>
          <a:xfrm>
            <a:off x="6675120" y="1417320"/>
            <a:ext cx="4526280" cy="4160520"/>
          </a:xfrm>
          <a:prstGeom prst="rect">
            <a:avLst/>
          </a:prstGeom>
          <a:solidFill>
            <a:srgbClr val="FFFFFF"/>
          </a:solidFill>
          <a:ln cap="flat" cmpd="sng" w="12700">
            <a:solidFill>
              <a:srgbClr val="E6D8B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10"/>
          <p:cNvSpPr/>
          <p:nvPr/>
        </p:nvSpPr>
        <p:spPr>
          <a:xfrm>
            <a:off x="7086600" y="1828800"/>
            <a:ext cx="3611880" cy="1856232"/>
          </a:xfrm>
          <a:prstGeom prst="rect">
            <a:avLst/>
          </a:prstGeom>
          <a:noFill/>
          <a:ln>
            <a:noFill/>
          </a:ln>
        </p:spPr>
        <p:txBody>
          <a:bodyPr anchorCtr="0" anchor="ctr" bIns="500" lIns="500" spcFirstLastPara="1" rIns="500" wrap="square" tIns="500">
            <a:normAutofit/>
          </a:bodyPr>
          <a:lstStyle/>
          <a:p>
            <a:pPr indent="-342900" lvl="0" marL="342900" marR="0" rtl="0" algn="l">
              <a:spcBef>
                <a:spcPts val="0"/>
              </a:spcBef>
              <a:spcAft>
                <a:spcPts val="0"/>
              </a:spcAft>
              <a:buClr>
                <a:srgbClr val="24262B"/>
              </a:buClr>
              <a:buSzPts val="1410"/>
              <a:buFont typeface="Arial"/>
              <a:buChar char="•"/>
            </a:pPr>
            <a:r>
              <a:rPr b="0" i="0" lang="en-US" sz="1410" u="none" cap="none" strike="noStrike">
                <a:solidFill>
                  <a:srgbClr val="24262B"/>
                </a:solidFill>
                <a:latin typeface="Arial"/>
                <a:ea typeface="Arial"/>
                <a:cs typeface="Arial"/>
                <a:sym typeface="Arial"/>
              </a:rPr>
              <a:t>AI is the broad goal of making machines perform intelligent tasks.</a:t>
            </a:r>
            <a:endParaRPr b="0" i="0" sz="1410" u="none" cap="none" strike="noStrike">
              <a:solidFill>
                <a:schemeClr val="dk1"/>
              </a:solidFill>
              <a:latin typeface="Calibri"/>
              <a:ea typeface="Calibri"/>
              <a:cs typeface="Calibri"/>
              <a:sym typeface="Calibri"/>
            </a:endParaRPr>
          </a:p>
          <a:p>
            <a:pPr indent="-342900" lvl="0" marL="342900" marR="0" rtl="0" algn="l">
              <a:spcBef>
                <a:spcPts val="500"/>
              </a:spcBef>
              <a:spcAft>
                <a:spcPts val="0"/>
              </a:spcAft>
              <a:buClr>
                <a:srgbClr val="24262B"/>
              </a:buClr>
              <a:buSzPts val="1410"/>
              <a:buFont typeface="Arial"/>
              <a:buChar char="•"/>
            </a:pPr>
            <a:r>
              <a:rPr b="0" i="0" lang="en-US" sz="1410" u="none" cap="none" strike="noStrike">
                <a:solidFill>
                  <a:srgbClr val="24262B"/>
                </a:solidFill>
                <a:latin typeface="Arial"/>
                <a:ea typeface="Arial"/>
                <a:cs typeface="Arial"/>
                <a:sym typeface="Arial"/>
              </a:rPr>
              <a:t>Machine learning is a method where systems improve from data.</a:t>
            </a:r>
            <a:endParaRPr b="0" i="0" sz="1410" u="none" cap="none" strike="noStrike">
              <a:solidFill>
                <a:schemeClr val="dk1"/>
              </a:solidFill>
              <a:latin typeface="Calibri"/>
              <a:ea typeface="Calibri"/>
              <a:cs typeface="Calibri"/>
              <a:sym typeface="Calibri"/>
            </a:endParaRPr>
          </a:p>
          <a:p>
            <a:pPr indent="-342900" lvl="0" marL="342900" marR="0" rtl="0" algn="l">
              <a:spcBef>
                <a:spcPts val="500"/>
              </a:spcBef>
              <a:spcAft>
                <a:spcPts val="0"/>
              </a:spcAft>
              <a:buClr>
                <a:srgbClr val="24262B"/>
              </a:buClr>
              <a:buSzPts val="1410"/>
              <a:buFont typeface="Arial"/>
              <a:buChar char="•"/>
            </a:pPr>
            <a:r>
              <a:rPr b="0" i="0" lang="en-US" sz="1410" u="none" cap="none" strike="noStrike">
                <a:solidFill>
                  <a:srgbClr val="24262B"/>
                </a:solidFill>
                <a:latin typeface="Arial"/>
                <a:ea typeface="Arial"/>
                <a:cs typeface="Arial"/>
                <a:sym typeface="Arial"/>
              </a:rPr>
              <a:t>Deep learning uses multi-layer neural networks and powers many current breakthroughs.</a:t>
            </a:r>
            <a:endParaRPr b="0" i="0" sz="1410" u="none" cap="none" strike="noStrike">
              <a:solidFill>
                <a:schemeClr val="dk1"/>
              </a:solidFill>
              <a:latin typeface="Calibri"/>
              <a:ea typeface="Calibri"/>
              <a:cs typeface="Calibri"/>
              <a:sym typeface="Calibri"/>
            </a:endParaRPr>
          </a:p>
          <a:p>
            <a:pPr indent="-342900" lvl="0" marL="342900" marR="0" rtl="0" algn="l">
              <a:spcBef>
                <a:spcPts val="500"/>
              </a:spcBef>
              <a:spcAft>
                <a:spcPts val="0"/>
              </a:spcAft>
              <a:buClr>
                <a:srgbClr val="24262B"/>
              </a:buClr>
              <a:buSzPts val="1410"/>
              <a:buFont typeface="Arial"/>
              <a:buChar char="•"/>
            </a:pPr>
            <a:r>
              <a:rPr b="0" i="0" lang="en-US" sz="1410" u="none" cap="none" strike="noStrike">
                <a:solidFill>
                  <a:srgbClr val="24262B"/>
                </a:solidFill>
                <a:latin typeface="Arial"/>
                <a:ea typeface="Arial"/>
                <a:cs typeface="Arial"/>
                <a:sym typeface="Arial"/>
              </a:rPr>
              <a:t>Generative AI creates new text, images, code, and other outputs from learned patterns.</a:t>
            </a:r>
            <a:endParaRPr b="0" i="0" sz="141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11"/>
          <p:cNvSpPr/>
          <p:nvPr/>
        </p:nvSpPr>
        <p:spPr>
          <a:xfrm>
            <a:off x="502920" y="6473952"/>
            <a:ext cx="4754880" cy="1463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875"/>
              </a:buClr>
              <a:buSzPts val="850"/>
              <a:buFont typeface="Arial"/>
              <a:buNone/>
            </a:pPr>
            <a:r>
              <a:rPr b="0" i="0" lang="en-US" sz="850" u="none" cap="none" strike="noStrike">
                <a:solidFill>
                  <a:srgbClr val="5F6875"/>
                </a:solidFill>
                <a:latin typeface="Arial"/>
                <a:ea typeface="Arial"/>
                <a:cs typeface="Arial"/>
                <a:sym typeface="Arial"/>
              </a:rPr>
              <a:t>Kinjal Desai | AI &amp; ML Timeline | 10</a:t>
            </a:r>
            <a:endParaRPr b="0" i="0" sz="850" u="none" cap="none" strike="noStrike">
              <a:solidFill>
                <a:schemeClr val="dk1"/>
              </a:solidFill>
              <a:latin typeface="Calibri"/>
              <a:ea typeface="Calibri"/>
              <a:cs typeface="Calibri"/>
              <a:sym typeface="Calibri"/>
            </a:endParaRPr>
          </a:p>
        </p:txBody>
      </p:sp>
      <p:sp>
        <p:nvSpPr>
          <p:cNvPr id="316" name="Google Shape;316;p11"/>
          <p:cNvSpPr/>
          <p:nvPr/>
        </p:nvSpPr>
        <p:spPr>
          <a:xfrm>
            <a:off x="548640" y="347472"/>
            <a:ext cx="8686800" cy="43891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24262B"/>
              </a:buClr>
              <a:buSzPts val="2700"/>
              <a:buFont typeface="Play"/>
              <a:buNone/>
            </a:pPr>
            <a:r>
              <a:rPr b="1" i="0" lang="en-US" sz="2700" u="none" cap="none" strike="noStrike">
                <a:solidFill>
                  <a:srgbClr val="24262B"/>
                </a:solidFill>
                <a:latin typeface="Play"/>
                <a:ea typeface="Play"/>
                <a:cs typeface="Play"/>
                <a:sym typeface="Play"/>
              </a:rPr>
              <a:t>Impact across industries</a:t>
            </a:r>
            <a:endParaRPr b="0" i="0" sz="2700" u="none" cap="none" strike="noStrike">
              <a:solidFill>
                <a:schemeClr val="dk1"/>
              </a:solidFill>
              <a:latin typeface="Calibri"/>
              <a:ea typeface="Calibri"/>
              <a:cs typeface="Calibri"/>
              <a:sym typeface="Calibri"/>
            </a:endParaRPr>
          </a:p>
        </p:txBody>
      </p:sp>
      <p:sp>
        <p:nvSpPr>
          <p:cNvPr id="317" name="Google Shape;317;p11"/>
          <p:cNvSpPr/>
          <p:nvPr/>
        </p:nvSpPr>
        <p:spPr>
          <a:xfrm>
            <a:off x="548640" y="896112"/>
            <a:ext cx="9875520" cy="34747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5F6875"/>
              </a:buClr>
              <a:buSzPts val="1250"/>
              <a:buFont typeface="Arial"/>
              <a:buNone/>
            </a:pPr>
            <a:r>
              <a:rPr b="0" i="0" lang="en-US" sz="1250" u="none" cap="none" strike="noStrike">
                <a:solidFill>
                  <a:srgbClr val="5F6875"/>
                </a:solidFill>
                <a:latin typeface="Arial"/>
                <a:ea typeface="Arial"/>
                <a:cs typeface="Arial"/>
                <a:sym typeface="Arial"/>
              </a:rPr>
              <a:t>AI is now used far beyond computer science labs. It affects how people work, study, create, and make decisions.</a:t>
            </a:r>
            <a:endParaRPr b="0" i="0" sz="1250" u="none" cap="none" strike="noStrike">
              <a:solidFill>
                <a:schemeClr val="dk1"/>
              </a:solidFill>
              <a:latin typeface="Calibri"/>
              <a:ea typeface="Calibri"/>
              <a:cs typeface="Calibri"/>
              <a:sym typeface="Calibri"/>
            </a:endParaRPr>
          </a:p>
        </p:txBody>
      </p:sp>
      <p:sp>
        <p:nvSpPr>
          <p:cNvPr id="318" name="Google Shape;318;p11"/>
          <p:cNvSpPr/>
          <p:nvPr/>
        </p:nvSpPr>
        <p:spPr>
          <a:xfrm>
            <a:off x="749808" y="1481328"/>
            <a:ext cx="3218688" cy="1207008"/>
          </a:xfrm>
          <a:prstGeom prst="rect">
            <a:avLst/>
          </a:prstGeom>
          <a:solidFill>
            <a:srgbClr val="FFFFFF"/>
          </a:solidFill>
          <a:ln cap="flat" cmpd="sng" w="12700">
            <a:solidFill>
              <a:srgbClr val="E6D8B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11"/>
          <p:cNvSpPr/>
          <p:nvPr/>
        </p:nvSpPr>
        <p:spPr>
          <a:xfrm>
            <a:off x="950976" y="1691640"/>
            <a:ext cx="566928" cy="566928"/>
          </a:xfrm>
          <a:prstGeom prst="ellipse">
            <a:avLst/>
          </a:prstGeom>
          <a:solidFill>
            <a:srgbClr val="F4D7CC"/>
          </a:solidFill>
          <a:ln cap="flat" cmpd="sng" w="15225">
            <a:solidFill>
              <a:srgbClr val="C45A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11"/>
          <p:cNvSpPr/>
          <p:nvPr/>
        </p:nvSpPr>
        <p:spPr>
          <a:xfrm>
            <a:off x="950976" y="1810512"/>
            <a:ext cx="566928"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45A3A"/>
              </a:buClr>
              <a:buSzPts val="1500"/>
              <a:buFont typeface="Arial"/>
              <a:buNone/>
            </a:pPr>
            <a:r>
              <a:rPr b="1" i="0" lang="en-US" sz="1500" u="none" cap="none" strike="noStrike">
                <a:solidFill>
                  <a:srgbClr val="C45A3A"/>
                </a:solidFill>
                <a:latin typeface="Arial"/>
                <a:ea typeface="Arial"/>
                <a:cs typeface="Arial"/>
                <a:sym typeface="Arial"/>
              </a:rPr>
              <a:t>1</a:t>
            </a:r>
            <a:endParaRPr b="0" i="0" sz="1500" u="none" cap="none" strike="noStrike">
              <a:solidFill>
                <a:schemeClr val="dk1"/>
              </a:solidFill>
              <a:latin typeface="Calibri"/>
              <a:ea typeface="Calibri"/>
              <a:cs typeface="Calibri"/>
              <a:sym typeface="Calibri"/>
            </a:endParaRPr>
          </a:p>
        </p:txBody>
      </p:sp>
      <p:sp>
        <p:nvSpPr>
          <p:cNvPr id="321" name="Google Shape;321;p11"/>
          <p:cNvSpPr/>
          <p:nvPr/>
        </p:nvSpPr>
        <p:spPr>
          <a:xfrm>
            <a:off x="1554480" y="1719072"/>
            <a:ext cx="214884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262B"/>
              </a:buClr>
              <a:buSzPts val="1600"/>
              <a:buFont typeface="Play"/>
              <a:buNone/>
            </a:pPr>
            <a:r>
              <a:rPr b="1" i="0" lang="en-US" sz="1600" u="none" cap="none" strike="noStrike">
                <a:solidFill>
                  <a:srgbClr val="24262B"/>
                </a:solidFill>
                <a:latin typeface="Play"/>
                <a:ea typeface="Play"/>
                <a:cs typeface="Play"/>
                <a:sym typeface="Play"/>
              </a:rPr>
              <a:t>Healthcare</a:t>
            </a:r>
            <a:endParaRPr b="0" i="0" sz="1600" u="none" cap="none" strike="noStrike">
              <a:solidFill>
                <a:schemeClr val="dk1"/>
              </a:solidFill>
              <a:latin typeface="Calibri"/>
              <a:ea typeface="Calibri"/>
              <a:cs typeface="Calibri"/>
              <a:sym typeface="Calibri"/>
            </a:endParaRPr>
          </a:p>
        </p:txBody>
      </p:sp>
      <p:sp>
        <p:nvSpPr>
          <p:cNvPr id="322" name="Google Shape;322;p11"/>
          <p:cNvSpPr/>
          <p:nvPr/>
        </p:nvSpPr>
        <p:spPr>
          <a:xfrm>
            <a:off x="1554480" y="2048256"/>
            <a:ext cx="2103120" cy="310896"/>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5F6875"/>
              </a:buClr>
              <a:buSzPts val="1150"/>
              <a:buFont typeface="Arial"/>
              <a:buNone/>
            </a:pPr>
            <a:r>
              <a:rPr b="0" i="0" lang="en-US" sz="1150" u="none" cap="none" strike="noStrike">
                <a:solidFill>
                  <a:srgbClr val="5F6875"/>
                </a:solidFill>
                <a:latin typeface="Arial"/>
                <a:ea typeface="Arial"/>
                <a:cs typeface="Arial"/>
                <a:sym typeface="Arial"/>
              </a:rPr>
              <a:t>Image analysis, diagnosis support, drug discovery</a:t>
            </a:r>
            <a:endParaRPr b="0" i="0" sz="1150" u="none" cap="none" strike="noStrike">
              <a:solidFill>
                <a:schemeClr val="dk1"/>
              </a:solidFill>
              <a:latin typeface="Calibri"/>
              <a:ea typeface="Calibri"/>
              <a:cs typeface="Calibri"/>
              <a:sym typeface="Calibri"/>
            </a:endParaRPr>
          </a:p>
        </p:txBody>
      </p:sp>
      <p:sp>
        <p:nvSpPr>
          <p:cNvPr id="323" name="Google Shape;323;p11"/>
          <p:cNvSpPr/>
          <p:nvPr/>
        </p:nvSpPr>
        <p:spPr>
          <a:xfrm>
            <a:off x="4517136" y="1481328"/>
            <a:ext cx="3218688" cy="1207008"/>
          </a:xfrm>
          <a:prstGeom prst="rect">
            <a:avLst/>
          </a:prstGeom>
          <a:solidFill>
            <a:srgbClr val="FFFFFF"/>
          </a:solidFill>
          <a:ln cap="flat" cmpd="sng" w="12700">
            <a:solidFill>
              <a:srgbClr val="E6D8B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11"/>
          <p:cNvSpPr/>
          <p:nvPr/>
        </p:nvSpPr>
        <p:spPr>
          <a:xfrm>
            <a:off x="4718304" y="1691640"/>
            <a:ext cx="566928" cy="566928"/>
          </a:xfrm>
          <a:prstGeom prst="ellipse">
            <a:avLst/>
          </a:prstGeom>
          <a:solidFill>
            <a:srgbClr val="F8E8C6"/>
          </a:solidFill>
          <a:ln cap="flat" cmpd="sng" w="15225">
            <a:solidFill>
              <a:srgbClr val="E6A2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11"/>
          <p:cNvSpPr/>
          <p:nvPr/>
        </p:nvSpPr>
        <p:spPr>
          <a:xfrm>
            <a:off x="4718304" y="1810512"/>
            <a:ext cx="566928"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6A23C"/>
              </a:buClr>
              <a:buSzPts val="1500"/>
              <a:buFont typeface="Arial"/>
              <a:buNone/>
            </a:pPr>
            <a:r>
              <a:rPr b="1" i="0" lang="en-US" sz="1500" u="none" cap="none" strike="noStrike">
                <a:solidFill>
                  <a:srgbClr val="E6A23C"/>
                </a:solidFill>
                <a:latin typeface="Arial"/>
                <a:ea typeface="Arial"/>
                <a:cs typeface="Arial"/>
                <a:sym typeface="Arial"/>
              </a:rPr>
              <a:t>2</a:t>
            </a:r>
            <a:endParaRPr b="0" i="0" sz="1500" u="none" cap="none" strike="noStrike">
              <a:solidFill>
                <a:schemeClr val="dk1"/>
              </a:solidFill>
              <a:latin typeface="Calibri"/>
              <a:ea typeface="Calibri"/>
              <a:cs typeface="Calibri"/>
              <a:sym typeface="Calibri"/>
            </a:endParaRPr>
          </a:p>
        </p:txBody>
      </p:sp>
      <p:sp>
        <p:nvSpPr>
          <p:cNvPr id="326" name="Google Shape;326;p11"/>
          <p:cNvSpPr/>
          <p:nvPr/>
        </p:nvSpPr>
        <p:spPr>
          <a:xfrm>
            <a:off x="5321808" y="1719072"/>
            <a:ext cx="214884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262B"/>
              </a:buClr>
              <a:buSzPts val="1600"/>
              <a:buFont typeface="Play"/>
              <a:buNone/>
            </a:pPr>
            <a:r>
              <a:rPr b="1" i="0" lang="en-US" sz="1600" u="none" cap="none" strike="noStrike">
                <a:solidFill>
                  <a:srgbClr val="24262B"/>
                </a:solidFill>
                <a:latin typeface="Play"/>
                <a:ea typeface="Play"/>
                <a:cs typeface="Play"/>
                <a:sym typeface="Play"/>
              </a:rPr>
              <a:t>Education</a:t>
            </a:r>
            <a:endParaRPr b="0" i="0" sz="1600" u="none" cap="none" strike="noStrike">
              <a:solidFill>
                <a:schemeClr val="dk1"/>
              </a:solidFill>
              <a:latin typeface="Calibri"/>
              <a:ea typeface="Calibri"/>
              <a:cs typeface="Calibri"/>
              <a:sym typeface="Calibri"/>
            </a:endParaRPr>
          </a:p>
        </p:txBody>
      </p:sp>
      <p:sp>
        <p:nvSpPr>
          <p:cNvPr id="327" name="Google Shape;327;p11"/>
          <p:cNvSpPr/>
          <p:nvPr/>
        </p:nvSpPr>
        <p:spPr>
          <a:xfrm>
            <a:off x="5321808" y="2048256"/>
            <a:ext cx="2103120" cy="310896"/>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5F6875"/>
              </a:buClr>
              <a:buSzPts val="1150"/>
              <a:buFont typeface="Arial"/>
              <a:buNone/>
            </a:pPr>
            <a:r>
              <a:rPr b="0" i="0" lang="en-US" sz="1150" u="none" cap="none" strike="noStrike">
                <a:solidFill>
                  <a:srgbClr val="5F6875"/>
                </a:solidFill>
                <a:latin typeface="Arial"/>
                <a:ea typeface="Arial"/>
                <a:cs typeface="Arial"/>
                <a:sym typeface="Arial"/>
              </a:rPr>
              <a:t>Tutoring, feedback, study support</a:t>
            </a:r>
            <a:endParaRPr b="0" i="0" sz="1150" u="none" cap="none" strike="noStrike">
              <a:solidFill>
                <a:schemeClr val="dk1"/>
              </a:solidFill>
              <a:latin typeface="Calibri"/>
              <a:ea typeface="Calibri"/>
              <a:cs typeface="Calibri"/>
              <a:sym typeface="Calibri"/>
            </a:endParaRPr>
          </a:p>
        </p:txBody>
      </p:sp>
      <p:sp>
        <p:nvSpPr>
          <p:cNvPr id="328" name="Google Shape;328;p11"/>
          <p:cNvSpPr/>
          <p:nvPr/>
        </p:nvSpPr>
        <p:spPr>
          <a:xfrm>
            <a:off x="8284464" y="1481328"/>
            <a:ext cx="3218688" cy="1207008"/>
          </a:xfrm>
          <a:prstGeom prst="rect">
            <a:avLst/>
          </a:prstGeom>
          <a:solidFill>
            <a:srgbClr val="FFFFFF"/>
          </a:solidFill>
          <a:ln cap="flat" cmpd="sng" w="12700">
            <a:solidFill>
              <a:srgbClr val="E6D8B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11"/>
          <p:cNvSpPr/>
          <p:nvPr/>
        </p:nvSpPr>
        <p:spPr>
          <a:xfrm>
            <a:off x="8485632" y="1691640"/>
            <a:ext cx="566928" cy="566928"/>
          </a:xfrm>
          <a:prstGeom prst="ellipse">
            <a:avLst/>
          </a:prstGeom>
          <a:solidFill>
            <a:srgbClr val="E5DDF2"/>
          </a:solidFill>
          <a:ln cap="flat" cmpd="sng" w="15225">
            <a:solidFill>
              <a:srgbClr val="5B3F8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11"/>
          <p:cNvSpPr/>
          <p:nvPr/>
        </p:nvSpPr>
        <p:spPr>
          <a:xfrm>
            <a:off x="8485632" y="1810512"/>
            <a:ext cx="566928"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3F8C"/>
              </a:buClr>
              <a:buSzPts val="1500"/>
              <a:buFont typeface="Arial"/>
              <a:buNone/>
            </a:pPr>
            <a:r>
              <a:rPr b="1" i="0" lang="en-US" sz="1500" u="none" cap="none" strike="noStrike">
                <a:solidFill>
                  <a:srgbClr val="5B3F8C"/>
                </a:solidFill>
                <a:latin typeface="Arial"/>
                <a:ea typeface="Arial"/>
                <a:cs typeface="Arial"/>
                <a:sym typeface="Arial"/>
              </a:rPr>
              <a:t>3</a:t>
            </a:r>
            <a:endParaRPr b="0" i="0" sz="1500" u="none" cap="none" strike="noStrike">
              <a:solidFill>
                <a:schemeClr val="dk1"/>
              </a:solidFill>
              <a:latin typeface="Calibri"/>
              <a:ea typeface="Calibri"/>
              <a:cs typeface="Calibri"/>
              <a:sym typeface="Calibri"/>
            </a:endParaRPr>
          </a:p>
        </p:txBody>
      </p:sp>
      <p:sp>
        <p:nvSpPr>
          <p:cNvPr id="331" name="Google Shape;331;p11"/>
          <p:cNvSpPr/>
          <p:nvPr/>
        </p:nvSpPr>
        <p:spPr>
          <a:xfrm>
            <a:off x="9089136" y="1719072"/>
            <a:ext cx="214884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262B"/>
              </a:buClr>
              <a:buSzPts val="1600"/>
              <a:buFont typeface="Play"/>
              <a:buNone/>
            </a:pPr>
            <a:r>
              <a:rPr b="1" i="0" lang="en-US" sz="1600" u="none" cap="none" strike="noStrike">
                <a:solidFill>
                  <a:srgbClr val="24262B"/>
                </a:solidFill>
                <a:latin typeface="Play"/>
                <a:ea typeface="Play"/>
                <a:cs typeface="Play"/>
                <a:sym typeface="Play"/>
              </a:rPr>
              <a:t>Finance</a:t>
            </a:r>
            <a:endParaRPr b="0" i="0" sz="1600" u="none" cap="none" strike="noStrike">
              <a:solidFill>
                <a:schemeClr val="dk1"/>
              </a:solidFill>
              <a:latin typeface="Calibri"/>
              <a:ea typeface="Calibri"/>
              <a:cs typeface="Calibri"/>
              <a:sym typeface="Calibri"/>
            </a:endParaRPr>
          </a:p>
        </p:txBody>
      </p:sp>
      <p:sp>
        <p:nvSpPr>
          <p:cNvPr id="332" name="Google Shape;332;p11"/>
          <p:cNvSpPr/>
          <p:nvPr/>
        </p:nvSpPr>
        <p:spPr>
          <a:xfrm>
            <a:off x="9089136" y="2048256"/>
            <a:ext cx="2103120" cy="310896"/>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5F6875"/>
              </a:buClr>
              <a:buSzPts val="1150"/>
              <a:buFont typeface="Arial"/>
              <a:buNone/>
            </a:pPr>
            <a:r>
              <a:rPr b="0" i="0" lang="en-US" sz="1150" u="none" cap="none" strike="noStrike">
                <a:solidFill>
                  <a:srgbClr val="5F6875"/>
                </a:solidFill>
                <a:latin typeface="Arial"/>
                <a:ea typeface="Arial"/>
                <a:cs typeface="Arial"/>
                <a:sym typeface="Arial"/>
              </a:rPr>
              <a:t>Fraud detection, risk analysis, automation</a:t>
            </a:r>
            <a:endParaRPr b="0" i="0" sz="1150" u="none" cap="none" strike="noStrike">
              <a:solidFill>
                <a:schemeClr val="dk1"/>
              </a:solidFill>
              <a:latin typeface="Calibri"/>
              <a:ea typeface="Calibri"/>
              <a:cs typeface="Calibri"/>
              <a:sym typeface="Calibri"/>
            </a:endParaRPr>
          </a:p>
        </p:txBody>
      </p:sp>
      <p:sp>
        <p:nvSpPr>
          <p:cNvPr id="333" name="Google Shape;333;p11"/>
          <p:cNvSpPr/>
          <p:nvPr/>
        </p:nvSpPr>
        <p:spPr>
          <a:xfrm>
            <a:off x="749808" y="3447288"/>
            <a:ext cx="3218688" cy="1207008"/>
          </a:xfrm>
          <a:prstGeom prst="rect">
            <a:avLst/>
          </a:prstGeom>
          <a:solidFill>
            <a:srgbClr val="FFFFFF"/>
          </a:solidFill>
          <a:ln cap="flat" cmpd="sng" w="12700">
            <a:solidFill>
              <a:srgbClr val="E6D8B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11"/>
          <p:cNvSpPr/>
          <p:nvPr/>
        </p:nvSpPr>
        <p:spPr>
          <a:xfrm>
            <a:off x="950976" y="3657600"/>
            <a:ext cx="566928" cy="566928"/>
          </a:xfrm>
          <a:prstGeom prst="ellipse">
            <a:avLst/>
          </a:prstGeom>
          <a:solidFill>
            <a:srgbClr val="D8F0EB"/>
          </a:solidFill>
          <a:ln cap="flat" cmpd="sng" w="15225">
            <a:solidFill>
              <a:srgbClr val="2A9D8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11"/>
          <p:cNvSpPr/>
          <p:nvPr/>
        </p:nvSpPr>
        <p:spPr>
          <a:xfrm>
            <a:off x="950976" y="3776472"/>
            <a:ext cx="566928"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A9D8F"/>
              </a:buClr>
              <a:buSzPts val="1500"/>
              <a:buFont typeface="Arial"/>
              <a:buNone/>
            </a:pPr>
            <a:r>
              <a:rPr b="1" i="0" lang="en-US" sz="1500" u="none" cap="none" strike="noStrike">
                <a:solidFill>
                  <a:srgbClr val="2A9D8F"/>
                </a:solidFill>
                <a:latin typeface="Arial"/>
                <a:ea typeface="Arial"/>
                <a:cs typeface="Arial"/>
                <a:sym typeface="Arial"/>
              </a:rPr>
              <a:t>4</a:t>
            </a:r>
            <a:endParaRPr b="0" i="0" sz="1500" u="none" cap="none" strike="noStrike">
              <a:solidFill>
                <a:schemeClr val="dk1"/>
              </a:solidFill>
              <a:latin typeface="Calibri"/>
              <a:ea typeface="Calibri"/>
              <a:cs typeface="Calibri"/>
              <a:sym typeface="Calibri"/>
            </a:endParaRPr>
          </a:p>
        </p:txBody>
      </p:sp>
      <p:sp>
        <p:nvSpPr>
          <p:cNvPr id="336" name="Google Shape;336;p11"/>
          <p:cNvSpPr/>
          <p:nvPr/>
        </p:nvSpPr>
        <p:spPr>
          <a:xfrm>
            <a:off x="1554480" y="3685032"/>
            <a:ext cx="214884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262B"/>
              </a:buClr>
              <a:buSzPts val="1600"/>
              <a:buFont typeface="Play"/>
              <a:buNone/>
            </a:pPr>
            <a:r>
              <a:rPr b="1" i="0" lang="en-US" sz="1600" u="none" cap="none" strike="noStrike">
                <a:solidFill>
                  <a:srgbClr val="24262B"/>
                </a:solidFill>
                <a:latin typeface="Play"/>
                <a:ea typeface="Play"/>
                <a:cs typeface="Play"/>
                <a:sym typeface="Play"/>
              </a:rPr>
              <a:t>Transportation</a:t>
            </a:r>
            <a:endParaRPr b="0" i="0" sz="1600" u="none" cap="none" strike="noStrike">
              <a:solidFill>
                <a:schemeClr val="dk1"/>
              </a:solidFill>
              <a:latin typeface="Calibri"/>
              <a:ea typeface="Calibri"/>
              <a:cs typeface="Calibri"/>
              <a:sym typeface="Calibri"/>
            </a:endParaRPr>
          </a:p>
        </p:txBody>
      </p:sp>
      <p:sp>
        <p:nvSpPr>
          <p:cNvPr id="337" name="Google Shape;337;p11"/>
          <p:cNvSpPr/>
          <p:nvPr/>
        </p:nvSpPr>
        <p:spPr>
          <a:xfrm>
            <a:off x="1554480" y="4014216"/>
            <a:ext cx="2103120" cy="310896"/>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5F6875"/>
              </a:buClr>
              <a:buSzPts val="1150"/>
              <a:buFont typeface="Arial"/>
              <a:buNone/>
            </a:pPr>
            <a:r>
              <a:rPr b="0" i="0" lang="en-US" sz="1150" u="none" cap="none" strike="noStrike">
                <a:solidFill>
                  <a:srgbClr val="5F6875"/>
                </a:solidFill>
                <a:latin typeface="Arial"/>
                <a:ea typeface="Arial"/>
                <a:cs typeface="Arial"/>
                <a:sym typeface="Arial"/>
              </a:rPr>
              <a:t>Routing, logistics, driver-assistance systems</a:t>
            </a:r>
            <a:endParaRPr b="0" i="0" sz="1150" u="none" cap="none" strike="noStrike">
              <a:solidFill>
                <a:schemeClr val="dk1"/>
              </a:solidFill>
              <a:latin typeface="Calibri"/>
              <a:ea typeface="Calibri"/>
              <a:cs typeface="Calibri"/>
              <a:sym typeface="Calibri"/>
            </a:endParaRPr>
          </a:p>
        </p:txBody>
      </p:sp>
      <p:sp>
        <p:nvSpPr>
          <p:cNvPr id="338" name="Google Shape;338;p11"/>
          <p:cNvSpPr/>
          <p:nvPr/>
        </p:nvSpPr>
        <p:spPr>
          <a:xfrm>
            <a:off x="4517136" y="3447288"/>
            <a:ext cx="3218688" cy="1207008"/>
          </a:xfrm>
          <a:prstGeom prst="rect">
            <a:avLst/>
          </a:prstGeom>
          <a:solidFill>
            <a:srgbClr val="FFFFFF"/>
          </a:solidFill>
          <a:ln cap="flat" cmpd="sng" w="12700">
            <a:solidFill>
              <a:srgbClr val="E6D8B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11"/>
          <p:cNvSpPr/>
          <p:nvPr/>
        </p:nvSpPr>
        <p:spPr>
          <a:xfrm>
            <a:off x="4718304" y="3657600"/>
            <a:ext cx="566928" cy="566928"/>
          </a:xfrm>
          <a:prstGeom prst="ellipse">
            <a:avLst/>
          </a:prstGeom>
          <a:solidFill>
            <a:srgbClr val="F4D7CC"/>
          </a:solidFill>
          <a:ln cap="flat" cmpd="sng" w="15225">
            <a:solidFill>
              <a:srgbClr val="C45A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11"/>
          <p:cNvSpPr/>
          <p:nvPr/>
        </p:nvSpPr>
        <p:spPr>
          <a:xfrm>
            <a:off x="4718304" y="3776472"/>
            <a:ext cx="566928"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45A3A"/>
              </a:buClr>
              <a:buSzPts val="1500"/>
              <a:buFont typeface="Arial"/>
              <a:buNone/>
            </a:pPr>
            <a:r>
              <a:rPr b="1" i="0" lang="en-US" sz="1500" u="none" cap="none" strike="noStrike">
                <a:solidFill>
                  <a:srgbClr val="C45A3A"/>
                </a:solidFill>
                <a:latin typeface="Arial"/>
                <a:ea typeface="Arial"/>
                <a:cs typeface="Arial"/>
                <a:sym typeface="Arial"/>
              </a:rPr>
              <a:t>5</a:t>
            </a:r>
            <a:endParaRPr b="0" i="0" sz="1500" u="none" cap="none" strike="noStrike">
              <a:solidFill>
                <a:schemeClr val="dk1"/>
              </a:solidFill>
              <a:latin typeface="Calibri"/>
              <a:ea typeface="Calibri"/>
              <a:cs typeface="Calibri"/>
              <a:sym typeface="Calibri"/>
            </a:endParaRPr>
          </a:p>
        </p:txBody>
      </p:sp>
      <p:sp>
        <p:nvSpPr>
          <p:cNvPr id="341" name="Google Shape;341;p11"/>
          <p:cNvSpPr/>
          <p:nvPr/>
        </p:nvSpPr>
        <p:spPr>
          <a:xfrm>
            <a:off x="5321808" y="3685032"/>
            <a:ext cx="214884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262B"/>
              </a:buClr>
              <a:buSzPts val="1600"/>
              <a:buFont typeface="Play"/>
              <a:buNone/>
            </a:pPr>
            <a:r>
              <a:rPr b="1" i="0" lang="en-US" sz="1600" u="none" cap="none" strike="noStrike">
                <a:solidFill>
                  <a:srgbClr val="24262B"/>
                </a:solidFill>
                <a:latin typeface="Play"/>
                <a:ea typeface="Play"/>
                <a:cs typeface="Play"/>
                <a:sym typeface="Play"/>
              </a:rPr>
              <a:t>Science</a:t>
            </a:r>
            <a:endParaRPr b="0" i="0" sz="1600" u="none" cap="none" strike="noStrike">
              <a:solidFill>
                <a:schemeClr val="dk1"/>
              </a:solidFill>
              <a:latin typeface="Calibri"/>
              <a:ea typeface="Calibri"/>
              <a:cs typeface="Calibri"/>
              <a:sym typeface="Calibri"/>
            </a:endParaRPr>
          </a:p>
        </p:txBody>
      </p:sp>
      <p:sp>
        <p:nvSpPr>
          <p:cNvPr id="342" name="Google Shape;342;p11"/>
          <p:cNvSpPr/>
          <p:nvPr/>
        </p:nvSpPr>
        <p:spPr>
          <a:xfrm>
            <a:off x="5321808" y="4014216"/>
            <a:ext cx="2103120" cy="310896"/>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5F6875"/>
              </a:buClr>
              <a:buSzPts val="1150"/>
              <a:buFont typeface="Arial"/>
              <a:buNone/>
            </a:pPr>
            <a:r>
              <a:rPr b="0" i="0" lang="en-US" sz="1150" u="none" cap="none" strike="noStrike">
                <a:solidFill>
                  <a:srgbClr val="5F6875"/>
                </a:solidFill>
                <a:latin typeface="Arial"/>
                <a:ea typeface="Arial"/>
                <a:cs typeface="Arial"/>
                <a:sym typeface="Arial"/>
              </a:rPr>
              <a:t>Protein folding, simulations, research discovery</a:t>
            </a:r>
            <a:endParaRPr b="0" i="0" sz="1150" u="none" cap="none" strike="noStrike">
              <a:solidFill>
                <a:schemeClr val="dk1"/>
              </a:solidFill>
              <a:latin typeface="Calibri"/>
              <a:ea typeface="Calibri"/>
              <a:cs typeface="Calibri"/>
              <a:sym typeface="Calibri"/>
            </a:endParaRPr>
          </a:p>
        </p:txBody>
      </p:sp>
      <p:sp>
        <p:nvSpPr>
          <p:cNvPr id="343" name="Google Shape;343;p11"/>
          <p:cNvSpPr/>
          <p:nvPr/>
        </p:nvSpPr>
        <p:spPr>
          <a:xfrm>
            <a:off x="8284464" y="3447288"/>
            <a:ext cx="3218688" cy="1207008"/>
          </a:xfrm>
          <a:prstGeom prst="rect">
            <a:avLst/>
          </a:prstGeom>
          <a:solidFill>
            <a:srgbClr val="FFFFFF"/>
          </a:solidFill>
          <a:ln cap="flat" cmpd="sng" w="12700">
            <a:solidFill>
              <a:srgbClr val="E6D8B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11"/>
          <p:cNvSpPr/>
          <p:nvPr/>
        </p:nvSpPr>
        <p:spPr>
          <a:xfrm>
            <a:off x="8485632" y="3657600"/>
            <a:ext cx="566928" cy="566928"/>
          </a:xfrm>
          <a:prstGeom prst="ellipse">
            <a:avLst/>
          </a:prstGeom>
          <a:solidFill>
            <a:srgbClr val="E5DDF2"/>
          </a:solidFill>
          <a:ln cap="flat" cmpd="sng" w="15225">
            <a:solidFill>
              <a:srgbClr val="5B3F8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11"/>
          <p:cNvSpPr/>
          <p:nvPr/>
        </p:nvSpPr>
        <p:spPr>
          <a:xfrm>
            <a:off x="8485632" y="3776472"/>
            <a:ext cx="566928"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3F8C"/>
              </a:buClr>
              <a:buSzPts val="1500"/>
              <a:buFont typeface="Arial"/>
              <a:buNone/>
            </a:pPr>
            <a:r>
              <a:rPr b="1" i="0" lang="en-US" sz="1500" u="none" cap="none" strike="noStrike">
                <a:solidFill>
                  <a:srgbClr val="5B3F8C"/>
                </a:solidFill>
                <a:latin typeface="Arial"/>
                <a:ea typeface="Arial"/>
                <a:cs typeface="Arial"/>
                <a:sym typeface="Arial"/>
              </a:rPr>
              <a:t>6</a:t>
            </a:r>
            <a:endParaRPr b="0" i="0" sz="1500" u="none" cap="none" strike="noStrike">
              <a:solidFill>
                <a:schemeClr val="dk1"/>
              </a:solidFill>
              <a:latin typeface="Calibri"/>
              <a:ea typeface="Calibri"/>
              <a:cs typeface="Calibri"/>
              <a:sym typeface="Calibri"/>
            </a:endParaRPr>
          </a:p>
        </p:txBody>
      </p:sp>
      <p:sp>
        <p:nvSpPr>
          <p:cNvPr id="346" name="Google Shape;346;p11"/>
          <p:cNvSpPr/>
          <p:nvPr/>
        </p:nvSpPr>
        <p:spPr>
          <a:xfrm>
            <a:off x="9089136" y="3685032"/>
            <a:ext cx="214884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262B"/>
              </a:buClr>
              <a:buSzPts val="1600"/>
              <a:buFont typeface="Play"/>
              <a:buNone/>
            </a:pPr>
            <a:r>
              <a:rPr b="1" i="0" lang="en-US" sz="1600" u="none" cap="none" strike="noStrike">
                <a:solidFill>
                  <a:srgbClr val="24262B"/>
                </a:solidFill>
                <a:latin typeface="Play"/>
                <a:ea typeface="Play"/>
                <a:cs typeface="Play"/>
                <a:sym typeface="Play"/>
              </a:rPr>
              <a:t>Business</a:t>
            </a:r>
            <a:endParaRPr b="0" i="0" sz="1600" u="none" cap="none" strike="noStrike">
              <a:solidFill>
                <a:schemeClr val="dk1"/>
              </a:solidFill>
              <a:latin typeface="Calibri"/>
              <a:ea typeface="Calibri"/>
              <a:cs typeface="Calibri"/>
              <a:sym typeface="Calibri"/>
            </a:endParaRPr>
          </a:p>
        </p:txBody>
      </p:sp>
      <p:sp>
        <p:nvSpPr>
          <p:cNvPr id="347" name="Google Shape;347;p11"/>
          <p:cNvSpPr/>
          <p:nvPr/>
        </p:nvSpPr>
        <p:spPr>
          <a:xfrm>
            <a:off x="9089136" y="4014216"/>
            <a:ext cx="2103120" cy="310896"/>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5F6875"/>
              </a:buClr>
              <a:buSzPts val="1150"/>
              <a:buFont typeface="Arial"/>
              <a:buNone/>
            </a:pPr>
            <a:r>
              <a:rPr b="0" i="0" lang="en-US" sz="1150" u="none" cap="none" strike="noStrike">
                <a:solidFill>
                  <a:srgbClr val="5F6875"/>
                </a:solidFill>
                <a:latin typeface="Arial"/>
                <a:ea typeface="Arial"/>
                <a:cs typeface="Arial"/>
                <a:sym typeface="Arial"/>
              </a:rPr>
              <a:t>Customer support, writing, coding, data analysis</a:t>
            </a:r>
            <a:endParaRPr b="0" i="0" sz="1150" u="none" cap="none" strike="noStrike">
              <a:solidFill>
                <a:schemeClr val="dk1"/>
              </a:solidFill>
              <a:latin typeface="Calibri"/>
              <a:ea typeface="Calibri"/>
              <a:cs typeface="Calibri"/>
              <a:sym typeface="Calibri"/>
            </a:endParaRPr>
          </a:p>
        </p:txBody>
      </p:sp>
      <p:sp>
        <p:nvSpPr>
          <p:cNvPr id="348" name="Google Shape;348;p11"/>
          <p:cNvSpPr/>
          <p:nvPr/>
        </p:nvSpPr>
        <p:spPr>
          <a:xfrm>
            <a:off x="1261872" y="5559552"/>
            <a:ext cx="9646920" cy="475488"/>
          </a:xfrm>
          <a:prstGeom prst="rect">
            <a:avLst/>
          </a:prstGeom>
          <a:solidFill>
            <a:srgbClr val="15171A"/>
          </a:solidFill>
          <a:ln cap="flat" cmpd="sng" w="12700">
            <a:solidFill>
              <a:srgbClr val="E6D8B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11"/>
          <p:cNvSpPr/>
          <p:nvPr/>
        </p:nvSpPr>
        <p:spPr>
          <a:xfrm>
            <a:off x="1463040" y="5705856"/>
            <a:ext cx="923544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Arial"/>
              <a:buNone/>
            </a:pPr>
            <a:r>
              <a:rPr b="1" i="0" lang="en-US" sz="1400" u="none" cap="none" strike="noStrike">
                <a:solidFill>
                  <a:srgbClr val="FFFFFF"/>
                </a:solidFill>
                <a:latin typeface="Arial"/>
                <a:ea typeface="Arial"/>
                <a:cs typeface="Arial"/>
                <a:sym typeface="Arial"/>
              </a:rPr>
              <a:t>The biggest question now is how people can use AI responsibly, fairly, and reliably.</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5171A"/>
        </a:solidFill>
      </p:bgPr>
    </p:bg>
    <p:spTree>
      <p:nvGrpSpPr>
        <p:cNvPr id="354" name="Shape 354"/>
        <p:cNvGrpSpPr/>
        <p:nvPr/>
      </p:nvGrpSpPr>
      <p:grpSpPr>
        <a:xfrm>
          <a:off x="0" y="0"/>
          <a:ext cx="0" cy="0"/>
          <a:chOff x="0" y="0"/>
          <a:chExt cx="0" cy="0"/>
        </a:xfrm>
      </p:grpSpPr>
      <p:sp>
        <p:nvSpPr>
          <p:cNvPr id="355" name="Google Shape;355;p12"/>
          <p:cNvSpPr/>
          <p:nvPr/>
        </p:nvSpPr>
        <p:spPr>
          <a:xfrm>
            <a:off x="0" y="0"/>
            <a:ext cx="12191695" cy="6858000"/>
          </a:xfrm>
          <a:prstGeom prst="rect">
            <a:avLst/>
          </a:prstGeom>
          <a:solidFill>
            <a:srgbClr val="15171A"/>
          </a:solidFill>
          <a:ln cap="flat" cmpd="sng" w="12700">
            <a:solidFill>
              <a:srgbClr val="15171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12"/>
          <p:cNvSpPr/>
          <p:nvPr/>
        </p:nvSpPr>
        <p:spPr>
          <a:xfrm>
            <a:off x="658368" y="502920"/>
            <a:ext cx="5943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000"/>
              <a:buFont typeface="Play"/>
              <a:buNone/>
            </a:pPr>
            <a:r>
              <a:rPr b="1" i="0" lang="en-US" sz="3000" u="none" cap="none" strike="noStrike">
                <a:solidFill>
                  <a:srgbClr val="FFFFFF"/>
                </a:solidFill>
                <a:latin typeface="Play"/>
                <a:ea typeface="Play"/>
                <a:cs typeface="Play"/>
                <a:sym typeface="Play"/>
              </a:rPr>
              <a:t>Conclusion &amp; References</a:t>
            </a:r>
            <a:endParaRPr b="0" i="0" sz="3000" u="none" cap="none" strike="noStrike">
              <a:solidFill>
                <a:schemeClr val="dk1"/>
              </a:solidFill>
              <a:latin typeface="Calibri"/>
              <a:ea typeface="Calibri"/>
              <a:cs typeface="Calibri"/>
              <a:sym typeface="Calibri"/>
            </a:endParaRPr>
          </a:p>
        </p:txBody>
      </p:sp>
      <p:sp>
        <p:nvSpPr>
          <p:cNvPr id="357" name="Google Shape;357;p12"/>
          <p:cNvSpPr/>
          <p:nvPr/>
        </p:nvSpPr>
        <p:spPr>
          <a:xfrm>
            <a:off x="658375" y="1234446"/>
            <a:ext cx="5005200" cy="1434600"/>
          </a:xfrm>
          <a:prstGeom prst="rect">
            <a:avLst/>
          </a:prstGeom>
          <a:solidFill>
            <a:srgbClr val="202329"/>
          </a:solidFill>
          <a:ln cap="flat" cmpd="sng" w="12700">
            <a:solidFill>
              <a:srgbClr val="E6D8B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12"/>
          <p:cNvSpPr/>
          <p:nvPr/>
        </p:nvSpPr>
        <p:spPr>
          <a:xfrm>
            <a:off x="932688" y="1572768"/>
            <a:ext cx="4572000" cy="82296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FFFFFF"/>
              </a:buClr>
              <a:buSzPts val="1550"/>
              <a:buFont typeface="Arial"/>
              <a:buNone/>
            </a:pPr>
            <a:r>
              <a:rPr b="1" i="0" lang="en-US" sz="1550" u="none" cap="none" strike="noStrike">
                <a:solidFill>
                  <a:srgbClr val="FFFFFF"/>
                </a:solidFill>
                <a:latin typeface="Arial"/>
                <a:ea typeface="Arial"/>
                <a:cs typeface="Arial"/>
                <a:sym typeface="Arial"/>
              </a:rPr>
              <a:t>AI developed through cycles of imagination, disappointment, and breakthrough. The strongest advances happened when theory, computing power, data, and real-world needs came together.</a:t>
            </a:r>
            <a:endParaRPr b="0" i="0" sz="1550" u="none" cap="none" strike="noStrike">
              <a:solidFill>
                <a:schemeClr val="dk1"/>
              </a:solidFill>
              <a:latin typeface="Calibri"/>
              <a:ea typeface="Calibri"/>
              <a:cs typeface="Calibri"/>
              <a:sym typeface="Calibri"/>
            </a:endParaRPr>
          </a:p>
        </p:txBody>
      </p:sp>
      <p:sp>
        <p:nvSpPr>
          <p:cNvPr id="359" name="Google Shape;359;p12"/>
          <p:cNvSpPr/>
          <p:nvPr/>
        </p:nvSpPr>
        <p:spPr>
          <a:xfrm>
            <a:off x="6446520" y="960120"/>
            <a:ext cx="26517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A23C"/>
              </a:buClr>
              <a:buSzPts val="2000"/>
              <a:buFont typeface="Play"/>
              <a:buNone/>
            </a:pPr>
            <a:r>
              <a:rPr b="1" i="0" lang="en-US" sz="2000" u="none" cap="none" strike="noStrike">
                <a:solidFill>
                  <a:srgbClr val="E6A23C"/>
                </a:solidFill>
                <a:latin typeface="Play"/>
                <a:ea typeface="Play"/>
                <a:cs typeface="Play"/>
                <a:sym typeface="Play"/>
              </a:rPr>
              <a:t>Reference links</a:t>
            </a:r>
            <a:endParaRPr b="0" i="0" sz="2000" u="none" cap="none" strike="noStrike">
              <a:solidFill>
                <a:schemeClr val="dk1"/>
              </a:solidFill>
              <a:latin typeface="Calibri"/>
              <a:ea typeface="Calibri"/>
              <a:cs typeface="Calibri"/>
              <a:sym typeface="Calibri"/>
            </a:endParaRPr>
          </a:p>
        </p:txBody>
      </p:sp>
      <p:sp>
        <p:nvSpPr>
          <p:cNvPr id="360" name="Google Shape;360;p12"/>
          <p:cNvSpPr/>
          <p:nvPr/>
        </p:nvSpPr>
        <p:spPr>
          <a:xfrm>
            <a:off x="6178050" y="1293100"/>
            <a:ext cx="5529300" cy="3083100"/>
          </a:xfrm>
          <a:prstGeom prst="rect">
            <a:avLst/>
          </a:prstGeom>
          <a:noFill/>
          <a:ln>
            <a:noFill/>
          </a:ln>
        </p:spPr>
        <p:txBody>
          <a:bodyPr anchorCtr="0" anchor="ctr" bIns="500" lIns="500" spcFirstLastPara="1" rIns="500" wrap="square" tIns="500">
            <a:normAutofit/>
          </a:bodyPr>
          <a:lstStyle/>
          <a:p>
            <a:pPr indent="-342900" lvl="0" marL="342900" marR="0" rtl="0" algn="l">
              <a:spcBef>
                <a:spcPts val="0"/>
              </a:spcBef>
              <a:spcAft>
                <a:spcPts val="0"/>
              </a:spcAft>
              <a:buClr>
                <a:srgbClr val="E9E9E9"/>
              </a:buClr>
              <a:buSzPts val="1140"/>
              <a:buFont typeface="Arial"/>
              <a:buChar char="•"/>
            </a:pPr>
            <a:r>
              <a:rPr b="0" i="0" lang="en-US" sz="1140" u="none" cap="none" strike="noStrike">
                <a:solidFill>
                  <a:srgbClr val="E9E9E9"/>
                </a:solidFill>
                <a:latin typeface="Arial"/>
                <a:ea typeface="Arial"/>
                <a:cs typeface="Arial"/>
                <a:sym typeface="Arial"/>
              </a:rPr>
              <a:t>Putchuon - Put You On. The entire history of artificial intelligence: https://www.youtube.com/watch?v=mSd9nmPM7Vg</a:t>
            </a:r>
            <a:endParaRPr b="0" i="0" sz="114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E9E9E9"/>
              </a:buClr>
              <a:buSzPts val="1140"/>
              <a:buFont typeface="Arial"/>
              <a:buChar char="•"/>
            </a:pPr>
            <a:r>
              <a:rPr b="0" i="0" lang="en-US" sz="1140" u="none" cap="none" strike="noStrike">
                <a:solidFill>
                  <a:srgbClr val="E9E9E9"/>
                </a:solidFill>
                <a:latin typeface="Arial"/>
                <a:ea typeface="Arial"/>
                <a:cs typeface="Arial"/>
                <a:sym typeface="Arial"/>
              </a:rPr>
              <a:t>IEEE Computer Society. The evolution of AI: From foundations to future prospects: https://www.computer.org/publications/tech-news/research/evolution-of-ai</a:t>
            </a:r>
            <a:endParaRPr b="0" i="0" sz="114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E9E9E9"/>
              </a:buClr>
              <a:buSzPts val="1140"/>
              <a:buFont typeface="Arial"/>
              <a:buChar char="•"/>
            </a:pPr>
            <a:r>
              <a:rPr b="0" i="0" lang="en-US" sz="1140" u="none" cap="none" strike="noStrike">
                <a:solidFill>
                  <a:srgbClr val="E9E9E9"/>
                </a:solidFill>
                <a:latin typeface="Arial"/>
                <a:ea typeface="Arial"/>
                <a:cs typeface="Arial"/>
                <a:sym typeface="Arial"/>
              </a:rPr>
              <a:t>Our World in Data. A brief history of artificial intelligence: https://ourworldindata.org/brief-history-of-ai</a:t>
            </a:r>
            <a:endParaRPr b="0" i="0" sz="114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E9E9E9"/>
              </a:buClr>
              <a:buSzPts val="1140"/>
              <a:buFont typeface="Arial"/>
              <a:buChar char="•"/>
            </a:pPr>
            <a:r>
              <a:rPr b="0" i="0" lang="en-US" sz="1140" u="none" cap="none" strike="noStrike">
                <a:solidFill>
                  <a:srgbClr val="E9E9E9"/>
                </a:solidFill>
                <a:latin typeface="Arial"/>
                <a:ea typeface="Arial"/>
                <a:cs typeface="Arial"/>
                <a:sym typeface="Arial"/>
              </a:rPr>
              <a:t>OpenAI ChatGPT: used to organize the timeline and polish wordin</a:t>
            </a:r>
            <a:r>
              <a:rPr lang="en-US" sz="1140">
                <a:solidFill>
                  <a:srgbClr val="E9E9E9"/>
                </a:solidFill>
              </a:rPr>
              <a:t>g.</a:t>
            </a:r>
            <a:endParaRPr b="0" i="0" sz="1140" u="none" cap="none" strike="noStrike">
              <a:solidFill>
                <a:schemeClr val="dk1"/>
              </a:solidFill>
              <a:latin typeface="Calibri"/>
              <a:ea typeface="Calibri"/>
              <a:cs typeface="Calibri"/>
              <a:sym typeface="Calibri"/>
            </a:endParaRPr>
          </a:p>
        </p:txBody>
      </p:sp>
      <p:sp>
        <p:nvSpPr>
          <p:cNvPr id="361" name="Google Shape;361;p12"/>
          <p:cNvSpPr/>
          <p:nvPr/>
        </p:nvSpPr>
        <p:spPr>
          <a:xfrm>
            <a:off x="658368" y="4709160"/>
            <a:ext cx="10789920" cy="502920"/>
          </a:xfrm>
          <a:prstGeom prst="rect">
            <a:avLst/>
          </a:prstGeom>
          <a:solidFill>
            <a:srgbClr val="2A9D8F"/>
          </a:solidFill>
          <a:ln cap="flat" cmpd="sng" w="12700">
            <a:solidFill>
              <a:srgbClr val="E6D8B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12"/>
          <p:cNvSpPr/>
          <p:nvPr/>
        </p:nvSpPr>
        <p:spPr>
          <a:xfrm>
            <a:off x="868680" y="4855464"/>
            <a:ext cx="10378440" cy="18288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FFFFFF"/>
              </a:buClr>
              <a:buSzPts val="1350"/>
              <a:buFont typeface="Arial"/>
              <a:buNone/>
            </a:pPr>
            <a:r>
              <a:rPr b="1" i="0" lang="en-US" sz="1350" u="none" cap="none" strike="noStrike">
                <a:solidFill>
                  <a:srgbClr val="FFFFFF"/>
                </a:solidFill>
                <a:latin typeface="Arial"/>
                <a:ea typeface="Arial"/>
                <a:cs typeface="Arial"/>
                <a:sym typeface="Arial"/>
              </a:rPr>
              <a:t>AI is no longer just a research topic. It is becoming a core technology that shapes learning, work, creativity, and problem solving.</a:t>
            </a:r>
            <a:endParaRPr b="0" i="0" sz="135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2026-07-04T02:53:50Z</dcterms:created>
  <dc:creator>Kinjal Desai</dc:creator>
</cp:coreProperties>
</file>