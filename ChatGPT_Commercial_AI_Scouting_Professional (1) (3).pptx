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717b0fd51_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f717b0fd51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717b0fd51_5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f717b0fd51_5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12160"/>
            <a:ext cx="12191700" cy="6858000"/>
          </a:xfrm>
          <a:prstGeom prst="rect">
            <a:avLst/>
          </a:prstGeom>
          <a:solidFill>
            <a:srgbClr val="172A40"/>
          </a:solidFill>
          <a:ln cap="flat" cmpd="sng" w="9525">
            <a:solidFill>
              <a:srgbClr val="172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8321040" y="914400"/>
            <a:ext cx="2286000" cy="2286000"/>
          </a:xfrm>
          <a:prstGeom prst="ellipse">
            <a:avLst/>
          </a:prstGeom>
          <a:solidFill>
            <a:srgbClr val="10A37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9921240" y="1874519"/>
            <a:ext cx="1143000" cy="1143000"/>
          </a:xfrm>
          <a:prstGeom prst="ellipse">
            <a:avLst/>
          </a:prstGeom>
          <a:solidFill>
            <a:srgbClr val="4974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7818120" y="2971800"/>
            <a:ext cx="822960" cy="822960"/>
          </a:xfrm>
          <a:prstGeom prst="ellipse">
            <a:avLst/>
          </a:prstGeom>
          <a:solidFill>
            <a:srgbClr val="7D5B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0561320" y="685800"/>
            <a:ext cx="502920" cy="502920"/>
          </a:xfrm>
          <a:prstGeom prst="ellipse">
            <a:avLst/>
          </a:prstGeom>
          <a:solidFill>
            <a:srgbClr val="F19D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13"/>
          <p:cNvCxnSpPr/>
          <p:nvPr/>
        </p:nvCxnSpPr>
        <p:spPr>
          <a:xfrm>
            <a:off x="8732520" y="2057400"/>
            <a:ext cx="1508760" cy="365760"/>
          </a:xfrm>
          <a:prstGeom prst="straightConnector1">
            <a:avLst/>
          </a:prstGeom>
          <a:noFill/>
          <a:ln cap="flat" cmpd="sng" w="19050">
            <a:solidFill>
              <a:srgbClr val="9BBE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0" name="Google Shape;90;p13"/>
          <p:cNvCxnSpPr/>
          <p:nvPr/>
        </p:nvCxnSpPr>
        <p:spPr>
          <a:xfrm flipH="1">
            <a:off x="8229600" y="2057400"/>
            <a:ext cx="502920" cy="1325880"/>
          </a:xfrm>
          <a:prstGeom prst="straightConnector1">
            <a:avLst/>
          </a:prstGeom>
          <a:noFill/>
          <a:ln cap="flat" cmpd="sng" w="19050">
            <a:solidFill>
              <a:srgbClr val="9BBE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1" name="Google Shape;91;p13"/>
          <p:cNvCxnSpPr/>
          <p:nvPr/>
        </p:nvCxnSpPr>
        <p:spPr>
          <a:xfrm flipH="1" rot="10800000">
            <a:off x="10241280" y="914400"/>
            <a:ext cx="594360" cy="1508760"/>
          </a:xfrm>
          <a:prstGeom prst="straightConnector1">
            <a:avLst/>
          </a:prstGeom>
          <a:noFill/>
          <a:ln cap="flat" cmpd="sng" w="19050">
            <a:solidFill>
              <a:srgbClr val="9BBE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2" name="Google Shape;92;p13"/>
          <p:cNvCxnSpPr/>
          <p:nvPr/>
        </p:nvCxnSpPr>
        <p:spPr>
          <a:xfrm flipH="1" rot="10800000">
            <a:off x="8229600" y="2423160"/>
            <a:ext cx="2011680" cy="960120"/>
          </a:xfrm>
          <a:prstGeom prst="straightConnector1">
            <a:avLst/>
          </a:prstGeom>
          <a:noFill/>
          <a:ln cap="flat" cmpd="sng" w="19050">
            <a:solidFill>
              <a:srgbClr val="9BBE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3" name="Google Shape;93;p13"/>
          <p:cNvSpPr txBox="1"/>
          <p:nvPr/>
        </p:nvSpPr>
        <p:spPr>
          <a:xfrm>
            <a:off x="768096" y="1828800"/>
            <a:ext cx="594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BFE7DC"/>
                </a:solidFill>
                <a:latin typeface="Arial"/>
                <a:ea typeface="Arial"/>
                <a:cs typeface="Arial"/>
                <a:sym typeface="Arial"/>
              </a:rPr>
              <a:t>Commercial AI Scouting</a:t>
            </a:r>
            <a:endParaRPr sz="1800"/>
          </a:p>
        </p:txBody>
      </p:sp>
      <p:sp>
        <p:nvSpPr>
          <p:cNvPr id="94" name="Google Shape;94;p13"/>
          <p:cNvSpPr txBox="1"/>
          <p:nvPr/>
        </p:nvSpPr>
        <p:spPr>
          <a:xfrm>
            <a:off x="768096" y="2651760"/>
            <a:ext cx="6126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AI tools creates value across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300">
                <a:solidFill>
                  <a:srgbClr val="5DD2B5"/>
                </a:solidFill>
              </a:rPr>
              <a:t>Healthcare, Marketing, and Software Development</a:t>
            </a:r>
            <a:endParaRPr>
              <a:solidFill>
                <a:srgbClr val="5DD2B5"/>
              </a:solidFill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768096" y="4023360"/>
            <a:ext cx="594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1300">
                <a:solidFill>
                  <a:srgbClr val="5DD2B5"/>
                </a:solidFill>
              </a:rPr>
              <a:t>ChatGPT • GitHub Copilot • Banjo Health</a:t>
            </a:r>
            <a:endParaRPr b="1" sz="1300">
              <a:solidFill>
                <a:srgbClr val="5DD2B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DD2B5"/>
                </a:solidFill>
              </a:rPr>
              <a:t>Generative AI • Coding Assistance • Healthcare Automation </a:t>
            </a:r>
            <a:endParaRPr b="1" sz="1300">
              <a:solidFill>
                <a:srgbClr val="5DD2B5"/>
              </a:solidFill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68100" y="4790922"/>
            <a:ext cx="48462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8C6D9"/>
                </a:solidFill>
                <a:latin typeface="Arial"/>
                <a:ea typeface="Arial"/>
                <a:cs typeface="Arial"/>
                <a:sym typeface="Arial"/>
              </a:rPr>
              <a:t>Workshop 6.3  |  Group </a:t>
            </a:r>
            <a:r>
              <a:rPr b="1" lang="en-US" sz="1100">
                <a:solidFill>
                  <a:srgbClr val="B8C6D9"/>
                </a:solidFill>
              </a:rPr>
              <a:t>2</a:t>
            </a:r>
            <a:endParaRPr b="1" sz="1100">
              <a:solidFill>
                <a:srgbClr val="B8C6D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B8C6D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8C6D9"/>
                </a:solidFill>
              </a:rPr>
              <a:t>Sohaib Mahmood</a:t>
            </a:r>
            <a:endParaRPr b="1" sz="1100">
              <a:solidFill>
                <a:srgbClr val="B8C6D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8C6D9"/>
                </a:solidFill>
              </a:rPr>
              <a:t>Kinjal Desai</a:t>
            </a:r>
            <a:endParaRPr b="1" sz="1100">
              <a:solidFill>
                <a:srgbClr val="B8C6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8C6D9"/>
                </a:solidFill>
              </a:rPr>
              <a:t>Tejasree Gajjala</a:t>
            </a:r>
            <a:endParaRPr b="1" sz="1100">
              <a:solidFill>
                <a:srgbClr val="B8C6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8C6D9"/>
                </a:solidFill>
              </a:rPr>
              <a:t>Amit Sonagra</a:t>
            </a:r>
            <a:endParaRPr b="1" sz="1100">
              <a:solidFill>
                <a:srgbClr val="B8C6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00">
                <a:solidFill>
                  <a:srgbClr val="B8C6D9"/>
                </a:solidFill>
              </a:rPr>
              <a:t>Sai Sowmith Reddy Kistipati</a:t>
            </a:r>
            <a:endParaRPr b="1" sz="1100">
              <a:solidFill>
                <a:srgbClr val="B8C6D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8C6D9"/>
                </a:solidFill>
              </a:rPr>
              <a:t>Vishwana Gopalapuram</a:t>
            </a:r>
            <a:br>
              <a:rPr b="1" lang="en-US" sz="1100">
                <a:solidFill>
                  <a:srgbClr val="B8C6D9"/>
                </a:solidFill>
              </a:rPr>
            </a:br>
            <a:endParaRPr b="1" sz="1100">
              <a:solidFill>
                <a:srgbClr val="B8C6D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B8C6D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F7F9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90943" y="146448"/>
            <a:ext cx="1088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2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 </a:t>
            </a:r>
            <a:r>
              <a:rPr b="1" lang="en-US" sz="2700">
                <a:solidFill>
                  <a:srgbClr val="172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i="0" lang="en-US" sz="2700" u="none" cap="none" strike="noStrike">
                <a:solidFill>
                  <a:srgbClr val="172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Connections: </a:t>
            </a:r>
            <a:r>
              <a:rPr b="1" lang="en-US" sz="2700">
                <a:solidFill>
                  <a:srgbClr val="172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ChatGPT, Copilot, &amp; Banjo Health</a:t>
            </a:r>
            <a:endParaRPr b="1" sz="2700">
              <a:solidFill>
                <a:srgbClr val="172A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58368" y="1005840"/>
            <a:ext cx="658368" cy="50292"/>
          </a:xfrm>
          <a:prstGeom prst="rect">
            <a:avLst/>
          </a:prstGeom>
          <a:solidFill>
            <a:srgbClr val="10A37F"/>
          </a:solidFill>
          <a:ln cap="flat" cmpd="sng" w="9525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58368" y="1143000"/>
            <a:ext cx="10789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B687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commercial generative AI tool our group can discuss from direct, everyday use.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731520" y="1691640"/>
            <a:ext cx="3383280" cy="4160520"/>
          </a:xfrm>
          <a:prstGeom prst="roundRect">
            <a:avLst>
              <a:gd fmla="val 16667" name="adj"/>
            </a:avLst>
          </a:prstGeom>
          <a:solidFill>
            <a:srgbClr val="E7F8F3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731520" y="1691640"/>
            <a:ext cx="59436" cy="4160520"/>
          </a:xfrm>
          <a:prstGeom prst="rect">
            <a:avLst/>
          </a:prstGeom>
          <a:solidFill>
            <a:srgbClr val="10A37F"/>
          </a:solidFill>
          <a:ln cap="flat" cmpd="sng" w="9525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90938" y="1856232"/>
            <a:ext cx="30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What is it?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932688" y="2286000"/>
            <a:ext cx="2999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follow natural-language instructions and help with brainstorming, writing, studying, coding, file/image analysis, and more.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4407408" y="1691640"/>
            <a:ext cx="3383280" cy="4160520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4407408" y="1691640"/>
            <a:ext cx="59436" cy="4160520"/>
          </a:xfrm>
          <a:prstGeom prst="rect">
            <a:avLst/>
          </a:prstGeom>
          <a:solidFill>
            <a:srgbClr val="4974FF"/>
          </a:solidFill>
          <a:ln cap="flat" cmpd="sng" w="9525">
            <a:solidFill>
              <a:srgbClr val="497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608576" y="1856232"/>
            <a:ext cx="30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Where is it used?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4608576" y="2286000"/>
            <a:ext cx="29991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development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operations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support</a:t>
            </a:r>
            <a:b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Its broad interface makes it useful across many knowledge-work roles.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8083296" y="1691640"/>
            <a:ext cx="3383280" cy="416052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8083296" y="1691640"/>
            <a:ext cx="59436" cy="4160520"/>
          </a:xfrm>
          <a:prstGeom prst="rect">
            <a:avLst/>
          </a:prstGeom>
          <a:solidFill>
            <a:srgbClr val="7D5BC2"/>
          </a:solidFill>
          <a:ln cap="flat" cmpd="sng" w="9525">
            <a:solidFill>
              <a:srgbClr val="7D5BC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8284464" y="1856232"/>
            <a:ext cx="30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Why is it valuable?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8284464" y="2286000"/>
            <a:ext cx="29991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reduces the time required to move from a question to a usable first output.</a:t>
            </a:r>
            <a:b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personal use:</a:t>
            </a:r>
            <a:b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esearch</a:t>
            </a:r>
            <a:b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rainstorming</a:t>
            </a:r>
            <a:b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resentations</a:t>
            </a:r>
            <a:b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mproving written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914400" y="6016752"/>
            <a:ext cx="1033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2A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VALUE: faster access to ideas, drafts, explanations and analysis — with human review.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658368" y="6473952"/>
            <a:ext cx="9784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50" u="none" cap="none" strike="noStrike">
                <a:solidFill>
                  <a:srgbClr val="5B687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ACTIVITY 1  •  COMMERCIAL AI SCOUTING  •  AUG 14,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5017800" y="3604725"/>
            <a:ext cx="702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F7F9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58368" y="384048"/>
            <a:ext cx="1088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Step 2 </a:t>
            </a:r>
            <a:r>
              <a:rPr b="1" lang="en-US" sz="2700">
                <a:solidFill>
                  <a:srgbClr val="172A40"/>
                </a:solidFill>
              </a:rPr>
              <a:t>:</a:t>
            </a:r>
            <a:r>
              <a:rPr b="1" i="0" lang="en-US" sz="270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 What Makes </a:t>
            </a:r>
            <a:r>
              <a:rPr b="1" lang="en-US" sz="2700">
                <a:solidFill>
                  <a:srgbClr val="172A40"/>
                </a:solidFill>
              </a:rPr>
              <a:t>AI-tools</a:t>
            </a:r>
            <a:r>
              <a:rPr b="1" i="0" lang="en-US" sz="270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 Commercially Valuable?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658368" y="1005840"/>
            <a:ext cx="658368" cy="50292"/>
          </a:xfrm>
          <a:prstGeom prst="rect">
            <a:avLst/>
          </a:prstGeom>
          <a:solidFill>
            <a:srgbClr val="10A37F"/>
          </a:solidFill>
          <a:ln cap="flat" cmpd="sng" w="9525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58368" y="1143000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AI becomes commercially valuable when it improves a business outcome that can be measured.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749808" y="1645920"/>
            <a:ext cx="333756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978407" y="2029968"/>
            <a:ext cx="685800" cy="685800"/>
          </a:xfrm>
          <a:prstGeom prst="ellipse">
            <a:avLst/>
          </a:prstGeom>
          <a:solidFill>
            <a:srgbClr val="10A37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978407" y="2203704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847088" y="190195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847102" y="2377450"/>
            <a:ext cx="224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5B6878"/>
                </a:solidFill>
              </a:rPr>
              <a:t>Real Estate</a:t>
            </a:r>
            <a:endParaRPr sz="1150">
              <a:solidFill>
                <a:srgbClr val="5B68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5B6878"/>
                </a:solidFill>
              </a:rPr>
              <a:t>Manual listings →</a:t>
            </a:r>
            <a:endParaRPr sz="1150">
              <a:solidFill>
                <a:srgbClr val="5B68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5B6878"/>
                </a:solidFill>
              </a:rPr>
              <a:t>Quick drafts</a:t>
            </a:r>
            <a:endParaRPr sz="1150">
              <a:solidFill>
                <a:srgbClr val="5B68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B6878"/>
              </a:solidFill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4544568" y="1645920"/>
            <a:ext cx="333756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4773168" y="2029968"/>
            <a:ext cx="685800" cy="685800"/>
          </a:xfrm>
          <a:prstGeom prst="ellipse">
            <a:avLst/>
          </a:prstGeom>
          <a:solidFill>
            <a:srgbClr val="4974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4773168" y="2203704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5641848" y="190195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PRODUCTIVITY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5641850" y="2377450"/>
            <a:ext cx="2128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5B6878"/>
                </a:solidFill>
              </a:rPr>
              <a:t>Education</a:t>
            </a:r>
            <a:endParaRPr sz="1150">
              <a:solidFill>
                <a:srgbClr val="5B68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5B6878"/>
                </a:solidFill>
              </a:rPr>
              <a:t>Manual quizzes →</a:t>
            </a:r>
            <a:endParaRPr sz="1150">
              <a:solidFill>
                <a:srgbClr val="5B68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5B6878"/>
                </a:solidFill>
              </a:rPr>
              <a:t>Faster generation</a:t>
            </a:r>
            <a:endParaRPr sz="1150">
              <a:solidFill>
                <a:srgbClr val="5B6878"/>
              </a:solidFill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8339328" y="1645920"/>
            <a:ext cx="333756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8567928" y="2029968"/>
            <a:ext cx="685800" cy="685800"/>
          </a:xfrm>
          <a:prstGeom prst="ellipse">
            <a:avLst/>
          </a:prstGeom>
          <a:solidFill>
            <a:srgbClr val="7D5B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8567928" y="2203704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9436608" y="190195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9436600" y="2377450"/>
            <a:ext cx="218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5B6878"/>
                </a:solidFill>
              </a:rPr>
              <a:t>Logistics</a:t>
            </a:r>
            <a:endParaRPr sz="1150">
              <a:solidFill>
                <a:srgbClr val="5B68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5B6878"/>
                </a:solidFill>
              </a:rPr>
              <a:t>Manual shipment updates → Automatic updates</a:t>
            </a:r>
            <a:endParaRPr sz="1150">
              <a:solidFill>
                <a:srgbClr val="5B68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B6878"/>
              </a:solidFill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749808" y="3703320"/>
            <a:ext cx="333756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978407" y="4087368"/>
            <a:ext cx="685800" cy="685800"/>
          </a:xfrm>
          <a:prstGeom prst="ellipse">
            <a:avLst/>
          </a:prstGeom>
          <a:solidFill>
            <a:srgbClr val="F19D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978407" y="4261104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1847088" y="395935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DECISIONS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1847088" y="4434840"/>
            <a:ext cx="1965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5B6878"/>
                </a:solidFill>
              </a:rPr>
              <a:t>Finance</a:t>
            </a:r>
            <a:endParaRPr sz="1150">
              <a:solidFill>
                <a:srgbClr val="5B68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5B6878"/>
                </a:solidFill>
              </a:rPr>
              <a:t>Lengthy reports →</a:t>
            </a:r>
            <a:endParaRPr sz="1150">
              <a:solidFill>
                <a:srgbClr val="5B68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5B6878"/>
                </a:solidFill>
              </a:rPr>
              <a:t>Key insights</a:t>
            </a:r>
            <a:endParaRPr sz="1150">
              <a:solidFill>
                <a:srgbClr val="5B6878"/>
              </a:solidFill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4544568" y="3703320"/>
            <a:ext cx="333756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4773168" y="4087368"/>
            <a:ext cx="685800" cy="685800"/>
          </a:xfrm>
          <a:prstGeom prst="ellipse">
            <a:avLst/>
          </a:prstGeom>
          <a:solidFill>
            <a:srgbClr val="10A37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4773168" y="4261104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5641848" y="395935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EXPERIENCE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5641848" y="4434840"/>
            <a:ext cx="1965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5B6878"/>
                </a:solidFill>
              </a:rPr>
              <a:t>Hospitality</a:t>
            </a:r>
            <a:endParaRPr sz="1150">
              <a:solidFill>
                <a:srgbClr val="5B68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5B6878"/>
                </a:solidFill>
              </a:rPr>
              <a:t>Guests wait → </a:t>
            </a:r>
            <a:endParaRPr sz="1150">
              <a:solidFill>
                <a:srgbClr val="5B68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5B6878"/>
                </a:solidFill>
              </a:rPr>
              <a:t>Instant support</a:t>
            </a:r>
            <a:endParaRPr sz="1150">
              <a:solidFill>
                <a:srgbClr val="5B6878"/>
              </a:solidFill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8339328" y="3703320"/>
            <a:ext cx="333756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8567928" y="4087368"/>
            <a:ext cx="685800" cy="685800"/>
          </a:xfrm>
          <a:prstGeom prst="ellipse">
            <a:avLst/>
          </a:prstGeom>
          <a:solidFill>
            <a:srgbClr val="4974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8567928" y="4261104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9436608" y="395935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INNOVATION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9436608" y="4434840"/>
            <a:ext cx="1965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5B6878"/>
                </a:solidFill>
              </a:rPr>
              <a:t>Manufacturing</a:t>
            </a:r>
            <a:endParaRPr sz="1150">
              <a:solidFill>
                <a:srgbClr val="5B68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5B6878"/>
                </a:solidFill>
              </a:rPr>
              <a:t>Slow brainstorming →</a:t>
            </a:r>
            <a:endParaRPr sz="1150">
              <a:solidFill>
                <a:srgbClr val="5B68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50">
                <a:solidFill>
                  <a:srgbClr val="5B6878"/>
                </a:solidFill>
              </a:rPr>
              <a:t>Rapid ideas</a:t>
            </a:r>
            <a:endParaRPr sz="1150">
              <a:solidFill>
                <a:srgbClr val="5B6878"/>
              </a:solidFill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929538" y="5621073"/>
            <a:ext cx="10332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Commercial value ≠ “AI is impressive.” </a:t>
            </a:r>
            <a:endParaRPr b="1" sz="1350">
              <a:solidFill>
                <a:srgbClr val="172A40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Commercial value = AI changes cost, speed, quality, revenue, risk, or customer experience.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658368" y="6473952"/>
            <a:ext cx="9784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GROUP ACTIVITY 1  •  COMMERCIAL AI SCOUTING  •  AUG 14, 2026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F7F9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58368" y="384048"/>
            <a:ext cx="1088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Step 3A </a:t>
            </a:r>
            <a:r>
              <a:rPr b="1" lang="en-US" sz="2700">
                <a:solidFill>
                  <a:srgbClr val="172A40"/>
                </a:solidFill>
              </a:rPr>
              <a:t>:</a:t>
            </a:r>
            <a:r>
              <a:rPr b="1" i="0" lang="en-US" sz="270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700">
                <a:solidFill>
                  <a:srgbClr val="172A40"/>
                </a:solidFill>
              </a:rPr>
              <a:t>HealthCare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658368" y="1005840"/>
            <a:ext cx="658368" cy="50292"/>
          </a:xfrm>
          <a:prstGeom prst="rect">
            <a:avLst/>
          </a:prstGeom>
          <a:solidFill>
            <a:srgbClr val="10A37F"/>
          </a:solidFill>
          <a:ln cap="flat" cmpd="sng" w="9525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658368" y="1143000"/>
            <a:ext cx="1078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B6878"/>
                </a:solidFill>
              </a:rPr>
              <a:t>Navitus uses Banjo Health to support prior authorization, appeals and grievances across employer and health-plan business lines, including Medicare and Medicaid. </a:t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731520" y="1600200"/>
            <a:ext cx="3383280" cy="1874519"/>
          </a:xfrm>
          <a:prstGeom prst="roundRect">
            <a:avLst>
              <a:gd fmla="val 16667" name="adj"/>
            </a:avLst>
          </a:prstGeom>
          <a:solidFill>
            <a:srgbClr val="E7F8F3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731520" y="1600200"/>
            <a:ext cx="59436" cy="1874519"/>
          </a:xfrm>
          <a:prstGeom prst="rect">
            <a:avLst/>
          </a:prstGeom>
          <a:solidFill>
            <a:srgbClr val="10A37F"/>
          </a:solidFill>
          <a:ln cap="flat" cmpd="sng" w="9525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932688" y="1764792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What does it do?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932688" y="2194560"/>
            <a:ext cx="2999100" cy="1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Uses AI and NLP to extract clinical information from prior authorization requests and compare it with predefined clinical criteria.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"/>
          <p:cNvSpPr/>
          <p:nvPr/>
        </p:nvSpPr>
        <p:spPr>
          <a:xfrm>
            <a:off x="731520" y="3703320"/>
            <a:ext cx="3383280" cy="1874519"/>
          </a:xfrm>
          <a:prstGeom prst="roundRect">
            <a:avLst>
              <a:gd fmla="val 16667" name="adj"/>
            </a:avLst>
          </a:prstGeom>
          <a:solidFill>
            <a:srgbClr val="FFF4E9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731520" y="3703320"/>
            <a:ext cx="59436" cy="1874519"/>
          </a:xfrm>
          <a:prstGeom prst="rect">
            <a:avLst/>
          </a:prstGeom>
          <a:solidFill>
            <a:srgbClr val="F19D52"/>
          </a:solidFill>
          <a:ln cap="flat" cmpd="sng" w="9525">
            <a:solidFill>
              <a:srgbClr val="F19D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932688" y="3867911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Business problem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932688" y="4297680"/>
            <a:ext cx="2999100" cy="11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80">
                <a:solidFill>
                  <a:srgbClr val="141C28"/>
                </a:solidFill>
              </a:rPr>
              <a:t>PA reviews can involve time-consuming manual collection and review of clinical information, creating administrative burden and delays.</a:t>
            </a:r>
            <a:endParaRPr sz="1180">
              <a:solidFill>
                <a:srgbClr val="141C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0">
              <a:solidFill>
                <a:srgbClr val="141C28"/>
              </a:solidFill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4407408" y="1600200"/>
            <a:ext cx="3383280" cy="1874519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4407408" y="1600200"/>
            <a:ext cx="59436" cy="1874519"/>
          </a:xfrm>
          <a:prstGeom prst="rect">
            <a:avLst/>
          </a:prstGeom>
          <a:solidFill>
            <a:srgbClr val="4974FF"/>
          </a:solidFill>
          <a:ln cap="flat" cmpd="sng" w="9525">
            <a:solidFill>
              <a:srgbClr val="497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4608576" y="1764792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Process changed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4608576" y="2194560"/>
            <a:ext cx="29991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Automates parts of the </a:t>
            </a:r>
            <a:r>
              <a:rPr b="1" lang="en-US" sz="1100">
                <a:solidFill>
                  <a:schemeClr val="dk1"/>
                </a:solidFill>
              </a:rPr>
              <a:t>prior authorization, appeals and grievance</a:t>
            </a:r>
            <a:r>
              <a:rPr lang="en-US" sz="1100">
                <a:solidFill>
                  <a:schemeClr val="dk1"/>
                </a:solidFill>
              </a:rPr>
              <a:t> workflow that traditionally require manual data review.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4407408" y="3703320"/>
            <a:ext cx="3383280" cy="1874519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4407408" y="3703320"/>
            <a:ext cx="59436" cy="1874519"/>
          </a:xfrm>
          <a:prstGeom prst="rect">
            <a:avLst/>
          </a:prstGeom>
          <a:solidFill>
            <a:srgbClr val="7D5BC2"/>
          </a:solidFill>
          <a:ln cap="flat" cmpd="sng" w="9525">
            <a:solidFill>
              <a:srgbClr val="7D5BC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4608576" y="3867911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Decision-making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4608576" y="4297680"/>
            <a:ext cx="29991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AI evaluates information against clinical criteria and can recommend </a:t>
            </a:r>
            <a:r>
              <a:rPr b="1" lang="en-US" sz="1100">
                <a:solidFill>
                  <a:schemeClr val="dk1"/>
                </a:solidFill>
              </a:rPr>
              <a:t>Approve, Deny or More Information</a:t>
            </a:r>
            <a:r>
              <a:rPr lang="en-US" sz="1100">
                <a:solidFill>
                  <a:schemeClr val="dk1"/>
                </a:solidFill>
              </a:rPr>
              <a:t>. Clinical experts retain the final decision.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0">
              <a:solidFill>
                <a:srgbClr val="141C28"/>
              </a:solidFill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8083296" y="1600200"/>
            <a:ext cx="3383280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8083296" y="1600200"/>
            <a:ext cx="59436" cy="1874519"/>
          </a:xfrm>
          <a:prstGeom prst="rect">
            <a:avLst/>
          </a:prstGeom>
          <a:solidFill>
            <a:srgbClr val="10A37F"/>
          </a:solidFill>
          <a:ln cap="flat" cmpd="sng" w="9525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8284464" y="1764792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Who benefits?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8284464" y="2194560"/>
            <a:ext cx="29991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Members • Prescribers • Clinical reviewers • Health plans • PBMs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0">
              <a:solidFill>
                <a:srgbClr val="141C28"/>
              </a:solidFill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8083296" y="3703320"/>
            <a:ext cx="3383280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8083296" y="3703320"/>
            <a:ext cx="59436" cy="1874519"/>
          </a:xfrm>
          <a:prstGeom prst="rect">
            <a:avLst/>
          </a:prstGeom>
          <a:solidFill>
            <a:srgbClr val="4974FF"/>
          </a:solidFill>
          <a:ln cap="flat" cmpd="sng" w="9525">
            <a:solidFill>
              <a:srgbClr val="497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8284464" y="3867911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Future potential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8284464" y="4297680"/>
            <a:ext cx="2999100" cy="11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80">
                <a:solidFill>
                  <a:srgbClr val="141C28"/>
                </a:solidFill>
              </a:rPr>
              <a:t>Greater automation could shorten turnaround times, reduce repetitive work and make utilization-management processes more consistent and scalable.</a:t>
            </a:r>
            <a:endParaRPr sz="1180">
              <a:solidFill>
                <a:srgbClr val="141C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0">
              <a:solidFill>
                <a:srgbClr val="141C28"/>
              </a:solidFill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468575" y="5971000"/>
            <a:ext cx="112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WHAT CHANGES?  </a:t>
            </a:r>
            <a:r>
              <a:rPr b="1" lang="en-US">
                <a:solidFill>
                  <a:srgbClr val="172A40"/>
                </a:solidFill>
              </a:rPr>
              <a:t>Prior authorization becomes faster, more automated and consistent while keeping clinical experts in control.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F7F9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658368" y="384048"/>
            <a:ext cx="1088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Step 3B </a:t>
            </a:r>
            <a:r>
              <a:rPr b="1" lang="en-US" sz="2700">
                <a:solidFill>
                  <a:srgbClr val="172A40"/>
                </a:solidFill>
              </a:rPr>
              <a:t>:</a:t>
            </a:r>
            <a:r>
              <a:rPr b="1" i="0" lang="en-US" sz="270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 Marketing</a:t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658368" y="1005840"/>
            <a:ext cx="658368" cy="50292"/>
          </a:xfrm>
          <a:prstGeom prst="rect">
            <a:avLst/>
          </a:prstGeom>
          <a:solidFill>
            <a:srgbClr val="10A37F"/>
          </a:solidFill>
          <a:ln cap="flat" cmpd="sng" w="9525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4594850" y="588450"/>
            <a:ext cx="676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In the </a:t>
            </a:r>
            <a:r>
              <a:rPr b="1" lang="en-US" sz="1300">
                <a:solidFill>
                  <a:schemeClr val="dk1"/>
                </a:solidFill>
              </a:rPr>
              <a:t>marketing analytics team</a:t>
            </a:r>
            <a:r>
              <a:rPr lang="en-US" sz="1300">
                <a:solidFill>
                  <a:schemeClr val="dk1"/>
                </a:solidFill>
              </a:rPr>
              <a:t>, I use </a:t>
            </a:r>
            <a:r>
              <a:rPr b="1" lang="en-US" sz="1300">
                <a:solidFill>
                  <a:schemeClr val="dk1"/>
                </a:solidFill>
              </a:rPr>
              <a:t>ChatGPT</a:t>
            </a:r>
            <a:r>
              <a:rPr lang="en-US" sz="1300">
                <a:solidFill>
                  <a:schemeClr val="dk1"/>
                </a:solidFill>
              </a:rPr>
              <a:t> to support campaign development and customer targeting or personalization. 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777240" y="1645920"/>
            <a:ext cx="3291900" cy="713100"/>
          </a:xfrm>
          <a:prstGeom prst="trapezoid">
            <a:avLst>
              <a:gd fmla="val 25000" name="adj"/>
            </a:avLst>
          </a:prstGeom>
          <a:solidFill>
            <a:srgbClr val="5B68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868680" y="1837944"/>
            <a:ext cx="3108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 / </a:t>
            </a:r>
            <a:r>
              <a:rPr b="1" lang="en-US" sz="1050">
                <a:solidFill>
                  <a:srgbClr val="FFFFFF"/>
                </a:solidFill>
              </a:rPr>
              <a:t>Segmentation</a:t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1028700" y="2606040"/>
            <a:ext cx="2788800" cy="713100"/>
          </a:xfrm>
          <a:prstGeom prst="trapezoid">
            <a:avLst>
              <a:gd fmla="val 25000" name="adj"/>
            </a:avLst>
          </a:prstGeom>
          <a:solidFill>
            <a:srgbClr val="4974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1120140" y="2798064"/>
            <a:ext cx="260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Ideas</a:t>
            </a:r>
            <a:r>
              <a:rPr b="1" lang="en-US" sz="1050">
                <a:solidFill>
                  <a:srgbClr val="FFFFFF"/>
                </a:solidFill>
              </a:rPr>
              <a:t> for segmentation</a:t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1280160" y="3566160"/>
            <a:ext cx="2286000" cy="713100"/>
          </a:xfrm>
          <a:prstGeom prst="trapezoid">
            <a:avLst>
              <a:gd fmla="val 25000" name="adj"/>
            </a:avLst>
          </a:prstGeom>
          <a:solidFill>
            <a:srgbClr val="F19D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1371600" y="3758184"/>
            <a:ext cx="210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Offer Design</a:t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1531620" y="4526280"/>
            <a:ext cx="1783080" cy="713232"/>
          </a:xfrm>
          <a:prstGeom prst="trapezoid">
            <a:avLst>
              <a:gd fmla="val 25000" name="adj"/>
            </a:avLst>
          </a:prstGeom>
          <a:solidFill>
            <a:srgbClr val="10A37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1623060" y="4718304"/>
            <a:ext cx="1600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Publis</a:t>
            </a:r>
            <a:r>
              <a:rPr b="1" lang="en-US" sz="1050">
                <a:solidFill>
                  <a:srgbClr val="FFFFFF"/>
                </a:solidFill>
              </a:rPr>
              <a:t>h and Market</a:t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4572000" y="1645920"/>
            <a:ext cx="3108960" cy="1691640"/>
          </a:xfrm>
          <a:prstGeom prst="roundRect">
            <a:avLst>
              <a:gd fmla="val 16667" name="adj"/>
            </a:avLst>
          </a:prstGeom>
          <a:solidFill>
            <a:srgbClr val="FFF4E9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4572000" y="1645920"/>
            <a:ext cx="59436" cy="1691640"/>
          </a:xfrm>
          <a:prstGeom prst="rect">
            <a:avLst/>
          </a:prstGeom>
          <a:solidFill>
            <a:srgbClr val="F19D52"/>
          </a:solidFill>
          <a:ln cap="flat" cmpd="sng" w="9525">
            <a:solidFill>
              <a:srgbClr val="F19D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4773168" y="1810512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Business problem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4759481" y="2056892"/>
            <a:ext cx="2724900" cy="13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0">
                <a:solidFill>
                  <a:srgbClr val="141C28"/>
                </a:solidFill>
              </a:rPr>
              <a:t>Marketers often need to identify the </a:t>
            </a:r>
            <a:r>
              <a:rPr b="1" lang="en-US" sz="1180">
                <a:solidFill>
                  <a:srgbClr val="141C28"/>
                </a:solidFill>
              </a:rPr>
              <a:t>right </a:t>
            </a:r>
            <a:r>
              <a:rPr lang="en-US" sz="1180">
                <a:solidFill>
                  <a:srgbClr val="141C28"/>
                </a:solidFill>
              </a:rPr>
              <a:t>customers and determine which offers are most suitable for that group. </a:t>
            </a:r>
            <a:endParaRPr sz="1180">
              <a:solidFill>
                <a:srgbClr val="141C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0">
              <a:solidFill>
                <a:srgbClr val="141C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Example:</a:t>
            </a:r>
            <a:r>
              <a:rPr lang="en-US" sz="1100">
                <a:solidFill>
                  <a:schemeClr val="dk1"/>
                </a:solidFill>
              </a:rPr>
              <a:t> High-spending customers can be targeted with big-ticket products such as </a:t>
            </a:r>
            <a:r>
              <a:rPr b="1" lang="en-US" sz="1100">
                <a:solidFill>
                  <a:schemeClr val="dk1"/>
                </a:solidFill>
              </a:rPr>
              <a:t>mowers or grills</a:t>
            </a:r>
            <a:r>
              <a:rPr lang="en-US" sz="1100">
                <a:solidFill>
                  <a:schemeClr val="dk1"/>
                </a:solidFill>
              </a:rPr>
              <a:t>, </a:t>
            </a:r>
            <a:endParaRPr sz="1180">
              <a:solidFill>
                <a:srgbClr val="141C28"/>
              </a:solidFill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7973568" y="1645920"/>
            <a:ext cx="3108960" cy="1691640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7973568" y="1645920"/>
            <a:ext cx="59436" cy="1691640"/>
          </a:xfrm>
          <a:prstGeom prst="rect">
            <a:avLst/>
          </a:prstGeom>
          <a:solidFill>
            <a:srgbClr val="4974FF"/>
          </a:solidFill>
          <a:ln cap="flat" cmpd="sng" w="9525">
            <a:solidFill>
              <a:srgbClr val="497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8174736" y="1810512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Process changed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8174724" y="2240275"/>
            <a:ext cx="2907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141C28"/>
                </a:solidFill>
              </a:rPr>
              <a:t>Current - Apriori algo - Find the high spending customers - Find the right SKU’s based on purchase history</a:t>
            </a:r>
            <a:br>
              <a:rPr lang="en-US" sz="1280">
                <a:solidFill>
                  <a:srgbClr val="141C28"/>
                </a:solidFill>
              </a:rPr>
            </a:br>
            <a:r>
              <a:rPr lang="en-US" sz="1280">
                <a:solidFill>
                  <a:srgbClr val="141C28"/>
                </a:solidFill>
              </a:rPr>
              <a:t>New - AI - Suggest the SKU bases on weather or holiday or occasion</a:t>
            </a:r>
            <a:endParaRPr sz="1500"/>
          </a:p>
        </p:txBody>
      </p:sp>
      <p:sp>
        <p:nvSpPr>
          <p:cNvPr id="220" name="Google Shape;220;p17"/>
          <p:cNvSpPr/>
          <p:nvPr/>
        </p:nvSpPr>
        <p:spPr>
          <a:xfrm>
            <a:off x="4572000" y="3657600"/>
            <a:ext cx="3108960" cy="169164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4572000" y="3657600"/>
            <a:ext cx="59436" cy="1691640"/>
          </a:xfrm>
          <a:prstGeom prst="rect">
            <a:avLst/>
          </a:prstGeom>
          <a:solidFill>
            <a:srgbClr val="7D5BC2"/>
          </a:solidFill>
          <a:ln cap="flat" cmpd="sng" w="9525">
            <a:solidFill>
              <a:srgbClr val="7D5BC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4773168" y="3822191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Decision impact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4773168" y="4251960"/>
            <a:ext cx="27249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The most important business impact is that </a:t>
            </a:r>
            <a:r>
              <a:rPr b="1" lang="en-US" sz="1300">
                <a:solidFill>
                  <a:schemeClr val="dk1"/>
                </a:solidFill>
              </a:rPr>
              <a:t>using AI to personalize offers and improve customer engagement and spending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chemeClr val="dk1"/>
                </a:solidFill>
              </a:rPr>
              <a:t>. </a:t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7973568" y="3657600"/>
            <a:ext cx="3108960" cy="1691640"/>
          </a:xfrm>
          <a:prstGeom prst="roundRect">
            <a:avLst>
              <a:gd fmla="val 16667" name="adj"/>
            </a:avLst>
          </a:prstGeom>
          <a:solidFill>
            <a:srgbClr val="E7F8F3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7973568" y="3657600"/>
            <a:ext cx="59436" cy="1691640"/>
          </a:xfrm>
          <a:prstGeom prst="rect">
            <a:avLst/>
          </a:prstGeom>
          <a:solidFill>
            <a:srgbClr val="10A37F"/>
          </a:solidFill>
          <a:ln cap="flat" cmpd="sng" w="9525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8174736" y="3822191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Who benefits + future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8174736" y="4251960"/>
            <a:ext cx="2724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41C28"/>
                </a:solidFill>
              </a:rPr>
              <a:t>Marketers, campaign developers, the retailer, and ultimately customers who receive more relevant offer </a:t>
            </a:r>
            <a:endParaRPr sz="1300"/>
          </a:p>
        </p:txBody>
      </p:sp>
      <p:sp>
        <p:nvSpPr>
          <p:cNvPr id="228" name="Google Shape;228;p17"/>
          <p:cNvSpPr txBox="1"/>
          <p:nvPr/>
        </p:nvSpPr>
        <p:spPr>
          <a:xfrm>
            <a:off x="914400" y="5852160"/>
            <a:ext cx="1033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WHAT CHANGES?  AI </a:t>
            </a:r>
            <a:r>
              <a:rPr b="1" lang="en-US">
                <a:solidFill>
                  <a:srgbClr val="172A40"/>
                </a:solidFill>
              </a:rPr>
              <a:t>enhances </a:t>
            </a:r>
            <a:r>
              <a:rPr b="1" i="0" lang="en-US" sz="140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the personalization by </a:t>
            </a:r>
            <a:r>
              <a:rPr b="1" lang="en-US">
                <a:solidFill>
                  <a:srgbClr val="172A40"/>
                </a:solidFill>
              </a:rPr>
              <a:t>matching offers </a:t>
            </a:r>
            <a:r>
              <a:rPr b="1" i="0" lang="en-US" sz="140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from starting with a generic offers to more personalized offers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658368" y="6473952"/>
            <a:ext cx="9784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GROUP ACTIVITY 1  •  COMMERCIAL AI SCOUTING  •  AUG 14, 2026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/>
          <p:nvPr/>
        </p:nvSpPr>
        <p:spPr>
          <a:xfrm>
            <a:off x="658368" y="384048"/>
            <a:ext cx="10881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  <a:t>Step 3C </a:t>
            </a:r>
            <a:r>
              <a:rPr b="1" lang="en-US" sz="2700">
                <a:solidFill>
                  <a:srgbClr val="1D3450"/>
                </a:solidFill>
              </a:rPr>
              <a:t>:</a:t>
            </a:r>
            <a:r>
              <a:rPr b="1" i="0" lang="en-US" sz="270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  <a:t> Software Development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658368" y="1143000"/>
            <a:ext cx="10789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6D82"/>
                </a:solidFill>
                <a:latin typeface="Arial"/>
                <a:ea typeface="Arial"/>
                <a:cs typeface="Arial"/>
                <a:sym typeface="Arial"/>
              </a:rPr>
              <a:t>Copilot changes development from writing every line manually to collaborating with AI—while developers still review, test, and own the final code.</a:t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749808" y="1764792"/>
            <a:ext cx="3200400" cy="3767400"/>
          </a:xfrm>
          <a:prstGeom prst="roundRect">
            <a:avLst>
              <a:gd fmla="val 16667" name="adj"/>
            </a:avLst>
          </a:prstGeom>
          <a:solidFill>
            <a:srgbClr val="E7F8F3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4425696" y="1764792"/>
            <a:ext cx="3200400" cy="3767400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8101583" y="1764792"/>
            <a:ext cx="3200400" cy="3767400"/>
          </a:xfrm>
          <a:prstGeom prst="roundRect">
            <a:avLst>
              <a:gd fmla="val 16667" name="adj"/>
            </a:avLst>
          </a:prstGeom>
          <a:solidFill>
            <a:srgbClr val="FFF4E9"/>
          </a:solidFill>
          <a:ln cap="flat" cmpd="sng" w="9525">
            <a:solidFill>
              <a:srgbClr val="D8E0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932688" y="1938528"/>
            <a:ext cx="28347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0A37F"/>
                </a:solidFill>
                <a:latin typeface="Arial"/>
                <a:ea typeface="Arial"/>
                <a:cs typeface="Arial"/>
                <a:sym typeface="Arial"/>
              </a:rPr>
              <a:t>WHAT IT DOES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932688" y="2359152"/>
            <a:ext cx="27888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  <a:t>• Generates and completes code</a:t>
            </a:r>
            <a:br>
              <a:rPr b="0" i="0" lang="en-US" sz="135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  <a:t>• Explains existing code</a:t>
            </a:r>
            <a:br>
              <a:rPr b="0" i="0" lang="en-US" sz="135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  <a:t>• Helps debug and refactor</a:t>
            </a:r>
            <a:br>
              <a:rPr b="0" i="0" lang="en-US" sz="135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  <a:t>• Assists with tests and documentation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932688" y="4315968"/>
            <a:ext cx="2743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A37F"/>
                </a:solidFill>
                <a:latin typeface="Arial"/>
                <a:ea typeface="Arial"/>
                <a:cs typeface="Arial"/>
                <a:sym typeface="Arial"/>
              </a:rPr>
              <a:t>BUSINESS PROBLEM</a:t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932688" y="4645152"/>
            <a:ext cx="27432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C6D82"/>
                </a:solidFill>
                <a:latin typeface="Arial"/>
                <a:ea typeface="Arial"/>
                <a:cs typeface="Arial"/>
                <a:sym typeface="Arial"/>
              </a:rPr>
              <a:t>Reduces repetitive coding, research, and troubleshooting time.</a:t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4608576" y="1938528"/>
            <a:ext cx="28347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4974FF"/>
                </a:solidFill>
                <a:latin typeface="Arial"/>
                <a:ea typeface="Arial"/>
                <a:cs typeface="Arial"/>
                <a:sym typeface="Arial"/>
              </a:rPr>
              <a:t>BUSINESS IMPACT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4608576" y="2359152"/>
            <a:ext cx="27888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  <a:t>• Faster development cycles</a:t>
            </a:r>
            <a:br>
              <a:rPr b="0" i="0" lang="en-US" sz="135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  <a:t>• Higher developer productivity</a:t>
            </a:r>
            <a:br>
              <a:rPr b="0" i="0" lang="en-US" sz="135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  <a:t>• More automation of routine work</a:t>
            </a:r>
            <a:br>
              <a:rPr b="0" i="0" lang="en-US" sz="135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  <a:t>• More time for architecture and complex problems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4608576" y="4315968"/>
            <a:ext cx="2743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974FF"/>
                </a:solidFill>
                <a:latin typeface="Arial"/>
                <a:ea typeface="Arial"/>
                <a:cs typeface="Arial"/>
                <a:sym typeface="Arial"/>
              </a:rPr>
              <a:t>DECISION-MAKING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4608576" y="4645152"/>
            <a:ext cx="27432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C6D82"/>
                </a:solidFill>
                <a:latin typeface="Arial"/>
                <a:ea typeface="Arial"/>
                <a:cs typeface="Arial"/>
                <a:sym typeface="Arial"/>
              </a:rPr>
              <a:t>AI suggests approaches; developers validate correctness, security, and design.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8284464" y="1938528"/>
            <a:ext cx="28347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19D52"/>
                </a:solidFill>
                <a:latin typeface="Arial"/>
                <a:ea typeface="Arial"/>
                <a:cs typeface="Arial"/>
                <a:sym typeface="Arial"/>
              </a:rPr>
              <a:t>WHO BENEFITS + FUTURE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8284464" y="2359152"/>
            <a:ext cx="2788800" cy="14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  <a:t>Developers • Engineering teams • Businesses • Customers</a:t>
            </a:r>
            <a:br>
              <a:rPr b="0" i="0" lang="en-US" sz="130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  <a:t>Future potential:</a:t>
            </a:r>
            <a:br>
              <a:rPr b="0" i="0" lang="en-US" sz="130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D3450"/>
                </a:solidFill>
                <a:latin typeface="Arial"/>
                <a:ea typeface="Arial"/>
                <a:cs typeface="Arial"/>
                <a:sym typeface="Arial"/>
              </a:rPr>
              <a:t>AI agents can take on larger multi-step development tasks while engineers supervise outcomes.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8284464" y="4315968"/>
            <a:ext cx="2743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19D52"/>
                </a:solidFill>
                <a:latin typeface="Arial"/>
                <a:ea typeface="Arial"/>
                <a:cs typeface="Arial"/>
                <a:sym typeface="Arial"/>
              </a:rPr>
              <a:t>BIGGEST CHANGE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8284464" y="4645152"/>
            <a:ext cx="27432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C6D82"/>
                </a:solidFill>
                <a:latin typeface="Arial"/>
                <a:ea typeface="Arial"/>
                <a:cs typeface="Arial"/>
                <a:sym typeface="Arial"/>
              </a:rPr>
              <a:t>Developers shift from doing every step manually to directing and reviewing AI-assisted work.</a:t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451825" y="5715000"/>
            <a:ext cx="11271300" cy="5670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4866275" y="5717350"/>
            <a:ext cx="2227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A40"/>
                </a:solidFill>
              </a:rPr>
              <a:t>COPILOT ≠ ONE MODEL</a:t>
            </a:r>
            <a:endParaRPr b="1">
              <a:solidFill>
                <a:srgbClr val="172A40"/>
              </a:solidFill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509125" y="5943550"/>
            <a:ext cx="1108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A40"/>
                </a:solidFill>
              </a:rPr>
              <a:t>GitHub Copilot supports multiple model families from OpenAI, Anthropic, Google, Microsoft and others. Examples: GPT-5.3-Codex for agentic development, GPT-5.4 for deep reasoning/debugging, and Claude models for coding tasks.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658368" y="6473952"/>
            <a:ext cx="9784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C6D82"/>
                </a:solidFill>
                <a:latin typeface="Arial"/>
                <a:ea typeface="Arial"/>
                <a:cs typeface="Arial"/>
                <a:sym typeface="Arial"/>
              </a:rPr>
              <a:t>GROUP ACTIVITY 1  •  COMMERCIAL AI SCOUTING  •  AUG 14, 2026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10972800" y="6446520"/>
            <a:ext cx="4572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D8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749808" y="1764792"/>
            <a:ext cx="63900" cy="3767400"/>
          </a:xfrm>
          <a:prstGeom prst="rect">
            <a:avLst/>
          </a:prstGeom>
          <a:solidFill>
            <a:srgbClr val="10A37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4425696" y="1764792"/>
            <a:ext cx="63900" cy="3767400"/>
          </a:xfrm>
          <a:prstGeom prst="rect">
            <a:avLst/>
          </a:prstGeom>
          <a:solidFill>
            <a:srgbClr val="4974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8101583" y="1764792"/>
            <a:ext cx="63900" cy="3767400"/>
          </a:xfrm>
          <a:prstGeom prst="rect">
            <a:avLst/>
          </a:prstGeom>
          <a:solidFill>
            <a:srgbClr val="F19D5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658368" y="964515"/>
            <a:ext cx="658500" cy="50400"/>
          </a:xfrm>
          <a:prstGeom prst="rect">
            <a:avLst/>
          </a:prstGeom>
          <a:solidFill>
            <a:srgbClr val="10A37F"/>
          </a:solidFill>
          <a:ln cap="flat" cmpd="sng" w="9525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F7F9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-1218132" y="203698"/>
            <a:ext cx="1088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2A40"/>
                </a:solidFill>
              </a:rPr>
              <a:t>                </a:t>
            </a:r>
            <a:r>
              <a:rPr b="1" i="0" lang="en-US" sz="270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What Changes Across the Three Industries?</a:t>
            </a:r>
            <a:endParaRPr/>
          </a:p>
        </p:txBody>
      </p:sp>
      <p:sp>
        <p:nvSpPr>
          <p:cNvPr id="267" name="Google Shape;267;p19"/>
          <p:cNvSpPr/>
          <p:nvPr/>
        </p:nvSpPr>
        <p:spPr>
          <a:xfrm>
            <a:off x="658368" y="1005840"/>
            <a:ext cx="658368" cy="50292"/>
          </a:xfrm>
          <a:prstGeom prst="rect">
            <a:avLst/>
          </a:prstGeom>
          <a:solidFill>
            <a:srgbClr val="10A37F"/>
          </a:solidFill>
          <a:ln cap="flat" cmpd="sng" w="9525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 txBox="1"/>
          <p:nvPr/>
        </p:nvSpPr>
        <p:spPr>
          <a:xfrm>
            <a:off x="658368" y="1143000"/>
            <a:ext cx="107898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AI transforms business processes by automating tasks, improving decision-making, and increasing operational efficiency.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658368" y="1645920"/>
            <a:ext cx="1508760" cy="594360"/>
          </a:xfrm>
          <a:prstGeom prst="rect">
            <a:avLst/>
          </a:prstGeom>
          <a:solidFill>
            <a:srgbClr val="172A40"/>
          </a:solidFill>
          <a:ln cap="flat" cmpd="sng" w="9525">
            <a:solidFill>
              <a:srgbClr val="172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 txBox="1"/>
          <p:nvPr/>
        </p:nvSpPr>
        <p:spPr>
          <a:xfrm>
            <a:off x="731519" y="1810512"/>
            <a:ext cx="13624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Industry</a:t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2240280" y="1645920"/>
            <a:ext cx="2468880" cy="594360"/>
          </a:xfrm>
          <a:prstGeom prst="rect">
            <a:avLst/>
          </a:prstGeom>
          <a:solidFill>
            <a:srgbClr val="172A40"/>
          </a:solidFill>
          <a:ln cap="flat" cmpd="sng" w="9525">
            <a:solidFill>
              <a:srgbClr val="172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2313432" y="1810512"/>
            <a:ext cx="23225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AI</a:t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4800600" y="1645920"/>
            <a:ext cx="3520440" cy="594360"/>
          </a:xfrm>
          <a:prstGeom prst="rect">
            <a:avLst/>
          </a:prstGeom>
          <a:solidFill>
            <a:srgbClr val="172A40"/>
          </a:solidFill>
          <a:ln cap="flat" cmpd="sng" w="9525">
            <a:solidFill>
              <a:srgbClr val="172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4873752" y="1810512"/>
            <a:ext cx="33741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FFFFFF"/>
                </a:solidFill>
              </a:rPr>
              <a:t>After AI</a:t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8412480" y="1645920"/>
            <a:ext cx="3063240" cy="594360"/>
          </a:xfrm>
          <a:prstGeom prst="rect">
            <a:avLst/>
          </a:prstGeom>
          <a:solidFill>
            <a:srgbClr val="172A40"/>
          </a:solidFill>
          <a:ln cap="flat" cmpd="sng" w="9525">
            <a:solidFill>
              <a:srgbClr val="172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8485632" y="1810512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Primary business value</a:t>
            </a:r>
            <a:endParaRPr/>
          </a:p>
        </p:txBody>
      </p:sp>
      <p:sp>
        <p:nvSpPr>
          <p:cNvPr id="277" name="Google Shape;277;p19"/>
          <p:cNvSpPr/>
          <p:nvPr/>
        </p:nvSpPr>
        <p:spPr>
          <a:xfrm>
            <a:off x="658368" y="2240280"/>
            <a:ext cx="150876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749808" y="2423160"/>
            <a:ext cx="13260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172A40"/>
                </a:solidFill>
              </a:rPr>
              <a:t>Healthcare</a:t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2240280" y="2240280"/>
            <a:ext cx="246888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 txBox="1"/>
          <p:nvPr/>
        </p:nvSpPr>
        <p:spPr>
          <a:xfrm>
            <a:off x="2331720" y="2423160"/>
            <a:ext cx="22860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80">
                <a:solidFill>
                  <a:srgbClr val="141C28"/>
                </a:solidFill>
              </a:rPr>
              <a:t>Manual diagnosis, paper-based documentation, and time-consuming medical research</a:t>
            </a:r>
            <a:endParaRPr sz="1080">
              <a:solidFill>
                <a:srgbClr val="141C28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80">
              <a:solidFill>
                <a:srgbClr val="141C28"/>
              </a:solidFill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4800600" y="2240280"/>
            <a:ext cx="35204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4892050" y="2382425"/>
            <a:ext cx="32079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80">
                <a:solidFill>
                  <a:srgbClr val="141C28"/>
                </a:solidFill>
              </a:rPr>
              <a:t>AI assists with diagnosis, automates documentation, analyzes medical data, and supports clinical decisions</a:t>
            </a:r>
            <a:endParaRPr sz="1080">
              <a:solidFill>
                <a:srgbClr val="141C28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80">
              <a:solidFill>
                <a:srgbClr val="141C28"/>
              </a:solidFill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8412480" y="2240280"/>
            <a:ext cx="30632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8503919" y="2423160"/>
            <a:ext cx="28803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80">
                <a:solidFill>
                  <a:srgbClr val="141C28"/>
                </a:solidFill>
              </a:rPr>
              <a:t>Faster patient care, improved accuracy, reduced workload, and better healthcare outcomes</a:t>
            </a:r>
            <a:endParaRPr sz="1080">
              <a:solidFill>
                <a:srgbClr val="141C28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80">
              <a:solidFill>
                <a:srgbClr val="141C28"/>
              </a:solidFill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658368" y="3319272"/>
            <a:ext cx="1508760" cy="1078992"/>
          </a:xfrm>
          <a:prstGeom prst="rect">
            <a:avLst/>
          </a:prstGeom>
          <a:solidFill>
            <a:srgbClr val="F2F5F8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749808" y="3502152"/>
            <a:ext cx="1325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Marketing</a:t>
            </a:r>
            <a:endParaRPr/>
          </a:p>
        </p:txBody>
      </p:sp>
      <p:sp>
        <p:nvSpPr>
          <p:cNvPr id="287" name="Google Shape;287;p19"/>
          <p:cNvSpPr/>
          <p:nvPr/>
        </p:nvSpPr>
        <p:spPr>
          <a:xfrm>
            <a:off x="2240280" y="3319272"/>
            <a:ext cx="2468880" cy="1078992"/>
          </a:xfrm>
          <a:prstGeom prst="rect">
            <a:avLst/>
          </a:prstGeom>
          <a:solidFill>
            <a:srgbClr val="F2F5F8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2331720" y="3502152"/>
            <a:ext cx="22860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80">
                <a:solidFill>
                  <a:srgbClr val="141C28"/>
                </a:solidFill>
              </a:rPr>
              <a:t>Manual content creation, customer segmentation, and campaign management</a:t>
            </a:r>
            <a:endParaRPr sz="1080">
              <a:solidFill>
                <a:srgbClr val="141C28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80">
              <a:solidFill>
                <a:srgbClr val="141C28"/>
              </a:solidFill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4800600" y="3319272"/>
            <a:ext cx="3520440" cy="1078992"/>
          </a:xfrm>
          <a:prstGeom prst="rect">
            <a:avLst/>
          </a:prstGeom>
          <a:solidFill>
            <a:srgbClr val="F2F5F8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4892040" y="3502152"/>
            <a:ext cx="33375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80">
                <a:solidFill>
                  <a:srgbClr val="141C28"/>
                </a:solidFill>
              </a:rPr>
              <a:t>AI generates personalized content, predicts customer behavior, automates campaigns, and analyzes marketing data</a:t>
            </a:r>
            <a:endParaRPr sz="1080">
              <a:solidFill>
                <a:srgbClr val="141C28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80">
              <a:solidFill>
                <a:srgbClr val="141C28"/>
              </a:solidFill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8412480" y="3319272"/>
            <a:ext cx="3063240" cy="1078992"/>
          </a:xfrm>
          <a:prstGeom prst="rect">
            <a:avLst/>
          </a:prstGeom>
          <a:solidFill>
            <a:srgbClr val="F2F5F8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8503919" y="3502152"/>
            <a:ext cx="28803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80">
                <a:solidFill>
                  <a:srgbClr val="141C28"/>
                </a:solidFill>
              </a:rPr>
              <a:t>Higher customer engagement, improved productivity, faster campaigns, and increased ROI</a:t>
            </a:r>
            <a:endParaRPr sz="1080">
              <a:solidFill>
                <a:srgbClr val="141C28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80">
              <a:solidFill>
                <a:srgbClr val="141C28"/>
              </a:solidFill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658368" y="4398264"/>
            <a:ext cx="150876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749808" y="4581144"/>
            <a:ext cx="1325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Software Development</a:t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2240280" y="4398264"/>
            <a:ext cx="246888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2331720" y="4581144"/>
            <a:ext cx="2286000" cy="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80">
                <a:solidFill>
                  <a:srgbClr val="141C28"/>
                </a:solidFill>
              </a:rPr>
              <a:t>Manual coding, debugging, testing, and documentation</a:t>
            </a:r>
            <a:endParaRPr sz="1080">
              <a:solidFill>
                <a:srgbClr val="141C28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80">
              <a:solidFill>
                <a:srgbClr val="141C28"/>
              </a:solidFill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4800600" y="4398264"/>
            <a:ext cx="35204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4892040" y="4581144"/>
            <a:ext cx="3337500" cy="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80">
                <a:solidFill>
                  <a:srgbClr val="141C28"/>
                </a:solidFill>
              </a:rPr>
              <a:t>AI assists with code generation, bug detection, automated testing, and documentation</a:t>
            </a:r>
            <a:endParaRPr sz="1080">
              <a:solidFill>
                <a:srgbClr val="141C28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80">
              <a:solidFill>
                <a:srgbClr val="141C28"/>
              </a:solidFill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8412480" y="4398264"/>
            <a:ext cx="306324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 txBox="1"/>
          <p:nvPr/>
        </p:nvSpPr>
        <p:spPr>
          <a:xfrm>
            <a:off x="8503919" y="4581144"/>
            <a:ext cx="28803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80">
                <a:solidFill>
                  <a:srgbClr val="141C28"/>
                </a:solidFill>
              </a:rPr>
              <a:t>Faster software delivery, higher developer productivity, improved code quality, and lower development costs</a:t>
            </a:r>
            <a:endParaRPr sz="1080">
              <a:solidFill>
                <a:srgbClr val="141C28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80">
              <a:solidFill>
                <a:srgbClr val="141C28"/>
              </a:solidFill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822960" y="57150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A37F"/>
                </a:solidFill>
                <a:latin typeface="Arial"/>
                <a:ea typeface="Arial"/>
                <a:cs typeface="Arial"/>
                <a:sym typeface="Arial"/>
              </a:rPr>
              <a:t>COMMON PATTERN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2423160" y="5669280"/>
            <a:ext cx="88698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AI automates repetitive tasks, enhances decision-making, increases productivity, reduces operational costs, and enables professionals to focus on higher-value work.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658368" y="6473952"/>
            <a:ext cx="9784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GROUP ACTIVITY 1  •  COMMERCIAL AI SCOUTING  •  AUG 14, 2026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F7F9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658368" y="384048"/>
            <a:ext cx="1088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2A40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  <a:endParaRPr/>
          </a:p>
        </p:txBody>
      </p:sp>
      <p:sp>
        <p:nvSpPr>
          <p:cNvPr id="311" name="Google Shape;311;p20"/>
          <p:cNvSpPr/>
          <p:nvPr/>
        </p:nvSpPr>
        <p:spPr>
          <a:xfrm>
            <a:off x="658368" y="1005840"/>
            <a:ext cx="658500" cy="50400"/>
          </a:xfrm>
          <a:prstGeom prst="rect">
            <a:avLst/>
          </a:prstGeom>
          <a:solidFill>
            <a:srgbClr val="10A37F"/>
          </a:solidFill>
          <a:ln cap="flat" cmpd="sng" w="9525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658368" y="1143000"/>
            <a:ext cx="10789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Official OpenAI sources checked August 14, 2026.</a:t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822960" y="1645920"/>
            <a:ext cx="530400" cy="530400"/>
          </a:xfrm>
          <a:prstGeom prst="ellipse">
            <a:avLst/>
          </a:prstGeom>
          <a:solidFill>
            <a:srgbClr val="10A37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822960" y="1819656"/>
            <a:ext cx="53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15" name="Google Shape;315;p20"/>
          <p:cNvSpPr txBox="1"/>
          <p:nvPr/>
        </p:nvSpPr>
        <p:spPr>
          <a:xfrm>
            <a:off x="1572768" y="1572768"/>
            <a:ext cx="960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72A40"/>
                </a:solidFill>
              </a:rPr>
              <a:t>Navitus Health Solutions - Banjo Health Implementation </a:t>
            </a:r>
            <a:endParaRPr/>
          </a:p>
        </p:txBody>
      </p:sp>
      <p:sp>
        <p:nvSpPr>
          <p:cNvPr id="316" name="Google Shape;316;p20"/>
          <p:cNvSpPr txBox="1"/>
          <p:nvPr/>
        </p:nvSpPr>
        <p:spPr>
          <a:xfrm>
            <a:off x="1572768" y="1915666"/>
            <a:ext cx="9601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>
                <a:solidFill>
                  <a:srgbClr val="5B6878"/>
                </a:solidFill>
              </a:rPr>
              <a:t>AI and NLP streamline prior authorization, appeals, and clinical review processes. </a:t>
            </a:r>
            <a:r>
              <a:rPr b="0" i="0" lang="en-US" sz="1080" u="none" cap="none" strike="noStrike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822960" y="2743200"/>
            <a:ext cx="530400" cy="530400"/>
          </a:xfrm>
          <a:prstGeom prst="ellipse">
            <a:avLst/>
          </a:prstGeom>
          <a:solidFill>
            <a:srgbClr val="4974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822960" y="2916936"/>
            <a:ext cx="53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1572768" y="2670048"/>
            <a:ext cx="960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72A40"/>
                </a:solidFill>
              </a:rPr>
              <a:t>OpenAI - ChatGPT for Marketing Teams </a:t>
            </a:r>
            <a:endParaRPr/>
          </a:p>
        </p:txBody>
      </p:sp>
      <p:sp>
        <p:nvSpPr>
          <p:cNvPr id="320" name="Google Shape;320;p20"/>
          <p:cNvSpPr txBox="1"/>
          <p:nvPr/>
        </p:nvSpPr>
        <p:spPr>
          <a:xfrm>
            <a:off x="1572768" y="3054096"/>
            <a:ext cx="9601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>
                <a:solidFill>
                  <a:srgbClr val="5B6878"/>
                </a:solidFill>
              </a:rPr>
              <a:t>Chat GPT</a:t>
            </a:r>
            <a:r>
              <a:rPr lang="en-US" sz="1080">
                <a:solidFill>
                  <a:srgbClr val="5B6878"/>
                </a:solidFill>
              </a:rPr>
              <a:t> supports campaign development, customer targeting, personalization, and content creation. </a:t>
            </a:r>
            <a:endParaRPr/>
          </a:p>
        </p:txBody>
      </p:sp>
      <p:sp>
        <p:nvSpPr>
          <p:cNvPr id="321" name="Google Shape;321;p20"/>
          <p:cNvSpPr/>
          <p:nvPr/>
        </p:nvSpPr>
        <p:spPr>
          <a:xfrm>
            <a:off x="822960" y="3840480"/>
            <a:ext cx="530400" cy="530400"/>
          </a:xfrm>
          <a:prstGeom prst="ellipse">
            <a:avLst/>
          </a:prstGeom>
          <a:solidFill>
            <a:srgbClr val="7D5BC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 txBox="1"/>
          <p:nvPr/>
        </p:nvSpPr>
        <p:spPr>
          <a:xfrm>
            <a:off x="822960" y="4014216"/>
            <a:ext cx="53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1572768" y="3767328"/>
            <a:ext cx="960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72A40"/>
                </a:solidFill>
              </a:rPr>
              <a:t>IBM - What Is the Apriori Algorithm? </a:t>
            </a:r>
            <a:endParaRPr/>
          </a:p>
        </p:txBody>
      </p:sp>
      <p:sp>
        <p:nvSpPr>
          <p:cNvPr id="324" name="Google Shape;324;p20"/>
          <p:cNvSpPr txBox="1"/>
          <p:nvPr/>
        </p:nvSpPr>
        <p:spPr>
          <a:xfrm>
            <a:off x="1572768" y="4151376"/>
            <a:ext cx="9601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>
                <a:solidFill>
                  <a:srgbClr val="5B6878"/>
                </a:solidFill>
              </a:rPr>
              <a:t>Apriori analyzes purchase history to identify customer buying patterns and product associations. </a:t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822960" y="4937759"/>
            <a:ext cx="530400" cy="530400"/>
          </a:xfrm>
          <a:prstGeom prst="ellipse">
            <a:avLst/>
          </a:prstGeom>
          <a:solidFill>
            <a:srgbClr val="F19D5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822960" y="5111496"/>
            <a:ext cx="53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1572768" y="4864607"/>
            <a:ext cx="960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72A40"/>
                </a:solidFill>
              </a:rPr>
              <a:t>GitHub - Supported AI Models in GitHub Copilot </a:t>
            </a:r>
            <a:endParaRPr/>
          </a:p>
        </p:txBody>
      </p:sp>
      <p:sp>
        <p:nvSpPr>
          <p:cNvPr id="328" name="Google Shape;328;p20"/>
          <p:cNvSpPr txBox="1"/>
          <p:nvPr/>
        </p:nvSpPr>
        <p:spPr>
          <a:xfrm>
            <a:off x="1572768" y="5248655"/>
            <a:ext cx="9601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>
                <a:solidFill>
                  <a:srgbClr val="5B6878"/>
                </a:solidFill>
              </a:rPr>
              <a:t>GitHub Copilot uses multiple AI models to assist with coding, debugging, testing, and documentation. </a:t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658368" y="6473952"/>
            <a:ext cx="9784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GROUP ACTIVITY 1  •  COMMERCIAL AI SCOUTING  •  AUG 14, 2026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10972800" y="6446520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